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</p:sldIdLst>
  <p:sldSz cy="6858000" cx="12191975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49" roundtripDataSignature="AMtx7mhCv2DyaUbwPBHn33K/xLWall8ig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6" Type="http://schemas.openxmlformats.org/officeDocument/2006/relationships/slide" Target="slides/slide41.xml"/><Relationship Id="rId45" Type="http://schemas.openxmlformats.org/officeDocument/2006/relationships/slide" Target="slides/slide40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slide" Target="slides/slide43.xml"/><Relationship Id="rId47" Type="http://schemas.openxmlformats.org/officeDocument/2006/relationships/slide" Target="slides/slide42.xml"/><Relationship Id="rId49" Type="http://customschemas.google.com/relationships/presentationmetadata" Target="meta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h9fd51cbb4fe9101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8" name="Google Shape;98;h9fd51cbb4fe9101_0_0:notes"/>
          <p:cNvSpPr/>
          <p:nvPr>
            <p:ph idx="2" type="sldImg"/>
          </p:nvPr>
        </p:nvSpPr>
        <p:spPr>
          <a:xfrm>
            <a:off x="857422" y="685800"/>
            <a:ext cx="3429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h9fd51cbb4fe9101_0_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6" name="Google Shape;106;h9fd51cbb4fe9101_0_9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h9fd51cbb4fe9101_0_1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3" name="Google Shape;113;h9fd51cbb4fe9101_0_10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h9fd51cbb4fe9101_0_2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1" name="Google Shape;121;h9fd51cbb4fe9101_0_22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h9fd51cbb4fe9101_0_7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9" name="Google Shape;129;h9fd51cbb4fe9101_0_76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h9fd51cbb4fe9101_0_2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7" name="Google Shape;137;h9fd51cbb4fe9101_0_23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h9fd51cbb4fe9101_0_3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4" name="Google Shape;144;h9fd51cbb4fe9101_0_30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h9fd51cbb4fe9101_0_3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2" name="Google Shape;152;h9fd51cbb4fe9101_0_32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h9fd51cbb4fe9101_0_3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77" name="Google Shape;177;h9fd51cbb4fe9101_0_36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h9fd51cbb4fe9101_0_4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85" name="Google Shape;185;h9fd51cbb4fe9101_0_44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h9fd51cbb4fe9101_0_4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93" name="Google Shape;193;h9fd51cbb4fe9101_0_44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h9fd51cbb4fe9101_0_4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01" name="Google Shape;201;h9fd51cbb4fe9101_0_45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h9fd51cbb4fe9101_0_4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09" name="Google Shape;209;h9fd51cbb4fe9101_0_46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h9fd51cbb4fe9101_0_8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30" name="Google Shape;230;h9fd51cbb4fe9101_0_82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h9fd51cbb4fe9101_0_4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41" name="Google Shape;241;h9fd51cbb4fe9101_0_48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h9fd51cbb4fe9101_0_4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49" name="Google Shape;249;h9fd51cbb4fe9101_0_48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h9fd51cbb4fe9101_0_4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57" name="Google Shape;257;h9fd51cbb4fe9101_0_49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h9fd51cbb4fe9101_0_5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65" name="Google Shape;265;h9fd51cbb4fe9101_0_50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h9fd51cbb4fe9101_0_5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77" name="Google Shape;277;h9fd51cbb4fe9101_0_51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h9fd51cbb4fe9101_0_5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85" name="Google Shape;285;h9fd51cbb4fe9101_0_53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h9fd51cbb4fe9101_0_5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93" name="Google Shape;293;h9fd51cbb4fe9101_0_52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h9fd51cbb4fe9101_0_5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99" name="Google Shape;299;h9fd51cbb4fe9101_0_53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h9fd51cbb4fe9101_0_5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06" name="Google Shape;306;h9fd51cbb4fe9101_0_56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h9fd51cbb4fe9101_0_5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14" name="Google Shape;314;h9fd51cbb4fe9101_0_58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h9fd51cbb4fe9101_0_8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20" name="Google Shape;320;h9fd51cbb4fe9101_0_84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h9fd51cbb4fe9101_0_5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34" name="Google Shape;334;h9fd51cbb4fe9101_0_59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h9fd51cbb4fe9101_0_5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42" name="Google Shape;342;h9fd51cbb4fe9101_0_59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h9fd51cbb4fe9101_0_6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50" name="Google Shape;350;h9fd51cbb4fe9101_0_60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h9fd51cbb4fe9101_0_6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58" name="Google Shape;358;h9fd51cbb4fe9101_0_63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h9fd51cbb4fe9101_0_6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65" name="Google Shape;365;h9fd51cbb4fe9101_0_64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h9fd51cbb4fe9101_0_6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73" name="Google Shape;373;h9fd51cbb4fe9101_0_64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h9fd51cbb4fe9101_0_6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81" name="Google Shape;381;h9fd51cbb4fe9101_0_65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h9fd51cbb4fe9101_0_6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89" name="Google Shape;389;h9fd51cbb4fe9101_0_67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4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h9fd51cbb4fe9101_0_6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96" name="Google Shape;396;h9fd51cbb4fe9101_0_66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2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h9fd51cbb4fe9101_0_6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04" name="Google Shape;404;h9fd51cbb4fe9101_0_68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0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h9fd51cbb4fe9101_0_7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12" name="Google Shape;412;h9fd51cbb4fe9101_0_77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8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h9fd51cbb4fe9101_0_7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20" name="Google Shape;420;h9fd51cbb4fe9101_0_78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6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h9fd51cbb4fe9101_0_7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28" name="Google Shape;428;h9fd51cbb4fe9101_0_78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4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h9fd51cbb4fe9101_0_8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36" name="Google Shape;436;h9fd51cbb4fe9101_0_80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0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Google Shape;451;h9fd51cbb4fe9101_0_7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52" name="Google Shape;452;h9fd51cbb4fe9101_0_71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8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Google Shape;459;h9fd51cbb4fe9101_0_6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60" name="Google Shape;460;h9fd51cbb4fe9101_0_69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6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h9fd51cbb4fe9101_0_7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68" name="Google Shape;468;h9fd51cbb4fe9101_0_72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3" name="Shape 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Google Shape;474;h9fd51cbb4fe9101_0_7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75" name="Google Shape;475;h9fd51cbb4fe9101_0_75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9.png"/><Relationship Id="rId4" Type="http://schemas.openxmlformats.org/officeDocument/2006/relationships/image" Target="../media/image4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5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5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5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5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5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5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5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5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3" name="Google Shape;23;p5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5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5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5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5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9" name="Google Shape;29;p5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5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5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5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5" name="Google Shape;35;p5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5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5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5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5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41" name="Google Shape;41;p5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42" name="Google Shape;42;p5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5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5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5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5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8" name="Google Shape;48;p5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9" name="Google Shape;49;p5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0" name="Google Shape;50;p5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51" name="Google Shape;51;p5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5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5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5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5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5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5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5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5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6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6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6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6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6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6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6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6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6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6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6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6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6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6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6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6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вичайний 1">
  <p:cSld name="TITLE_1">
    <p:bg>
      <p:bgPr>
        <a:solidFill>
          <a:schemeClr val="lt1"/>
        </a:solidFill>
      </p:bgPr>
    </p:bg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" name="Google Shape;81;h9fd51cbb4fe9101_0_202"/>
          <p:cNvPicPr preferRelativeResize="0"/>
          <p:nvPr/>
        </p:nvPicPr>
        <p:blipFill rotWithShape="1">
          <a:blip r:embed="rId2">
            <a:alphaModFix/>
          </a:blip>
          <a:srcRect b="0" l="45887" r="0" t="93322"/>
          <a:stretch/>
        </p:blipFill>
        <p:spPr>
          <a:xfrm>
            <a:off x="6064908" y="6400800"/>
            <a:ext cx="6126828" cy="456841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h9fd51cbb4fe9101_0_202"/>
          <p:cNvSpPr/>
          <p:nvPr/>
        </p:nvSpPr>
        <p:spPr>
          <a:xfrm>
            <a:off x="6175427" y="6502680"/>
            <a:ext cx="5302800" cy="27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18A999"/>
                </a:solidFill>
                <a:latin typeface="Arial"/>
                <a:ea typeface="Arial"/>
                <a:cs typeface="Arial"/>
                <a:sym typeface="Arial"/>
              </a:rPr>
              <a:t>Machine Learning for Bioinformatics · </a:t>
            </a:r>
            <a:r>
              <a:rPr lang="en-US" sz="1300">
                <a:solidFill>
                  <a:srgbClr val="18A999"/>
                </a:solidFill>
              </a:rPr>
              <a:t>Lecture 5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3" name="Google Shape;83;h9fd51cbb4fe9101_0_202"/>
          <p:cNvPicPr preferRelativeResize="0"/>
          <p:nvPr/>
        </p:nvPicPr>
        <p:blipFill rotWithShape="1">
          <a:blip r:embed="rId2">
            <a:alphaModFix/>
          </a:blip>
          <a:srcRect b="84967" l="0" r="82433" t="0"/>
          <a:stretch/>
        </p:blipFill>
        <p:spPr>
          <a:xfrm>
            <a:off x="0" y="0"/>
            <a:ext cx="1987917" cy="1029960"/>
          </a:xfrm>
          <a:prstGeom prst="rect">
            <a:avLst/>
          </a:prstGeom>
          <a:noFill/>
          <a:ln>
            <a:noFill/>
          </a:ln>
        </p:spPr>
      </p:pic>
      <p:sp>
        <p:nvSpPr>
          <p:cNvPr id="84" name="Google Shape;84;h9fd51cbb4fe9101_0_202"/>
          <p:cNvSpPr txBox="1"/>
          <p:nvPr>
            <p:ph type="title"/>
          </p:nvPr>
        </p:nvSpPr>
        <p:spPr>
          <a:xfrm>
            <a:off x="415439" y="992880"/>
            <a:ext cx="11360400" cy="2736600"/>
          </a:xfrm>
          <a:prstGeom prst="rect">
            <a:avLst/>
          </a:prstGeom>
          <a:noFill/>
          <a:ln>
            <a:noFill/>
          </a:ln>
        </p:spPr>
        <p:txBody>
          <a:bodyPr anchorCtr="0" anchor="b" bIns="122025" lIns="122025" spcFirstLastPara="1" rIns="122025" wrap="square" tIns="122025">
            <a:norm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900"/>
              <a:buFont typeface="Arial"/>
              <a:buNone/>
              <a:defRPr b="0" i="0" sz="6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5" name="Google Shape;85;h9fd51cbb4fe9101_0_202"/>
          <p:cNvSpPr txBox="1"/>
          <p:nvPr>
            <p:ph idx="12" type="sldNum"/>
          </p:nvPr>
        </p:nvSpPr>
        <p:spPr>
          <a:xfrm>
            <a:off x="11296417" y="6502680"/>
            <a:ext cx="731400" cy="52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2025" lIns="122025" spcFirstLastPara="1" rIns="122025" wrap="square" tIns="1220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r>
              <a:rPr lang="en-US"/>
              <a:t>/40</a:t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6" name="Google Shape;86;h9fd51cbb4fe9101_0_202"/>
          <p:cNvSpPr txBox="1"/>
          <p:nvPr>
            <p:ph idx="1" type="body"/>
          </p:nvPr>
        </p:nvSpPr>
        <p:spPr>
          <a:xfrm>
            <a:off x="609479" y="1604520"/>
            <a:ext cx="10972500" cy="39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68605" lvl="0" marL="457200" marR="0" algn="l">
              <a:lnSpc>
                <a:spcPct val="100000"/>
              </a:lnSpc>
              <a:spcBef>
                <a:spcPts val="1417"/>
              </a:spcBef>
              <a:spcAft>
                <a:spcPts val="0"/>
              </a:spcAft>
              <a:buClr>
                <a:srgbClr val="000000"/>
              </a:buClr>
              <a:buSzPts val="630"/>
              <a:buFont typeface="Noto Sans Symbols"/>
              <a:buChar char="●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5275" lvl="1" marL="914400" marR="0" algn="l">
              <a:lnSpc>
                <a:spcPct val="100000"/>
              </a:lnSpc>
              <a:spcBef>
                <a:spcPts val="1134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Noto Sans Symbols"/>
              <a:buChar char="−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68605" lvl="2" marL="1371600" marR="0" algn="l">
              <a:lnSpc>
                <a:spcPct val="100000"/>
              </a:lnSpc>
              <a:spcBef>
                <a:spcPts val="850"/>
              </a:spcBef>
              <a:spcAft>
                <a:spcPts val="0"/>
              </a:spcAft>
              <a:buClr>
                <a:srgbClr val="000000"/>
              </a:buClr>
              <a:buSzPts val="630"/>
              <a:buFont typeface="Noto Sans Symbols"/>
              <a:buChar char="●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5275" lvl="3" marL="1828800" marR="0" algn="l">
              <a:lnSpc>
                <a:spcPct val="100000"/>
              </a:lnSpc>
              <a:spcBef>
                <a:spcPts val="567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Noto Sans Symbols"/>
              <a:buChar char="−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85750" lvl="4" marL="2286000" marR="0" algn="l">
              <a:lnSpc>
                <a:spcPct val="100000"/>
              </a:lnSpc>
              <a:spcBef>
                <a:spcPts val="283"/>
              </a:spcBef>
              <a:spcAft>
                <a:spcPts val="0"/>
              </a:spcAft>
              <a:buClr>
                <a:srgbClr val="000000"/>
              </a:buClr>
              <a:buSzPts val="900"/>
              <a:buFont typeface="Noto Sans Symbols"/>
              <a:buChar char="●"/>
              <a:def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85750" lvl="5" marL="2743200" marR="0" algn="l">
              <a:lnSpc>
                <a:spcPct val="100000"/>
              </a:lnSpc>
              <a:spcBef>
                <a:spcPts val="283"/>
              </a:spcBef>
              <a:spcAft>
                <a:spcPts val="0"/>
              </a:spcAft>
              <a:buClr>
                <a:srgbClr val="000000"/>
              </a:buClr>
              <a:buSzPts val="900"/>
              <a:buFont typeface="Noto Sans Symbols"/>
              <a:buChar char="●"/>
              <a:def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85750" lvl="6" marL="3200400" marR="0" algn="l">
              <a:lnSpc>
                <a:spcPct val="100000"/>
              </a:lnSpc>
              <a:spcBef>
                <a:spcPts val="283"/>
              </a:spcBef>
              <a:spcAft>
                <a:spcPts val="0"/>
              </a:spcAft>
              <a:buClr>
                <a:srgbClr val="000000"/>
              </a:buClr>
              <a:buSzPts val="900"/>
              <a:buFont typeface="Noto Sans Symbols"/>
              <a:buChar char="●"/>
              <a:def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_3_1">
  <p:cSld name="BLANK_1">
    <p:bg>
      <p:bgPr>
        <a:solidFill>
          <a:schemeClr val="lt1"/>
        </a:solidFill>
      </p:bgPr>
    </p:bg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" name="Google Shape;88;h9fd51cbb4fe9101_0_209"/>
          <p:cNvPicPr preferRelativeResize="0"/>
          <p:nvPr/>
        </p:nvPicPr>
        <p:blipFill rotWithShape="1">
          <a:blip r:embed="rId2">
            <a:alphaModFix/>
          </a:blip>
          <a:srcRect b="0" l="45887" r="0" t="93322"/>
          <a:stretch/>
        </p:blipFill>
        <p:spPr>
          <a:xfrm>
            <a:off x="6064908" y="6400800"/>
            <a:ext cx="6126828" cy="456841"/>
          </a:xfrm>
          <a:prstGeom prst="rect">
            <a:avLst/>
          </a:prstGeom>
          <a:noFill/>
          <a:ln>
            <a:noFill/>
          </a:ln>
        </p:spPr>
      </p:pic>
      <p:pic>
        <p:nvPicPr>
          <p:cNvPr id="89" name="Google Shape;89;h9fd51cbb4fe9101_0_209"/>
          <p:cNvPicPr preferRelativeResize="0"/>
          <p:nvPr/>
        </p:nvPicPr>
        <p:blipFill rotWithShape="1">
          <a:blip r:embed="rId2">
            <a:alphaModFix/>
          </a:blip>
          <a:srcRect b="84967" l="0" r="82433" t="0"/>
          <a:stretch/>
        </p:blipFill>
        <p:spPr>
          <a:xfrm>
            <a:off x="0" y="0"/>
            <a:ext cx="1987917" cy="1029960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h9fd51cbb4fe9101_0_209"/>
          <p:cNvSpPr/>
          <p:nvPr/>
        </p:nvSpPr>
        <p:spPr>
          <a:xfrm>
            <a:off x="6175427" y="6502680"/>
            <a:ext cx="5302800" cy="27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18A999"/>
                </a:solidFill>
                <a:latin typeface="Arial"/>
                <a:ea typeface="Arial"/>
                <a:cs typeface="Arial"/>
                <a:sym typeface="Arial"/>
              </a:rPr>
              <a:t>Machine Learning for Bioinformatics · </a:t>
            </a:r>
            <a:r>
              <a:rPr lang="en-US" sz="1300">
                <a:solidFill>
                  <a:srgbClr val="18A999"/>
                </a:solidFill>
              </a:rPr>
              <a:t>Lecture 5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1" name="Google Shape;91;h9fd51cbb4fe9101_0_209"/>
          <p:cNvPicPr preferRelativeResize="0"/>
          <p:nvPr/>
        </p:nvPicPr>
        <p:blipFill rotWithShape="1">
          <a:blip r:embed="rId3">
            <a:alphaModFix/>
          </a:blip>
          <a:srcRect b="833" l="84" r="78374" t="82673"/>
          <a:stretch/>
        </p:blipFill>
        <p:spPr>
          <a:xfrm>
            <a:off x="0" y="5727600"/>
            <a:ext cx="2437914" cy="1130039"/>
          </a:xfrm>
          <a:prstGeom prst="rect">
            <a:avLst/>
          </a:prstGeom>
          <a:noFill/>
          <a:ln>
            <a:noFill/>
          </a:ln>
        </p:spPr>
      </p:pic>
      <p:pic>
        <p:nvPicPr>
          <p:cNvPr id="92" name="Google Shape;92;h9fd51cbb4fe9101_0_209"/>
          <p:cNvPicPr preferRelativeResize="0"/>
          <p:nvPr/>
        </p:nvPicPr>
        <p:blipFill rotWithShape="1">
          <a:blip r:embed="rId4">
            <a:alphaModFix/>
          </a:blip>
          <a:srcRect b="32032" l="0" r="0" t="36478"/>
          <a:stretch/>
        </p:blipFill>
        <p:spPr>
          <a:xfrm>
            <a:off x="0" y="2502000"/>
            <a:ext cx="12190295" cy="2158559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h9fd51cbb4fe9101_0_209"/>
          <p:cNvSpPr txBox="1"/>
          <p:nvPr>
            <p:ph type="title"/>
          </p:nvPr>
        </p:nvSpPr>
        <p:spPr>
          <a:xfrm>
            <a:off x="1928156" y="2752560"/>
            <a:ext cx="7871400" cy="163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2025" lIns="122025" spcFirstLastPara="1" rIns="122025" wrap="square" tIns="122025">
            <a:norm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  <a:defRPr b="0" i="0" sz="4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4" name="Google Shape;94;h9fd51cbb4fe9101_0_209"/>
          <p:cNvSpPr txBox="1"/>
          <p:nvPr>
            <p:ph idx="12" type="sldNum"/>
          </p:nvPr>
        </p:nvSpPr>
        <p:spPr>
          <a:xfrm>
            <a:off x="11409097" y="6333120"/>
            <a:ext cx="731400" cy="524400"/>
          </a:xfrm>
          <a:prstGeom prst="rect">
            <a:avLst/>
          </a:prstGeom>
          <a:noFill/>
          <a:ln>
            <a:noFill/>
          </a:ln>
        </p:spPr>
        <p:txBody>
          <a:bodyPr anchorCtr="0" anchor="t" bIns="122025" lIns="122025" spcFirstLastPara="1" rIns="122025" wrap="square" tIns="1220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5" name="Google Shape;95;h9fd51cbb4fe9101_0_209"/>
          <p:cNvSpPr txBox="1"/>
          <p:nvPr>
            <p:ph idx="1" type="body"/>
          </p:nvPr>
        </p:nvSpPr>
        <p:spPr>
          <a:xfrm>
            <a:off x="609479" y="1604520"/>
            <a:ext cx="10972500" cy="39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68605" lvl="0" marL="457200" marR="0" algn="l">
              <a:lnSpc>
                <a:spcPct val="100000"/>
              </a:lnSpc>
              <a:spcBef>
                <a:spcPts val="1417"/>
              </a:spcBef>
              <a:spcAft>
                <a:spcPts val="0"/>
              </a:spcAft>
              <a:buClr>
                <a:srgbClr val="000000"/>
              </a:buClr>
              <a:buSzPts val="630"/>
              <a:buFont typeface="Noto Sans Symbols"/>
              <a:buChar char="●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5275" lvl="1" marL="914400" marR="0" algn="l">
              <a:lnSpc>
                <a:spcPct val="100000"/>
              </a:lnSpc>
              <a:spcBef>
                <a:spcPts val="1134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Noto Sans Symbols"/>
              <a:buChar char="−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68605" lvl="2" marL="1371600" marR="0" algn="l">
              <a:lnSpc>
                <a:spcPct val="100000"/>
              </a:lnSpc>
              <a:spcBef>
                <a:spcPts val="850"/>
              </a:spcBef>
              <a:spcAft>
                <a:spcPts val="0"/>
              </a:spcAft>
              <a:buClr>
                <a:srgbClr val="000000"/>
              </a:buClr>
              <a:buSzPts val="630"/>
              <a:buFont typeface="Noto Sans Symbols"/>
              <a:buChar char="●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5275" lvl="3" marL="1828800" marR="0" algn="l">
              <a:lnSpc>
                <a:spcPct val="100000"/>
              </a:lnSpc>
              <a:spcBef>
                <a:spcPts val="567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Noto Sans Symbols"/>
              <a:buChar char="−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85750" lvl="4" marL="2286000" marR="0" algn="l">
              <a:lnSpc>
                <a:spcPct val="100000"/>
              </a:lnSpc>
              <a:spcBef>
                <a:spcPts val="283"/>
              </a:spcBef>
              <a:spcAft>
                <a:spcPts val="0"/>
              </a:spcAft>
              <a:buClr>
                <a:srgbClr val="000000"/>
              </a:buClr>
              <a:buSzPts val="900"/>
              <a:buFont typeface="Noto Sans Symbols"/>
              <a:buChar char="●"/>
              <a:def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85750" lvl="5" marL="2743200" marR="0" algn="l">
              <a:lnSpc>
                <a:spcPct val="100000"/>
              </a:lnSpc>
              <a:spcBef>
                <a:spcPts val="283"/>
              </a:spcBef>
              <a:spcAft>
                <a:spcPts val="0"/>
              </a:spcAft>
              <a:buClr>
                <a:srgbClr val="000000"/>
              </a:buClr>
              <a:buSzPts val="900"/>
              <a:buFont typeface="Noto Sans Symbols"/>
              <a:buChar char="●"/>
              <a:def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85750" lvl="6" marL="3200400" marR="0" algn="l">
              <a:lnSpc>
                <a:spcPct val="100000"/>
              </a:lnSpc>
              <a:spcBef>
                <a:spcPts val="283"/>
              </a:spcBef>
              <a:spcAft>
                <a:spcPts val="0"/>
              </a:spcAft>
              <a:buClr>
                <a:srgbClr val="000000"/>
              </a:buClr>
              <a:buSzPts val="900"/>
              <a:buFont typeface="Noto Sans Symbols"/>
              <a:buChar char="●"/>
              <a:def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5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5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5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5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5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8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9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7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8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5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2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0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1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1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1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5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5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2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33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20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24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23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27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26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35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31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30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28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29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34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32.pn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h9fd51cbb4fe9101_0_0"/>
          <p:cNvPicPr preferRelativeResize="0"/>
          <p:nvPr/>
        </p:nvPicPr>
        <p:blipFill rotWithShape="1">
          <a:blip r:embed="rId3">
            <a:alphaModFix/>
          </a:blip>
          <a:srcRect b="0" l="0" r="79008" t="80962"/>
          <a:stretch/>
        </p:blipFill>
        <p:spPr>
          <a:xfrm>
            <a:off x="-18000" y="5553000"/>
            <a:ext cx="2375634" cy="1304641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h9fd51cbb4fe9101_0_0"/>
          <p:cNvPicPr preferRelativeResize="0"/>
          <p:nvPr/>
        </p:nvPicPr>
        <p:blipFill rotWithShape="1">
          <a:blip r:embed="rId4">
            <a:alphaModFix/>
          </a:blip>
          <a:srcRect b="28805" l="0" r="0" t="37794"/>
          <a:stretch/>
        </p:blipFill>
        <p:spPr>
          <a:xfrm>
            <a:off x="0" y="2592360"/>
            <a:ext cx="12191734" cy="2289959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h9fd51cbb4fe9101_0_0"/>
          <p:cNvSpPr/>
          <p:nvPr/>
        </p:nvSpPr>
        <p:spPr>
          <a:xfrm>
            <a:off x="68400" y="2644550"/>
            <a:ext cx="5567400" cy="1261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800"/>
              <a:buFont typeface="Arial"/>
              <a:buNone/>
            </a:pPr>
            <a:r>
              <a:rPr b="1" lang="en-US" sz="3700">
                <a:solidFill>
                  <a:srgbClr val="005F89"/>
                </a:solidFill>
              </a:rPr>
              <a:t>Neural Network Essentials</a:t>
            </a:r>
            <a:endParaRPr b="1" sz="3700">
              <a:solidFill>
                <a:srgbClr val="005F89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800"/>
              <a:buFont typeface="Arial"/>
              <a:buNone/>
            </a:pPr>
            <a:r>
              <a:t/>
            </a:r>
            <a:endParaRPr b="1" sz="3700">
              <a:solidFill>
                <a:srgbClr val="005F89"/>
              </a:solidFill>
            </a:endParaRPr>
          </a:p>
        </p:txBody>
      </p:sp>
      <p:sp>
        <p:nvSpPr>
          <p:cNvPr id="103" name="Google Shape;103;h9fd51cbb4fe9101_0_0"/>
          <p:cNvSpPr/>
          <p:nvPr/>
        </p:nvSpPr>
        <p:spPr>
          <a:xfrm>
            <a:off x="5752076" y="3023650"/>
            <a:ext cx="5021100" cy="10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>
                <a:solidFill>
                  <a:srgbClr val="007191"/>
                </a:solidFill>
              </a:rPr>
              <a:t>Biological inspiration · Artificial neurons · Activations · Layers · MLP · Backpropagation · Optimization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h9fd51cbb4fe9101_0_98"/>
          <p:cNvSpPr txBox="1"/>
          <p:nvPr>
            <p:ph idx="12" type="sldNum"/>
          </p:nvPr>
        </p:nvSpPr>
        <p:spPr>
          <a:xfrm>
            <a:off x="11296417" y="6502680"/>
            <a:ext cx="731400" cy="52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2025" lIns="122025" spcFirstLastPara="1" rIns="122025" wrap="square" tIns="1220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r>
              <a:rPr lang="en-US"/>
              <a:t>/40</a:t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9" name="Google Shape;109;h9fd51cbb4fe9101_0_98"/>
          <p:cNvSpPr txBox="1"/>
          <p:nvPr/>
        </p:nvSpPr>
        <p:spPr>
          <a:xfrm>
            <a:off x="1915300" y="475850"/>
            <a:ext cx="59313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b="1" lang="en-US" sz="2400">
                <a:solidFill>
                  <a:srgbClr val="18A999"/>
                </a:solidFill>
              </a:rPr>
              <a:t>What's for today</a:t>
            </a:r>
            <a:endParaRPr>
              <a:solidFill>
                <a:srgbClr val="18A999"/>
              </a:solidFill>
            </a:endParaRPr>
          </a:p>
        </p:txBody>
      </p:sp>
      <p:sp>
        <p:nvSpPr>
          <p:cNvPr id="110" name="Google Shape;110;h9fd51cbb4fe9101_0_98"/>
          <p:cNvSpPr txBox="1"/>
          <p:nvPr/>
        </p:nvSpPr>
        <p:spPr>
          <a:xfrm>
            <a:off x="891775" y="1691175"/>
            <a:ext cx="8241000" cy="451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2000">
                <a:solidFill>
                  <a:srgbClr val="232323"/>
                </a:solidFill>
              </a:rPr>
              <a:t>• What a neural network actually receives as input and produces as output.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2000">
                <a:solidFill>
                  <a:srgbClr val="232323"/>
                </a:solidFill>
              </a:rPr>
              <a:t>• Difference between biological and artificial NN.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2000">
                <a:solidFill>
                  <a:srgbClr val="232323"/>
                </a:solidFill>
              </a:rPr>
              <a:t>• How a perceptron becomes a neuron, a layer, and finally a multilayer perceptron.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2000">
                <a:solidFill>
                  <a:srgbClr val="232323"/>
                </a:solidFill>
              </a:rPr>
              <a:t>• Why activation functions are necessary for nonlinear learning.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2000">
                <a:solidFill>
                  <a:srgbClr val="232323"/>
                </a:solidFill>
              </a:rPr>
              <a:t>• How loss, backpropagation and gradient-based optimization train a network.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2000">
                <a:solidFill>
                  <a:srgbClr val="232323"/>
                </a:solidFill>
              </a:rPr>
              <a:t>• How scaling, initialization, regularization and validation affect generalization.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2000">
                <a:solidFill>
                  <a:srgbClr val="232323"/>
                </a:solidFill>
              </a:rPr>
              <a:t>• Neural Networks are Decision Trees.</a:t>
            </a:r>
            <a:endParaRPr sz="19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h9fd51cbb4fe9101_0_104"/>
          <p:cNvSpPr txBox="1"/>
          <p:nvPr>
            <p:ph idx="12" type="sldNum"/>
          </p:nvPr>
        </p:nvSpPr>
        <p:spPr>
          <a:xfrm>
            <a:off x="11409097" y="6333120"/>
            <a:ext cx="731400" cy="524400"/>
          </a:xfrm>
          <a:prstGeom prst="rect">
            <a:avLst/>
          </a:prstGeom>
          <a:noFill/>
          <a:ln>
            <a:noFill/>
          </a:ln>
        </p:spPr>
        <p:txBody>
          <a:bodyPr anchorCtr="0" anchor="t" bIns="122025" lIns="122025" spcFirstLastPara="1" rIns="122025" wrap="square" tIns="1220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6" name="Google Shape;116;h9fd51cbb4fe9101_0_104"/>
          <p:cNvSpPr txBox="1"/>
          <p:nvPr/>
        </p:nvSpPr>
        <p:spPr>
          <a:xfrm>
            <a:off x="914400" y="2770632"/>
            <a:ext cx="100584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en-US" sz="2500">
                <a:solidFill>
                  <a:srgbClr val="18A999"/>
                </a:solidFill>
              </a:rPr>
              <a:t>1. Biological neurons and artificial neurons</a:t>
            </a:r>
            <a:endParaRPr b="0" i="0" sz="1800" u="none" cap="none" strike="noStrike">
              <a:solidFill>
                <a:srgbClr val="18A99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h9fd51cbb4fe9101_0_104"/>
          <p:cNvSpPr txBox="1"/>
          <p:nvPr/>
        </p:nvSpPr>
        <p:spPr>
          <a:xfrm>
            <a:off x="914400" y="3264408"/>
            <a:ext cx="100584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>
                <a:solidFill>
                  <a:srgbClr val="007191"/>
                </a:solidFill>
              </a:rPr>
              <a:t>Neuron really is a mathematical </a:t>
            </a:r>
            <a:r>
              <a:rPr lang="en-US" sz="1600">
                <a:solidFill>
                  <a:srgbClr val="007191"/>
                </a:solidFill>
              </a:rPr>
              <a:t>abstraction</a:t>
            </a:r>
            <a:r>
              <a:rPr lang="en-US" sz="1600">
                <a:solidFill>
                  <a:srgbClr val="007191"/>
                </a:solidFill>
              </a:rPr>
              <a:t>.</a:t>
            </a:r>
            <a:endParaRPr sz="1600">
              <a:solidFill>
                <a:srgbClr val="00719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sz="1600">
              <a:solidFill>
                <a:srgbClr val="007191"/>
              </a:solidFill>
            </a:endParaRPr>
          </a:p>
        </p:txBody>
      </p:sp>
      <p:pic>
        <p:nvPicPr>
          <p:cNvPr id="118" name="Google Shape;118;h9fd51cbb4fe9101_0_10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392350" y="2349558"/>
            <a:ext cx="4799631" cy="270379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h9fd51cbb4fe9101_0_224"/>
          <p:cNvSpPr txBox="1"/>
          <p:nvPr>
            <p:ph idx="12" type="sldNum"/>
          </p:nvPr>
        </p:nvSpPr>
        <p:spPr>
          <a:xfrm>
            <a:off x="11296417" y="6502680"/>
            <a:ext cx="731400" cy="52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2025" lIns="122025" spcFirstLastPara="1" rIns="122025" wrap="square" tIns="1220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r>
              <a:rPr lang="en-US"/>
              <a:t>/40</a:t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4" name="Google Shape;124;h9fd51cbb4fe9101_0_224"/>
          <p:cNvSpPr txBox="1"/>
          <p:nvPr/>
        </p:nvSpPr>
        <p:spPr>
          <a:xfrm>
            <a:off x="1915300" y="475850"/>
            <a:ext cx="59313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b="1" lang="en-US" sz="2400">
                <a:solidFill>
                  <a:srgbClr val="18A999"/>
                </a:solidFill>
              </a:rPr>
              <a:t>The biological neuron</a:t>
            </a:r>
            <a:endParaRPr>
              <a:solidFill>
                <a:srgbClr val="18A999"/>
              </a:solidFill>
            </a:endParaRPr>
          </a:p>
        </p:txBody>
      </p:sp>
      <p:sp>
        <p:nvSpPr>
          <p:cNvPr id="125" name="Google Shape;125;h9fd51cbb4fe9101_0_224"/>
          <p:cNvSpPr txBox="1"/>
          <p:nvPr/>
        </p:nvSpPr>
        <p:spPr>
          <a:xfrm>
            <a:off x="665425" y="1383175"/>
            <a:ext cx="4110300" cy="5643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2000">
                <a:solidFill>
                  <a:srgbClr val="232323"/>
                </a:solidFill>
              </a:rPr>
              <a:t>• Dendrites receive signals from many other cells.</a:t>
            </a:r>
            <a:endParaRPr sz="2000">
              <a:solidFill>
                <a:srgbClr val="232323"/>
              </a:solidFill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2000">
                <a:solidFill>
                  <a:srgbClr val="232323"/>
                </a:solidFill>
              </a:rPr>
              <a:t>• Synapses modulate the strength and sign of those inputs.</a:t>
            </a:r>
            <a:endParaRPr sz="2000">
              <a:solidFill>
                <a:srgbClr val="232323"/>
              </a:solidFill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2000">
                <a:solidFill>
                  <a:srgbClr val="232323"/>
                </a:solidFill>
              </a:rPr>
              <a:t>• Membrane voltage integrates signals over space and time.</a:t>
            </a:r>
            <a:endParaRPr sz="2000">
              <a:solidFill>
                <a:srgbClr val="232323"/>
              </a:solidFill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2000">
                <a:solidFill>
                  <a:srgbClr val="232323"/>
                </a:solidFill>
              </a:rPr>
              <a:t>• If biophysical conditions are met, an action potential can be generated and propagated along the axon.</a:t>
            </a:r>
            <a:endParaRPr sz="2000">
              <a:solidFill>
                <a:srgbClr val="232323"/>
              </a:solidFill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2000">
                <a:solidFill>
                  <a:srgbClr val="232323"/>
                </a:solidFill>
              </a:rPr>
              <a:t>• Real neurons also exhibit dendritic computation, adaptation, neuromodulation and many cell-type-specific dynamics.</a:t>
            </a:r>
            <a:endParaRPr sz="2000">
              <a:solidFill>
                <a:srgbClr val="232323"/>
              </a:solidFill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t/>
            </a:r>
            <a:endParaRPr sz="2000">
              <a:solidFill>
                <a:srgbClr val="232323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</a:endParaRPr>
          </a:p>
        </p:txBody>
      </p:sp>
      <p:pic>
        <p:nvPicPr>
          <p:cNvPr id="126" name="Google Shape;126;h9fd51cbb4fe9101_0_2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66250" y="979425"/>
            <a:ext cx="4225724" cy="55232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h9fd51cbb4fe9101_0_763"/>
          <p:cNvSpPr txBox="1"/>
          <p:nvPr>
            <p:ph idx="12" type="sldNum"/>
          </p:nvPr>
        </p:nvSpPr>
        <p:spPr>
          <a:xfrm>
            <a:off x="11296417" y="6502680"/>
            <a:ext cx="731400" cy="52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2025" lIns="122025" spcFirstLastPara="1" rIns="122025" wrap="square" tIns="1220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r>
              <a:rPr lang="en-US"/>
              <a:t>/40</a:t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2" name="Google Shape;132;h9fd51cbb4fe9101_0_763"/>
          <p:cNvSpPr txBox="1"/>
          <p:nvPr/>
        </p:nvSpPr>
        <p:spPr>
          <a:xfrm>
            <a:off x="1915300" y="475850"/>
            <a:ext cx="59313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b="1" lang="en-US" sz="2400">
                <a:solidFill>
                  <a:srgbClr val="18A999"/>
                </a:solidFill>
              </a:rPr>
              <a:t>The biological neuron</a:t>
            </a:r>
            <a:endParaRPr>
              <a:solidFill>
                <a:srgbClr val="18A999"/>
              </a:solidFill>
            </a:endParaRPr>
          </a:p>
        </p:txBody>
      </p:sp>
      <p:sp>
        <p:nvSpPr>
          <p:cNvPr id="133" name="Google Shape;133;h9fd51cbb4fe9101_0_763"/>
          <p:cNvSpPr txBox="1"/>
          <p:nvPr/>
        </p:nvSpPr>
        <p:spPr>
          <a:xfrm>
            <a:off x="665425" y="1383175"/>
            <a:ext cx="4110300" cy="5643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2000">
                <a:solidFill>
                  <a:srgbClr val="232323"/>
                </a:solidFill>
              </a:rPr>
              <a:t>• Dendrites receive signals from many other cells.</a:t>
            </a:r>
            <a:endParaRPr sz="2000">
              <a:solidFill>
                <a:srgbClr val="232323"/>
              </a:solidFill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2000">
                <a:solidFill>
                  <a:srgbClr val="232323"/>
                </a:solidFill>
              </a:rPr>
              <a:t>• Synapses modulate the strength and sign of those inputs.</a:t>
            </a:r>
            <a:endParaRPr sz="2000">
              <a:solidFill>
                <a:srgbClr val="232323"/>
              </a:solidFill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2000">
                <a:solidFill>
                  <a:srgbClr val="232323"/>
                </a:solidFill>
              </a:rPr>
              <a:t>• Membrane voltage integrates signals over space and time.</a:t>
            </a:r>
            <a:endParaRPr sz="2000">
              <a:solidFill>
                <a:srgbClr val="232323"/>
              </a:solidFill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2000">
                <a:solidFill>
                  <a:srgbClr val="232323"/>
                </a:solidFill>
              </a:rPr>
              <a:t>• If biophysical conditions are met, an action potential can be generated and propagated along the axon.</a:t>
            </a:r>
            <a:endParaRPr sz="2000">
              <a:solidFill>
                <a:srgbClr val="232323"/>
              </a:solidFill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2000">
                <a:solidFill>
                  <a:srgbClr val="232323"/>
                </a:solidFill>
              </a:rPr>
              <a:t>• Real neurons also exhibit dendritic computation, adaptation, neuromodulation and many cell-type-specific dynamics.</a:t>
            </a:r>
            <a:endParaRPr sz="2000">
              <a:solidFill>
                <a:srgbClr val="232323"/>
              </a:solidFill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t/>
            </a:r>
            <a:endParaRPr sz="2000">
              <a:solidFill>
                <a:srgbClr val="232323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</a:endParaRPr>
          </a:p>
        </p:txBody>
      </p:sp>
      <p:pic>
        <p:nvPicPr>
          <p:cNvPr id="134" name="Google Shape;134;h9fd51cbb4fe9101_0_76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79401" y="1582601"/>
            <a:ext cx="7212575" cy="4131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h9fd51cbb4fe9101_0_230"/>
          <p:cNvSpPr txBox="1"/>
          <p:nvPr>
            <p:ph idx="12" type="sldNum"/>
          </p:nvPr>
        </p:nvSpPr>
        <p:spPr>
          <a:xfrm>
            <a:off x="11296417" y="6502680"/>
            <a:ext cx="731400" cy="52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2025" lIns="122025" spcFirstLastPara="1" rIns="122025" wrap="square" tIns="1220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r>
              <a:rPr lang="en-US"/>
              <a:t>/40</a:t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0" name="Google Shape;140;h9fd51cbb4fe9101_0_230"/>
          <p:cNvSpPr txBox="1"/>
          <p:nvPr/>
        </p:nvSpPr>
        <p:spPr>
          <a:xfrm>
            <a:off x="1238020" y="662235"/>
            <a:ext cx="107898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007094"/>
                </a:solidFill>
                <a:latin typeface="Arial"/>
                <a:ea typeface="Arial"/>
                <a:cs typeface="Arial"/>
                <a:sym typeface="Arial"/>
              </a:rPr>
              <a:t>Biological neuron vs artificial neuron</a:t>
            </a:r>
            <a:endParaRPr/>
          </a:p>
        </p:txBody>
      </p:sp>
      <p:pic>
        <p:nvPicPr>
          <p:cNvPr id="141" name="Google Shape;141;h9fd51cbb4fe9101_0_2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6000" y="1185435"/>
            <a:ext cx="10940669" cy="536776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h9fd51cbb4fe9101_0_309"/>
          <p:cNvSpPr txBox="1"/>
          <p:nvPr>
            <p:ph idx="12" type="sldNum"/>
          </p:nvPr>
        </p:nvSpPr>
        <p:spPr>
          <a:xfrm>
            <a:off x="11409097" y="6333120"/>
            <a:ext cx="731400" cy="524400"/>
          </a:xfrm>
          <a:prstGeom prst="rect">
            <a:avLst/>
          </a:prstGeom>
          <a:noFill/>
          <a:ln>
            <a:noFill/>
          </a:ln>
        </p:spPr>
        <p:txBody>
          <a:bodyPr anchorCtr="0" anchor="t" bIns="122025" lIns="122025" spcFirstLastPara="1" rIns="122025" wrap="square" tIns="1220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7" name="Google Shape;147;h9fd51cbb4fe9101_0_309"/>
          <p:cNvSpPr txBox="1"/>
          <p:nvPr/>
        </p:nvSpPr>
        <p:spPr>
          <a:xfrm>
            <a:off x="914400" y="2770632"/>
            <a:ext cx="100584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en-US" sz="2500">
                <a:solidFill>
                  <a:srgbClr val="18A999"/>
                </a:solidFill>
              </a:rPr>
              <a:t>2. From a linear model to a neuron</a:t>
            </a:r>
            <a:endParaRPr sz="2500">
              <a:solidFill>
                <a:srgbClr val="18A999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t/>
            </a:r>
            <a:endParaRPr sz="2500">
              <a:solidFill>
                <a:srgbClr val="18A999"/>
              </a:solidFill>
            </a:endParaRPr>
          </a:p>
        </p:txBody>
      </p:sp>
      <p:sp>
        <p:nvSpPr>
          <p:cNvPr id="148" name="Google Shape;148;h9fd51cbb4fe9101_0_309"/>
          <p:cNvSpPr txBox="1"/>
          <p:nvPr/>
        </p:nvSpPr>
        <p:spPr>
          <a:xfrm>
            <a:off x="914400" y="3264408"/>
            <a:ext cx="100584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>
                <a:solidFill>
                  <a:srgbClr val="007191"/>
                </a:solidFill>
              </a:rPr>
              <a:t>A neuron is almost a regression equation with a nonlinear step added.</a:t>
            </a:r>
            <a:endParaRPr sz="1600">
              <a:solidFill>
                <a:srgbClr val="00719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sz="1600">
              <a:solidFill>
                <a:srgbClr val="007191"/>
              </a:solidFill>
            </a:endParaRPr>
          </a:p>
        </p:txBody>
      </p:sp>
      <p:pic>
        <p:nvPicPr>
          <p:cNvPr id="149" name="Google Shape;149;h9fd51cbb4fe9101_0_30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661203" y="1248262"/>
            <a:ext cx="2592900" cy="46172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h9fd51cbb4fe9101_0_323"/>
          <p:cNvSpPr txBox="1"/>
          <p:nvPr>
            <p:ph idx="12" type="sldNum"/>
          </p:nvPr>
        </p:nvSpPr>
        <p:spPr>
          <a:xfrm>
            <a:off x="11296417" y="6502680"/>
            <a:ext cx="731400" cy="52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2025" lIns="122025" spcFirstLastPara="1" rIns="122025" wrap="square" tIns="1220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r>
              <a:rPr lang="en-US"/>
              <a:t>/40</a:t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5" name="Google Shape;155;h9fd51cbb4fe9101_0_323"/>
          <p:cNvSpPr txBox="1"/>
          <p:nvPr/>
        </p:nvSpPr>
        <p:spPr>
          <a:xfrm>
            <a:off x="867345" y="903585"/>
            <a:ext cx="107898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pc="0" sz="2800" u="none" cap="none" strike="noStrike">
                <a:solidFill>
                  <a:srgbClr val="007094"/>
                </a:solidFill>
                <a:latin typeface="Arial"/>
                <a:ea typeface="Arial"/>
                <a:cs typeface="Arial"/>
                <a:sym typeface="Arial"/>
              </a:rPr>
              <a:t>An artificial neuron step by step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56" name="Google Shape;156;h9fd51cbb4fe9101_0_323"/>
          <p:cNvCxnSpPr/>
          <p:nvPr/>
        </p:nvCxnSpPr>
        <p:spPr>
          <a:xfrm>
            <a:off x="1781745" y="2202033"/>
            <a:ext cx="2011800" cy="1398900"/>
          </a:xfrm>
          <a:prstGeom prst="straightConnector1">
            <a:avLst/>
          </a:prstGeom>
          <a:noFill/>
          <a:ln cap="flat" cmpd="sng" w="25400">
            <a:solidFill>
              <a:srgbClr val="00709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40"/>
              </a:srgbClr>
            </a:outerShdw>
          </a:effectLst>
        </p:spPr>
      </p:cxnSp>
      <p:cxnSp>
        <p:nvCxnSpPr>
          <p:cNvPr id="157" name="Google Shape;157;h9fd51cbb4fe9101_0_323"/>
          <p:cNvCxnSpPr/>
          <p:nvPr/>
        </p:nvCxnSpPr>
        <p:spPr>
          <a:xfrm>
            <a:off x="1781745" y="3024993"/>
            <a:ext cx="2011800" cy="576000"/>
          </a:xfrm>
          <a:prstGeom prst="straightConnector1">
            <a:avLst/>
          </a:prstGeom>
          <a:noFill/>
          <a:ln cap="flat" cmpd="sng" w="25400">
            <a:solidFill>
              <a:srgbClr val="00709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40"/>
              </a:srgbClr>
            </a:outerShdw>
          </a:effectLst>
        </p:spPr>
      </p:cxnSp>
      <p:cxnSp>
        <p:nvCxnSpPr>
          <p:cNvPr id="158" name="Google Shape;158;h9fd51cbb4fe9101_0_323"/>
          <p:cNvCxnSpPr/>
          <p:nvPr/>
        </p:nvCxnSpPr>
        <p:spPr>
          <a:xfrm flipH="1" rot="10800000">
            <a:off x="1781745" y="3601053"/>
            <a:ext cx="2011800" cy="246900"/>
          </a:xfrm>
          <a:prstGeom prst="straightConnector1">
            <a:avLst/>
          </a:prstGeom>
          <a:noFill/>
          <a:ln cap="flat" cmpd="sng" w="25400">
            <a:solidFill>
              <a:srgbClr val="00709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40"/>
              </a:srgbClr>
            </a:outerShdw>
          </a:effectLst>
        </p:spPr>
      </p:cxnSp>
      <p:cxnSp>
        <p:nvCxnSpPr>
          <p:cNvPr id="159" name="Google Shape;159;h9fd51cbb4fe9101_0_323"/>
          <p:cNvCxnSpPr/>
          <p:nvPr/>
        </p:nvCxnSpPr>
        <p:spPr>
          <a:xfrm flipH="1" rot="10800000">
            <a:off x="1781745" y="3601113"/>
            <a:ext cx="2011800" cy="1069800"/>
          </a:xfrm>
          <a:prstGeom prst="straightConnector1">
            <a:avLst/>
          </a:prstGeom>
          <a:noFill/>
          <a:ln cap="flat" cmpd="sng" w="25400">
            <a:solidFill>
              <a:srgbClr val="00709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40"/>
              </a:srgbClr>
            </a:outerShdw>
          </a:effectLst>
        </p:spPr>
      </p:cxnSp>
      <p:cxnSp>
        <p:nvCxnSpPr>
          <p:cNvPr id="160" name="Google Shape;160;h9fd51cbb4fe9101_0_323"/>
          <p:cNvCxnSpPr/>
          <p:nvPr/>
        </p:nvCxnSpPr>
        <p:spPr>
          <a:xfrm flipH="1" rot="10800000">
            <a:off x="1781745" y="3601173"/>
            <a:ext cx="2011800" cy="1892700"/>
          </a:xfrm>
          <a:prstGeom prst="straightConnector1">
            <a:avLst/>
          </a:prstGeom>
          <a:noFill/>
          <a:ln cap="flat" cmpd="sng" w="25400">
            <a:solidFill>
              <a:srgbClr val="00709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40"/>
              </a:srgbClr>
            </a:outerShdw>
          </a:effectLst>
        </p:spPr>
      </p:cxnSp>
      <p:sp>
        <p:nvSpPr>
          <p:cNvPr id="161" name="Google Shape;161;h9fd51cbb4fe9101_0_323"/>
          <p:cNvSpPr/>
          <p:nvPr/>
        </p:nvSpPr>
        <p:spPr>
          <a:xfrm>
            <a:off x="3793425" y="2869545"/>
            <a:ext cx="2377500" cy="1371600"/>
          </a:xfrm>
          <a:prstGeom prst="roundRect">
            <a:avLst>
              <a:gd fmla="val 16667" name="adj"/>
            </a:avLst>
          </a:prstGeom>
          <a:solidFill>
            <a:srgbClr val="FFD866"/>
          </a:solidFill>
          <a:ln cap="flat" cmpd="sng" w="15225">
            <a:solidFill>
              <a:srgbClr val="00709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1" i="0" lang="en-US" spc="0" sz="1900" u="none" cap="none" strike="noStrike">
                <a:solidFill>
                  <a:srgbClr val="232323"/>
                </a:solidFill>
                <a:latin typeface="Arial"/>
                <a:ea typeface="Arial"/>
                <a:cs typeface="Arial"/>
                <a:sym typeface="Arial"/>
              </a:rPr>
              <a:t>weighted sum</a:t>
            </a:r>
            <a:br>
              <a:rPr b="0" i="0" lang="en-US" spc="0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pc="0" sz="1900" u="none" cap="none" strike="noStrike">
                <a:solidFill>
                  <a:srgbClr val="232323"/>
                </a:solidFill>
                <a:latin typeface="Arial"/>
                <a:ea typeface="Arial"/>
                <a:cs typeface="Arial"/>
                <a:sym typeface="Arial"/>
              </a:rPr>
              <a:t>z = Σ wᵢxᵢ + b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62" name="Google Shape;162;h9fd51cbb4fe9101_0_323"/>
          <p:cNvCxnSpPr/>
          <p:nvPr/>
        </p:nvCxnSpPr>
        <p:spPr>
          <a:xfrm>
            <a:off x="6170865" y="3555345"/>
            <a:ext cx="1005900" cy="0"/>
          </a:xfrm>
          <a:prstGeom prst="straightConnector1">
            <a:avLst/>
          </a:prstGeom>
          <a:noFill/>
          <a:ln cap="flat" cmpd="sng" w="25400">
            <a:solidFill>
              <a:srgbClr val="00709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40"/>
              </a:srgbClr>
            </a:outerShdw>
          </a:effectLst>
        </p:spPr>
      </p:cxnSp>
      <p:sp>
        <p:nvSpPr>
          <p:cNvPr id="163" name="Google Shape;163;h9fd51cbb4fe9101_0_323"/>
          <p:cNvSpPr/>
          <p:nvPr/>
        </p:nvSpPr>
        <p:spPr>
          <a:xfrm>
            <a:off x="7176705" y="3006705"/>
            <a:ext cx="1920300" cy="1097400"/>
          </a:xfrm>
          <a:prstGeom prst="roundRect">
            <a:avLst>
              <a:gd fmla="val 16667" name="adj"/>
            </a:avLst>
          </a:prstGeom>
          <a:solidFill>
            <a:srgbClr val="F4F4F4"/>
          </a:solidFill>
          <a:ln cap="flat" cmpd="sng" w="15225">
            <a:solidFill>
              <a:srgbClr val="00709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1" i="0" lang="en-US" spc="0" sz="1900" u="none" cap="none" strike="noStrike">
                <a:solidFill>
                  <a:srgbClr val="232323"/>
                </a:solidFill>
                <a:latin typeface="Arial"/>
                <a:ea typeface="Arial"/>
                <a:cs typeface="Arial"/>
                <a:sym typeface="Arial"/>
              </a:rPr>
              <a:t>activation</a:t>
            </a:r>
            <a:br>
              <a:rPr b="0" i="0" lang="en-US" spc="0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pc="0" sz="1900" u="none" cap="none" strike="noStrike">
                <a:solidFill>
                  <a:srgbClr val="232323"/>
                </a:solidFill>
                <a:latin typeface="Arial"/>
                <a:ea typeface="Arial"/>
                <a:cs typeface="Arial"/>
                <a:sym typeface="Arial"/>
              </a:rPr>
              <a:t>a = f(z)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64" name="Google Shape;164;h9fd51cbb4fe9101_0_323"/>
          <p:cNvCxnSpPr/>
          <p:nvPr/>
        </p:nvCxnSpPr>
        <p:spPr>
          <a:xfrm>
            <a:off x="9096945" y="3555345"/>
            <a:ext cx="914400" cy="0"/>
          </a:xfrm>
          <a:prstGeom prst="straightConnector1">
            <a:avLst/>
          </a:prstGeom>
          <a:noFill/>
          <a:ln cap="flat" cmpd="sng" w="25400">
            <a:solidFill>
              <a:srgbClr val="00709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40"/>
              </a:srgbClr>
            </a:outerShdw>
          </a:effectLst>
        </p:spPr>
      </p:cxnSp>
      <p:sp>
        <p:nvSpPr>
          <p:cNvPr id="165" name="Google Shape;165;h9fd51cbb4fe9101_0_323"/>
          <p:cNvSpPr/>
          <p:nvPr/>
        </p:nvSpPr>
        <p:spPr>
          <a:xfrm>
            <a:off x="10011345" y="3098145"/>
            <a:ext cx="1188600" cy="914400"/>
          </a:xfrm>
          <a:prstGeom prst="roundRect">
            <a:avLst>
              <a:gd fmla="val 16667" name="adj"/>
            </a:avLst>
          </a:prstGeom>
          <a:solidFill>
            <a:srgbClr val="FFD866"/>
          </a:solidFill>
          <a:ln cap="flat" cmpd="sng" w="15225">
            <a:solidFill>
              <a:srgbClr val="00709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pc="0" sz="1800" u="none" cap="none" strike="noStrike">
                <a:solidFill>
                  <a:srgbClr val="232323"/>
                </a:solidFill>
                <a:latin typeface="Arial"/>
                <a:ea typeface="Arial"/>
                <a:cs typeface="Arial"/>
                <a:sym typeface="Arial"/>
              </a:rPr>
              <a:t>output</a:t>
            </a:r>
            <a:br>
              <a:rPr b="0" i="0" lang="en-US" spc="0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pc="0" sz="1800" u="none" cap="none" strike="noStrike">
                <a:solidFill>
                  <a:srgbClr val="232323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" name="Google Shape;166;h9fd51cbb4fe9101_0_323"/>
          <p:cNvSpPr/>
          <p:nvPr/>
        </p:nvSpPr>
        <p:spPr>
          <a:xfrm>
            <a:off x="754145" y="2019370"/>
            <a:ext cx="914400" cy="502800"/>
          </a:xfrm>
          <a:prstGeom prst="roundRect">
            <a:avLst>
              <a:gd fmla="val 16667" name="adj"/>
            </a:avLst>
          </a:prstGeom>
          <a:solidFill>
            <a:srgbClr val="F4F4F4"/>
          </a:solidFill>
          <a:ln cap="flat" cmpd="sng" w="15225">
            <a:solidFill>
              <a:srgbClr val="00709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pc="0" sz="1600" u="none" cap="none" strike="noStrike">
                <a:solidFill>
                  <a:srgbClr val="232323"/>
                </a:solidFill>
                <a:latin typeface="Arial"/>
                <a:ea typeface="Arial"/>
                <a:cs typeface="Arial"/>
                <a:sym typeface="Arial"/>
              </a:rPr>
              <a:t>x₁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" name="Google Shape;167;h9fd51cbb4fe9101_0_323"/>
          <p:cNvSpPr/>
          <p:nvPr/>
        </p:nvSpPr>
        <p:spPr>
          <a:xfrm>
            <a:off x="754145" y="2842330"/>
            <a:ext cx="914400" cy="502800"/>
          </a:xfrm>
          <a:prstGeom prst="roundRect">
            <a:avLst>
              <a:gd fmla="val 16667" name="adj"/>
            </a:avLst>
          </a:prstGeom>
          <a:solidFill>
            <a:srgbClr val="F4F4F4"/>
          </a:solidFill>
          <a:ln cap="flat" cmpd="sng" w="15225">
            <a:solidFill>
              <a:srgbClr val="00709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pc="0" sz="1600" u="none" cap="none" strike="noStrike">
                <a:solidFill>
                  <a:srgbClr val="232323"/>
                </a:solidFill>
                <a:latin typeface="Arial"/>
                <a:ea typeface="Arial"/>
                <a:cs typeface="Arial"/>
                <a:sym typeface="Arial"/>
              </a:rPr>
              <a:t>x₂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" name="Google Shape;168;h9fd51cbb4fe9101_0_323"/>
          <p:cNvSpPr/>
          <p:nvPr/>
        </p:nvSpPr>
        <p:spPr>
          <a:xfrm>
            <a:off x="754145" y="3665290"/>
            <a:ext cx="914400" cy="502800"/>
          </a:xfrm>
          <a:prstGeom prst="roundRect">
            <a:avLst>
              <a:gd fmla="val 16667" name="adj"/>
            </a:avLst>
          </a:prstGeom>
          <a:solidFill>
            <a:srgbClr val="F4F4F4"/>
          </a:solidFill>
          <a:ln cap="flat" cmpd="sng" w="15225">
            <a:solidFill>
              <a:srgbClr val="00709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pc="0" sz="1600" u="none" cap="none" strike="noStrike">
                <a:solidFill>
                  <a:srgbClr val="232323"/>
                </a:solidFill>
                <a:latin typeface="Arial"/>
                <a:ea typeface="Arial"/>
                <a:cs typeface="Arial"/>
                <a:sym typeface="Arial"/>
              </a:rPr>
              <a:t>x₃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" name="Google Shape;169;h9fd51cbb4fe9101_0_323"/>
          <p:cNvSpPr/>
          <p:nvPr/>
        </p:nvSpPr>
        <p:spPr>
          <a:xfrm>
            <a:off x="754145" y="4488250"/>
            <a:ext cx="914400" cy="502800"/>
          </a:xfrm>
          <a:prstGeom prst="roundRect">
            <a:avLst>
              <a:gd fmla="val 16667" name="adj"/>
            </a:avLst>
          </a:prstGeom>
          <a:solidFill>
            <a:srgbClr val="F4F4F4"/>
          </a:solidFill>
          <a:ln cap="flat" cmpd="sng" w="15225">
            <a:solidFill>
              <a:srgbClr val="00709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pc="0" sz="1600" u="none" cap="none" strike="noStrike">
                <a:solidFill>
                  <a:srgbClr val="232323"/>
                </a:solidFill>
                <a:latin typeface="Arial"/>
                <a:ea typeface="Arial"/>
                <a:cs typeface="Arial"/>
                <a:sym typeface="Arial"/>
              </a:rPr>
              <a:t>…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" name="Google Shape;170;h9fd51cbb4fe9101_0_323"/>
          <p:cNvSpPr/>
          <p:nvPr/>
        </p:nvSpPr>
        <p:spPr>
          <a:xfrm>
            <a:off x="754145" y="5311210"/>
            <a:ext cx="914400" cy="502800"/>
          </a:xfrm>
          <a:prstGeom prst="roundRect">
            <a:avLst>
              <a:gd fmla="val 16667" name="adj"/>
            </a:avLst>
          </a:prstGeom>
          <a:solidFill>
            <a:srgbClr val="F4F4F4"/>
          </a:solidFill>
          <a:ln cap="flat" cmpd="sng" w="15225">
            <a:solidFill>
              <a:srgbClr val="00709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pc="0" sz="1600" u="none" cap="none" strike="noStrike">
                <a:solidFill>
                  <a:srgbClr val="232323"/>
                </a:solidFill>
                <a:latin typeface="Arial"/>
                <a:ea typeface="Arial"/>
                <a:cs typeface="Arial"/>
                <a:sym typeface="Arial"/>
              </a:rPr>
              <a:t>xₚ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" name="Google Shape;171;h9fd51cbb4fe9101_0_323"/>
          <p:cNvSpPr txBox="1"/>
          <p:nvPr/>
        </p:nvSpPr>
        <p:spPr>
          <a:xfrm>
            <a:off x="3101148" y="4541547"/>
            <a:ext cx="105156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" name="Google Shape;172;h9fd51cbb4fe9101_0_323"/>
          <p:cNvSpPr/>
          <p:nvPr/>
        </p:nvSpPr>
        <p:spPr>
          <a:xfrm>
            <a:off x="5717665" y="4373960"/>
            <a:ext cx="2103000" cy="731400"/>
          </a:xfrm>
          <a:prstGeom prst="roundRect">
            <a:avLst>
              <a:gd fmla="val 16667" name="adj"/>
            </a:avLst>
          </a:prstGeom>
          <a:solidFill>
            <a:srgbClr val="FFDA6E"/>
          </a:solidFill>
          <a:ln cap="flat" cmpd="sng" w="9525">
            <a:solidFill>
              <a:srgbClr val="00709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pc="0" sz="1800" u="none" cap="none" strike="noStrike">
                <a:solidFill>
                  <a:srgbClr val="282828"/>
                </a:solidFill>
                <a:latin typeface="Arial"/>
                <a:ea typeface="Arial"/>
                <a:cs typeface="Arial"/>
                <a:sym typeface="Arial"/>
              </a:rPr>
              <a:t>Bias b</a:t>
            </a:r>
            <a:endParaRPr/>
          </a:p>
        </p:txBody>
      </p:sp>
      <p:sp>
        <p:nvSpPr>
          <p:cNvPr id="173" name="Google Shape;173;h9fd51cbb4fe9101_0_323"/>
          <p:cNvSpPr txBox="1"/>
          <p:nvPr/>
        </p:nvSpPr>
        <p:spPr>
          <a:xfrm>
            <a:off x="6492240" y="5074920"/>
            <a:ext cx="47550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pc="0" sz="1500" u="none" cap="none" strike="noStrike">
                <a:solidFill>
                  <a:srgbClr val="282828"/>
                </a:solidFill>
                <a:latin typeface="Arial"/>
                <a:ea typeface="Arial"/>
                <a:cs typeface="Arial"/>
                <a:sym typeface="Arial"/>
              </a:rPr>
              <a:t>Bias shifts the activation threshold independently of the input values.</a:t>
            </a:r>
            <a:br>
              <a:rPr b="0" i="0" lang="en-US" spc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pc="0" sz="1500" u="none" cap="none" strike="noStrike">
                <a:solidFill>
                  <a:srgbClr val="282828"/>
                </a:solidFill>
                <a:latin typeface="Arial"/>
                <a:ea typeface="Arial"/>
                <a:cs typeface="Arial"/>
                <a:sym typeface="Arial"/>
              </a:rPr>
              <a:t>Without b, the decision boundary is forced through the origin.</a:t>
            </a:r>
            <a:endParaRPr/>
          </a:p>
        </p:txBody>
      </p:sp>
      <p:cxnSp>
        <p:nvCxnSpPr>
          <p:cNvPr id="174" name="Google Shape;174;h9fd51cbb4fe9101_0_323"/>
          <p:cNvCxnSpPr>
            <a:stCxn id="163" idx="2"/>
            <a:endCxn id="172" idx="0"/>
          </p:cNvCxnSpPr>
          <p:nvPr/>
        </p:nvCxnSpPr>
        <p:spPr>
          <a:xfrm flipH="1">
            <a:off x="6769155" y="4104105"/>
            <a:ext cx="1367700" cy="270000"/>
          </a:xfrm>
          <a:prstGeom prst="straightConnector1">
            <a:avLst/>
          </a:prstGeom>
          <a:noFill/>
          <a:ln cap="flat" cmpd="sng" w="25400">
            <a:solidFill>
              <a:srgbClr val="00709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40"/>
              </a:srgbClr>
            </a:outerShdw>
          </a:effectLst>
        </p:spPr>
      </p:cxn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h9fd51cbb4fe9101_0_364"/>
          <p:cNvSpPr txBox="1"/>
          <p:nvPr>
            <p:ph idx="12" type="sldNum"/>
          </p:nvPr>
        </p:nvSpPr>
        <p:spPr>
          <a:xfrm>
            <a:off x="11296417" y="6502680"/>
            <a:ext cx="731400" cy="52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2025" lIns="122025" spcFirstLastPara="1" rIns="122025" wrap="square" tIns="1220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r>
              <a:rPr lang="en-US"/>
              <a:t>/40</a:t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0" name="Google Shape;180;h9fd51cbb4fe9101_0_364"/>
          <p:cNvSpPr txBox="1"/>
          <p:nvPr/>
        </p:nvSpPr>
        <p:spPr>
          <a:xfrm>
            <a:off x="701082" y="911235"/>
            <a:ext cx="107898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007094"/>
                </a:solidFill>
                <a:latin typeface="Arial"/>
                <a:ea typeface="Arial"/>
                <a:cs typeface="Arial"/>
                <a:sym typeface="Arial"/>
              </a:rPr>
              <a:t>The perceptron: a hard threshold</a:t>
            </a:r>
            <a:endParaRPr/>
          </a:p>
        </p:txBody>
      </p:sp>
      <p:sp>
        <p:nvSpPr>
          <p:cNvPr id="181" name="Google Shape;181;h9fd51cbb4fe9101_0_364"/>
          <p:cNvSpPr txBox="1"/>
          <p:nvPr/>
        </p:nvSpPr>
        <p:spPr>
          <a:xfrm>
            <a:off x="792525" y="1825625"/>
            <a:ext cx="3926700" cy="409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232323"/>
                </a:solidFill>
                <a:latin typeface="Arial"/>
                <a:ea typeface="Arial"/>
                <a:cs typeface="Arial"/>
                <a:sym typeface="Arial"/>
              </a:rPr>
              <a:t>• The classical perceptron computes z = wᵀx + b.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232323"/>
                </a:solidFill>
                <a:latin typeface="Arial"/>
                <a:ea typeface="Arial"/>
                <a:cs typeface="Arial"/>
                <a:sym typeface="Arial"/>
              </a:rPr>
              <a:t>• A step function then returns one of two states depending on whether z crosses a threshold.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232323"/>
                </a:solidFill>
                <a:latin typeface="Arial"/>
                <a:ea typeface="Arial"/>
                <a:cs typeface="Arial"/>
                <a:sym typeface="Arial"/>
              </a:rPr>
              <a:t>• This creates a learned linear decision boundary.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232323"/>
                </a:solidFill>
                <a:latin typeface="Arial"/>
                <a:ea typeface="Arial"/>
                <a:cs typeface="Arial"/>
                <a:sym typeface="Arial"/>
              </a:rPr>
              <a:t>• Modern networks usually replace the hard step with differentiable or piecewise-differentiable activations.</a:t>
            </a:r>
            <a:endParaRPr/>
          </a:p>
        </p:txBody>
      </p:sp>
      <p:pic>
        <p:nvPicPr>
          <p:cNvPr id="182" name="Google Shape;182;h9fd51cbb4fe9101_0_36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48875" y="1825621"/>
            <a:ext cx="7178952" cy="338266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h9fd51cbb4fe9101_0_443"/>
          <p:cNvSpPr txBox="1"/>
          <p:nvPr>
            <p:ph idx="12" type="sldNum"/>
          </p:nvPr>
        </p:nvSpPr>
        <p:spPr>
          <a:xfrm>
            <a:off x="11409097" y="6333120"/>
            <a:ext cx="731400" cy="524400"/>
          </a:xfrm>
          <a:prstGeom prst="rect">
            <a:avLst/>
          </a:prstGeom>
          <a:noFill/>
          <a:ln>
            <a:noFill/>
          </a:ln>
        </p:spPr>
        <p:txBody>
          <a:bodyPr anchorCtr="0" anchor="t" bIns="122025" lIns="122025" spcFirstLastPara="1" rIns="122025" wrap="square" tIns="1220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8" name="Google Shape;188;h9fd51cbb4fe9101_0_443"/>
          <p:cNvSpPr txBox="1"/>
          <p:nvPr/>
        </p:nvSpPr>
        <p:spPr>
          <a:xfrm>
            <a:off x="914400" y="2770632"/>
            <a:ext cx="100584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en-US" sz="2500">
                <a:solidFill>
                  <a:srgbClr val="18A999"/>
                </a:solidFill>
              </a:rPr>
              <a:t>3. Activation functions</a:t>
            </a:r>
            <a:endParaRPr sz="2500">
              <a:solidFill>
                <a:srgbClr val="18A999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t/>
            </a:r>
            <a:endParaRPr sz="2500">
              <a:solidFill>
                <a:srgbClr val="18A999"/>
              </a:solidFill>
            </a:endParaRPr>
          </a:p>
        </p:txBody>
      </p:sp>
      <p:sp>
        <p:nvSpPr>
          <p:cNvPr id="189" name="Google Shape;189;h9fd51cbb4fe9101_0_443"/>
          <p:cNvSpPr txBox="1"/>
          <p:nvPr/>
        </p:nvSpPr>
        <p:spPr>
          <a:xfrm>
            <a:off x="914400" y="3264408"/>
            <a:ext cx="100584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>
                <a:solidFill>
                  <a:srgbClr val="007191"/>
                </a:solidFill>
              </a:rPr>
              <a:t>How we can </a:t>
            </a:r>
            <a:r>
              <a:rPr lang="en-US" sz="1600">
                <a:solidFill>
                  <a:srgbClr val="007191"/>
                </a:solidFill>
              </a:rPr>
              <a:t>transform</a:t>
            </a:r>
            <a:r>
              <a:rPr lang="en-US" sz="1600">
                <a:solidFill>
                  <a:srgbClr val="007191"/>
                </a:solidFill>
              </a:rPr>
              <a:t> weighting into non-linear function.</a:t>
            </a:r>
            <a:endParaRPr sz="1600">
              <a:solidFill>
                <a:srgbClr val="00719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sz="1600">
              <a:solidFill>
                <a:srgbClr val="007191"/>
              </a:solidFill>
            </a:endParaRPr>
          </a:p>
        </p:txBody>
      </p:sp>
      <p:pic>
        <p:nvPicPr>
          <p:cNvPr id="190" name="Google Shape;190;h9fd51cbb4fe9101_0_4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596675" y="2262624"/>
            <a:ext cx="2595300" cy="2727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h9fd51cbb4fe9101_0_449"/>
          <p:cNvSpPr txBox="1"/>
          <p:nvPr>
            <p:ph idx="12" type="sldNum"/>
          </p:nvPr>
        </p:nvSpPr>
        <p:spPr>
          <a:xfrm>
            <a:off x="11296417" y="6502680"/>
            <a:ext cx="731400" cy="52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2025" lIns="122025" spcFirstLastPara="1" rIns="122025" wrap="square" tIns="1220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r>
              <a:rPr lang="en-US"/>
              <a:t>/40</a:t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6" name="Google Shape;196;h9fd51cbb4fe9101_0_449"/>
          <p:cNvSpPr txBox="1"/>
          <p:nvPr/>
        </p:nvSpPr>
        <p:spPr>
          <a:xfrm>
            <a:off x="701082" y="1228110"/>
            <a:ext cx="107898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007094"/>
                </a:solidFill>
                <a:latin typeface="Arial"/>
                <a:ea typeface="Arial"/>
                <a:cs typeface="Arial"/>
                <a:sym typeface="Arial"/>
              </a:rPr>
              <a:t>Why activation functions are necessary</a:t>
            </a:r>
            <a:endParaRPr/>
          </a:p>
        </p:txBody>
      </p:sp>
      <p:sp>
        <p:nvSpPr>
          <p:cNvPr id="197" name="Google Shape;197;h9fd51cbb4fe9101_0_449"/>
          <p:cNvSpPr txBox="1"/>
          <p:nvPr/>
        </p:nvSpPr>
        <p:spPr>
          <a:xfrm>
            <a:off x="792524" y="2142500"/>
            <a:ext cx="4232100" cy="378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232323"/>
                </a:solidFill>
                <a:latin typeface="Arial"/>
                <a:ea typeface="Arial"/>
                <a:cs typeface="Arial"/>
                <a:sym typeface="Arial"/>
              </a:rPr>
              <a:t>• Suppose h₁ = W₁x + b₁ and h₂ = W₂h₁ + b₂.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232323"/>
                </a:solidFill>
                <a:latin typeface="Arial"/>
                <a:ea typeface="Arial"/>
                <a:cs typeface="Arial"/>
                <a:sym typeface="Arial"/>
              </a:rPr>
              <a:t>• Then h₂ = W₂W₁x + W₂b₁ + b₂ — still just a linear/affine transformation.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232323"/>
                </a:solidFill>
                <a:latin typeface="Arial"/>
                <a:ea typeface="Arial"/>
                <a:cs typeface="Arial"/>
                <a:sym typeface="Arial"/>
              </a:rPr>
              <a:t>• Therefore stacking linear layers without nonlinear activations does not create a nonlinear model.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232323"/>
                </a:solidFill>
                <a:latin typeface="Arial"/>
                <a:ea typeface="Arial"/>
                <a:cs typeface="Arial"/>
                <a:sym typeface="Arial"/>
              </a:rPr>
              <a:t>• Activations let networks build nonlinear decision surfaces and intermediate representations.</a:t>
            </a:r>
            <a:endParaRPr/>
          </a:p>
        </p:txBody>
      </p:sp>
      <p:pic>
        <p:nvPicPr>
          <p:cNvPr id="198" name="Google Shape;198;h9fd51cbb4fe9101_0_44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26200" y="1915025"/>
            <a:ext cx="7365775" cy="355700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h9fd51cbb4fe9101_0_459"/>
          <p:cNvSpPr txBox="1"/>
          <p:nvPr>
            <p:ph idx="12" type="sldNum"/>
          </p:nvPr>
        </p:nvSpPr>
        <p:spPr>
          <a:xfrm>
            <a:off x="11296417" y="6502680"/>
            <a:ext cx="731400" cy="52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2025" lIns="122025" spcFirstLastPara="1" rIns="122025" wrap="square" tIns="1220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r>
              <a:rPr lang="en-US"/>
              <a:t>/40</a:t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4" name="Google Shape;204;h9fd51cbb4fe9101_0_459"/>
          <p:cNvSpPr txBox="1"/>
          <p:nvPr/>
        </p:nvSpPr>
        <p:spPr>
          <a:xfrm>
            <a:off x="701082" y="914723"/>
            <a:ext cx="107898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007094"/>
                </a:solidFill>
                <a:latin typeface="Arial"/>
                <a:ea typeface="Arial"/>
                <a:cs typeface="Arial"/>
                <a:sym typeface="Arial"/>
              </a:rPr>
              <a:t>Common activation functions</a:t>
            </a:r>
            <a:endParaRPr/>
          </a:p>
        </p:txBody>
      </p:sp>
      <p:pic>
        <p:nvPicPr>
          <p:cNvPr descr="activations.png" id="205" name="Google Shape;205;h9fd51cbb4fe9101_0_45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83963" y="1829122"/>
            <a:ext cx="6400799" cy="4114156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h9fd51cbb4fe9101_0_459"/>
          <p:cNvSpPr txBox="1"/>
          <p:nvPr/>
        </p:nvSpPr>
        <p:spPr>
          <a:xfrm>
            <a:off x="7467641" y="2057723"/>
            <a:ext cx="3840600" cy="247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232323"/>
                </a:solidFill>
                <a:latin typeface="Arial"/>
                <a:ea typeface="Arial"/>
                <a:cs typeface="Arial"/>
                <a:sym typeface="Arial"/>
              </a:rPr>
              <a:t>• Sigmoid: bounded 0–1; useful for binary probability output, but saturates in hidden layers.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232323"/>
                </a:solidFill>
                <a:latin typeface="Arial"/>
                <a:ea typeface="Arial"/>
                <a:cs typeface="Arial"/>
                <a:sym typeface="Arial"/>
              </a:rPr>
              <a:t>• tanh: bounded −1 to 1 and zero-centered, but also saturates.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232323"/>
                </a:solidFill>
                <a:latin typeface="Arial"/>
                <a:ea typeface="Arial"/>
                <a:cs typeface="Arial"/>
                <a:sym typeface="Arial"/>
              </a:rPr>
              <a:t>• ReLU: simple and widely used in hidden layers.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232323"/>
                </a:solidFill>
                <a:latin typeface="Arial"/>
                <a:ea typeface="Arial"/>
                <a:cs typeface="Arial"/>
                <a:sym typeface="Arial"/>
              </a:rPr>
              <a:t>• Leaky ReLU: keeps a small slope for negative inputs to reduce “dead” units.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h9fd51cbb4fe9101_0_465"/>
          <p:cNvSpPr txBox="1"/>
          <p:nvPr>
            <p:ph idx="12" type="sldNum"/>
          </p:nvPr>
        </p:nvSpPr>
        <p:spPr>
          <a:xfrm>
            <a:off x="11296417" y="6502680"/>
            <a:ext cx="731400" cy="52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2025" lIns="122025" spcFirstLastPara="1" rIns="122025" wrap="square" tIns="1220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r>
              <a:rPr lang="en-US"/>
              <a:t>/40</a:t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2" name="Google Shape;212;h9fd51cbb4fe9101_0_465"/>
          <p:cNvSpPr txBox="1"/>
          <p:nvPr/>
        </p:nvSpPr>
        <p:spPr>
          <a:xfrm>
            <a:off x="1402182" y="552860"/>
            <a:ext cx="107898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007094"/>
                </a:solidFill>
              </a:rPr>
              <a:t>Activation function choice should be </a:t>
            </a:r>
            <a:r>
              <a:rPr b="1" lang="en-US" sz="2800">
                <a:solidFill>
                  <a:srgbClr val="007094"/>
                </a:solidFill>
              </a:rPr>
              <a:t>aligned</a:t>
            </a:r>
            <a:r>
              <a:rPr b="1" lang="en-US" sz="2800">
                <a:solidFill>
                  <a:srgbClr val="007094"/>
                </a:solidFill>
              </a:rPr>
              <a:t> with your task</a:t>
            </a:r>
            <a:endParaRPr/>
          </a:p>
        </p:txBody>
      </p:sp>
      <p:sp>
        <p:nvSpPr>
          <p:cNvPr id="213" name="Google Shape;213;h9fd51cbb4fe9101_0_465"/>
          <p:cNvSpPr txBox="1"/>
          <p:nvPr/>
        </p:nvSpPr>
        <p:spPr>
          <a:xfrm>
            <a:off x="822960" y="1417320"/>
            <a:ext cx="29262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pc="0" sz="1900" u="none" cap="none" strike="noStrike">
                <a:solidFill>
                  <a:srgbClr val="007094"/>
                </a:solidFill>
                <a:latin typeface="Arial"/>
                <a:ea typeface="Arial"/>
                <a:cs typeface="Arial"/>
                <a:sym typeface="Arial"/>
              </a:rPr>
              <a:t>Hidden layers</a:t>
            </a:r>
            <a:endParaRPr/>
          </a:p>
        </p:txBody>
      </p:sp>
      <p:sp>
        <p:nvSpPr>
          <p:cNvPr id="214" name="Google Shape;214;h9fd51cbb4fe9101_0_465"/>
          <p:cNvSpPr txBox="1"/>
          <p:nvPr/>
        </p:nvSpPr>
        <p:spPr>
          <a:xfrm>
            <a:off x="4572000" y="1417320"/>
            <a:ext cx="29262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pc="0" sz="1900" u="none" cap="none" strike="noStrike">
                <a:solidFill>
                  <a:srgbClr val="007094"/>
                </a:solidFill>
                <a:latin typeface="Arial"/>
                <a:ea typeface="Arial"/>
                <a:cs typeface="Arial"/>
                <a:sym typeface="Arial"/>
              </a:rPr>
              <a:t>Output layer</a:t>
            </a:r>
            <a:endParaRPr/>
          </a:p>
        </p:txBody>
      </p:sp>
      <p:sp>
        <p:nvSpPr>
          <p:cNvPr id="215" name="Google Shape;215;h9fd51cbb4fe9101_0_465"/>
          <p:cNvSpPr txBox="1"/>
          <p:nvPr/>
        </p:nvSpPr>
        <p:spPr>
          <a:xfrm>
            <a:off x="8412480" y="1417320"/>
            <a:ext cx="27432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pc="0" sz="1900" u="none" cap="none" strike="noStrike">
                <a:solidFill>
                  <a:srgbClr val="007094"/>
                </a:solidFill>
                <a:latin typeface="Arial"/>
                <a:ea typeface="Arial"/>
                <a:cs typeface="Arial"/>
                <a:sym typeface="Arial"/>
              </a:rPr>
              <a:t>Why?</a:t>
            </a:r>
            <a:endParaRPr/>
          </a:p>
        </p:txBody>
      </p:sp>
      <p:sp>
        <p:nvSpPr>
          <p:cNvPr id="216" name="Google Shape;216;h9fd51cbb4fe9101_0_465"/>
          <p:cNvSpPr/>
          <p:nvPr/>
        </p:nvSpPr>
        <p:spPr>
          <a:xfrm>
            <a:off x="640080" y="1965960"/>
            <a:ext cx="2560200" cy="658500"/>
          </a:xfrm>
          <a:prstGeom prst="roundRect">
            <a:avLst>
              <a:gd fmla="val 16667" name="adj"/>
            </a:avLst>
          </a:prstGeom>
          <a:solidFill>
            <a:srgbClr val="F5F5F5"/>
          </a:solidFill>
          <a:ln cap="flat" cmpd="sng" w="9525">
            <a:solidFill>
              <a:srgbClr val="00709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pc="0" sz="1400" u="none" cap="none" strike="noStrike">
                <a:solidFill>
                  <a:srgbClr val="282828"/>
                </a:solidFill>
                <a:latin typeface="Arial"/>
                <a:ea typeface="Arial"/>
                <a:cs typeface="Arial"/>
                <a:sym typeface="Arial"/>
              </a:rPr>
              <a:t>ReLU / Leaky ReLU</a:t>
            </a:r>
            <a:endParaRPr/>
          </a:p>
        </p:txBody>
      </p:sp>
      <p:sp>
        <p:nvSpPr>
          <p:cNvPr id="217" name="Google Shape;217;h9fd51cbb4fe9101_0_465"/>
          <p:cNvSpPr/>
          <p:nvPr/>
        </p:nvSpPr>
        <p:spPr>
          <a:xfrm>
            <a:off x="3657600" y="1965960"/>
            <a:ext cx="3840600" cy="6585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00709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pc="0" sz="1400" u="none" cap="none" strike="noStrike">
                <a:solidFill>
                  <a:srgbClr val="282828"/>
                </a:solidFill>
                <a:latin typeface="Arial"/>
                <a:ea typeface="Arial"/>
                <a:cs typeface="Arial"/>
                <a:sym typeface="Arial"/>
              </a:rPr>
              <a:t>Regression</a:t>
            </a:r>
            <a:br>
              <a:rPr b="0" i="0" lang="en-US" spc="0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pc="0" sz="1400" u="none" cap="none" strike="noStrike">
                <a:solidFill>
                  <a:srgbClr val="282828"/>
                </a:solidFill>
                <a:latin typeface="Arial"/>
                <a:ea typeface="Arial"/>
                <a:cs typeface="Arial"/>
                <a:sym typeface="Arial"/>
              </a:rPr>
              <a:t>Usually linear output</a:t>
            </a:r>
            <a:endParaRPr/>
          </a:p>
        </p:txBody>
      </p:sp>
      <p:sp>
        <p:nvSpPr>
          <p:cNvPr id="218" name="Google Shape;218;h9fd51cbb4fe9101_0_465"/>
          <p:cNvSpPr/>
          <p:nvPr/>
        </p:nvSpPr>
        <p:spPr>
          <a:xfrm>
            <a:off x="7955279" y="1965960"/>
            <a:ext cx="3474600" cy="658500"/>
          </a:xfrm>
          <a:prstGeom prst="roundRect">
            <a:avLst>
              <a:gd fmla="val 16667" name="adj"/>
            </a:avLst>
          </a:prstGeom>
          <a:solidFill>
            <a:srgbClr val="F5F5F5"/>
          </a:solidFill>
          <a:ln cap="flat" cmpd="sng" w="9525">
            <a:solidFill>
              <a:srgbClr val="00709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pc="0" sz="1400" u="none" cap="none" strike="noStrike">
                <a:solidFill>
                  <a:srgbClr val="282828"/>
                </a:solidFill>
                <a:latin typeface="Arial"/>
                <a:ea typeface="Arial"/>
                <a:cs typeface="Arial"/>
                <a:sym typeface="Arial"/>
              </a:rPr>
              <a:t>Predict unrestricted real values</a:t>
            </a:r>
            <a:endParaRPr/>
          </a:p>
        </p:txBody>
      </p:sp>
      <p:sp>
        <p:nvSpPr>
          <p:cNvPr id="219" name="Google Shape;219;h9fd51cbb4fe9101_0_465"/>
          <p:cNvSpPr/>
          <p:nvPr/>
        </p:nvSpPr>
        <p:spPr>
          <a:xfrm>
            <a:off x="640080" y="2807208"/>
            <a:ext cx="2560200" cy="658500"/>
          </a:xfrm>
          <a:prstGeom prst="roundRect">
            <a:avLst>
              <a:gd fmla="val 16667" name="adj"/>
            </a:avLst>
          </a:prstGeom>
          <a:solidFill>
            <a:srgbClr val="F5F5F5"/>
          </a:solidFill>
          <a:ln cap="flat" cmpd="sng" w="9525">
            <a:solidFill>
              <a:srgbClr val="00709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pc="0" sz="1400" u="none" cap="none" strike="noStrike">
                <a:solidFill>
                  <a:srgbClr val="282828"/>
                </a:solidFill>
                <a:latin typeface="Arial"/>
                <a:ea typeface="Arial"/>
                <a:cs typeface="Arial"/>
                <a:sym typeface="Arial"/>
              </a:rPr>
              <a:t>ReLU / Leaky ReLU</a:t>
            </a:r>
            <a:endParaRPr/>
          </a:p>
        </p:txBody>
      </p:sp>
      <p:sp>
        <p:nvSpPr>
          <p:cNvPr id="220" name="Google Shape;220;h9fd51cbb4fe9101_0_465"/>
          <p:cNvSpPr/>
          <p:nvPr/>
        </p:nvSpPr>
        <p:spPr>
          <a:xfrm>
            <a:off x="3657600" y="2807208"/>
            <a:ext cx="3840600" cy="6585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00709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pc="0" sz="1400" u="none" cap="none" strike="noStrike">
                <a:solidFill>
                  <a:srgbClr val="282828"/>
                </a:solidFill>
                <a:latin typeface="Arial"/>
                <a:ea typeface="Arial"/>
                <a:cs typeface="Arial"/>
                <a:sym typeface="Arial"/>
              </a:rPr>
              <a:t>Binary classification</a:t>
            </a:r>
            <a:br>
              <a:rPr b="0" i="0" lang="en-US" spc="0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pc="0" sz="1400" u="none" cap="none" strike="noStrike">
                <a:solidFill>
                  <a:srgbClr val="282828"/>
                </a:solidFill>
                <a:latin typeface="Arial"/>
                <a:ea typeface="Arial"/>
                <a:cs typeface="Arial"/>
                <a:sym typeface="Arial"/>
              </a:rPr>
              <a:t>1 sigmoid output</a:t>
            </a:r>
            <a:endParaRPr/>
          </a:p>
        </p:txBody>
      </p:sp>
      <p:sp>
        <p:nvSpPr>
          <p:cNvPr id="221" name="Google Shape;221;h9fd51cbb4fe9101_0_465"/>
          <p:cNvSpPr/>
          <p:nvPr/>
        </p:nvSpPr>
        <p:spPr>
          <a:xfrm>
            <a:off x="7955279" y="2807208"/>
            <a:ext cx="3474600" cy="658500"/>
          </a:xfrm>
          <a:prstGeom prst="roundRect">
            <a:avLst>
              <a:gd fmla="val 16667" name="adj"/>
            </a:avLst>
          </a:prstGeom>
          <a:solidFill>
            <a:srgbClr val="F5F5F5"/>
          </a:solidFill>
          <a:ln cap="flat" cmpd="sng" w="9525">
            <a:solidFill>
              <a:srgbClr val="00709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pc="0" sz="1400" u="none" cap="none" strike="noStrike">
                <a:solidFill>
                  <a:srgbClr val="282828"/>
                </a:solidFill>
                <a:latin typeface="Arial"/>
                <a:ea typeface="Arial"/>
                <a:cs typeface="Arial"/>
                <a:sym typeface="Arial"/>
              </a:rPr>
              <a:t>Probability in [0,1]</a:t>
            </a:r>
            <a:endParaRPr/>
          </a:p>
        </p:txBody>
      </p:sp>
      <p:sp>
        <p:nvSpPr>
          <p:cNvPr id="222" name="Google Shape;222;h9fd51cbb4fe9101_0_465"/>
          <p:cNvSpPr/>
          <p:nvPr/>
        </p:nvSpPr>
        <p:spPr>
          <a:xfrm>
            <a:off x="640080" y="3648456"/>
            <a:ext cx="2560200" cy="658500"/>
          </a:xfrm>
          <a:prstGeom prst="roundRect">
            <a:avLst>
              <a:gd fmla="val 16667" name="adj"/>
            </a:avLst>
          </a:prstGeom>
          <a:solidFill>
            <a:srgbClr val="F5F5F5"/>
          </a:solidFill>
          <a:ln cap="flat" cmpd="sng" w="9525">
            <a:solidFill>
              <a:srgbClr val="00709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pc="0" sz="1400" u="none" cap="none" strike="noStrike">
                <a:solidFill>
                  <a:srgbClr val="282828"/>
                </a:solidFill>
                <a:latin typeface="Arial"/>
                <a:ea typeface="Arial"/>
                <a:cs typeface="Arial"/>
                <a:sym typeface="Arial"/>
              </a:rPr>
              <a:t>ReLU / Leaky ReLU</a:t>
            </a:r>
            <a:endParaRPr/>
          </a:p>
        </p:txBody>
      </p:sp>
      <p:sp>
        <p:nvSpPr>
          <p:cNvPr id="223" name="Google Shape;223;h9fd51cbb4fe9101_0_465"/>
          <p:cNvSpPr/>
          <p:nvPr/>
        </p:nvSpPr>
        <p:spPr>
          <a:xfrm>
            <a:off x="3657600" y="3648456"/>
            <a:ext cx="3840600" cy="6585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00709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pc="0" sz="1400" u="none" cap="none" strike="noStrike">
                <a:solidFill>
                  <a:srgbClr val="282828"/>
                </a:solidFill>
                <a:latin typeface="Arial"/>
                <a:ea typeface="Arial"/>
                <a:cs typeface="Arial"/>
                <a:sym typeface="Arial"/>
              </a:rPr>
              <a:t>Multiclass</a:t>
            </a:r>
            <a:br>
              <a:rPr b="0" i="0" lang="en-US" spc="0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pc="0" sz="1400" u="none" cap="none" strike="noStrike">
                <a:solidFill>
                  <a:srgbClr val="282828"/>
                </a:solidFill>
                <a:latin typeface="Arial"/>
                <a:ea typeface="Arial"/>
                <a:cs typeface="Arial"/>
                <a:sym typeface="Arial"/>
              </a:rPr>
              <a:t>K logits / softmax</a:t>
            </a:r>
            <a:endParaRPr/>
          </a:p>
        </p:txBody>
      </p:sp>
      <p:sp>
        <p:nvSpPr>
          <p:cNvPr id="224" name="Google Shape;224;h9fd51cbb4fe9101_0_465"/>
          <p:cNvSpPr/>
          <p:nvPr/>
        </p:nvSpPr>
        <p:spPr>
          <a:xfrm>
            <a:off x="7955279" y="3648456"/>
            <a:ext cx="3474600" cy="658500"/>
          </a:xfrm>
          <a:prstGeom prst="roundRect">
            <a:avLst>
              <a:gd fmla="val 16667" name="adj"/>
            </a:avLst>
          </a:prstGeom>
          <a:solidFill>
            <a:srgbClr val="F5F5F5"/>
          </a:solidFill>
          <a:ln cap="flat" cmpd="sng" w="9525">
            <a:solidFill>
              <a:srgbClr val="00709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pc="0" sz="1400" u="none" cap="none" strike="noStrike">
                <a:solidFill>
                  <a:srgbClr val="282828"/>
                </a:solidFill>
                <a:latin typeface="Arial"/>
                <a:ea typeface="Arial"/>
                <a:cs typeface="Arial"/>
                <a:sym typeface="Arial"/>
              </a:rPr>
              <a:t>One probability distribution</a:t>
            </a:r>
            <a:endParaRPr/>
          </a:p>
        </p:txBody>
      </p:sp>
      <p:sp>
        <p:nvSpPr>
          <p:cNvPr id="225" name="Google Shape;225;h9fd51cbb4fe9101_0_465"/>
          <p:cNvSpPr/>
          <p:nvPr/>
        </p:nvSpPr>
        <p:spPr>
          <a:xfrm>
            <a:off x="640080" y="4489704"/>
            <a:ext cx="2560200" cy="658500"/>
          </a:xfrm>
          <a:prstGeom prst="roundRect">
            <a:avLst>
              <a:gd fmla="val 16667" name="adj"/>
            </a:avLst>
          </a:prstGeom>
          <a:solidFill>
            <a:srgbClr val="F5F5F5"/>
          </a:solidFill>
          <a:ln cap="flat" cmpd="sng" w="9525">
            <a:solidFill>
              <a:srgbClr val="00709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pc="0" sz="1400" u="none" cap="none" strike="noStrike">
                <a:solidFill>
                  <a:srgbClr val="282828"/>
                </a:solidFill>
                <a:latin typeface="Arial"/>
                <a:ea typeface="Arial"/>
                <a:cs typeface="Arial"/>
                <a:sym typeface="Arial"/>
              </a:rPr>
              <a:t>ReLU / Leaky ReLU</a:t>
            </a:r>
            <a:endParaRPr/>
          </a:p>
        </p:txBody>
      </p:sp>
      <p:sp>
        <p:nvSpPr>
          <p:cNvPr id="226" name="Google Shape;226;h9fd51cbb4fe9101_0_465"/>
          <p:cNvSpPr/>
          <p:nvPr/>
        </p:nvSpPr>
        <p:spPr>
          <a:xfrm>
            <a:off x="3657600" y="4489704"/>
            <a:ext cx="3840600" cy="6585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00709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pc="0" sz="1400" u="none" cap="none" strike="noStrike">
                <a:solidFill>
                  <a:srgbClr val="282828"/>
                </a:solidFill>
                <a:latin typeface="Arial"/>
                <a:ea typeface="Arial"/>
                <a:cs typeface="Arial"/>
                <a:sym typeface="Arial"/>
              </a:rPr>
              <a:t>Multilabel</a:t>
            </a:r>
            <a:br>
              <a:rPr b="0" i="0" lang="en-US" spc="0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pc="0" sz="1400" u="none" cap="none" strike="noStrike">
                <a:solidFill>
                  <a:srgbClr val="282828"/>
                </a:solidFill>
                <a:latin typeface="Arial"/>
                <a:ea typeface="Arial"/>
                <a:cs typeface="Arial"/>
                <a:sym typeface="Arial"/>
              </a:rPr>
              <a:t>K sigmoids</a:t>
            </a:r>
            <a:endParaRPr/>
          </a:p>
        </p:txBody>
      </p:sp>
      <p:sp>
        <p:nvSpPr>
          <p:cNvPr id="227" name="Google Shape;227;h9fd51cbb4fe9101_0_465"/>
          <p:cNvSpPr/>
          <p:nvPr/>
        </p:nvSpPr>
        <p:spPr>
          <a:xfrm>
            <a:off x="7955279" y="4489704"/>
            <a:ext cx="3474600" cy="658500"/>
          </a:xfrm>
          <a:prstGeom prst="roundRect">
            <a:avLst>
              <a:gd fmla="val 16667" name="adj"/>
            </a:avLst>
          </a:prstGeom>
          <a:solidFill>
            <a:srgbClr val="F5F5F5"/>
          </a:solidFill>
          <a:ln cap="flat" cmpd="sng" w="9525">
            <a:solidFill>
              <a:srgbClr val="00709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pc="0" sz="1400" u="none" cap="none" strike="noStrike">
                <a:solidFill>
                  <a:srgbClr val="282828"/>
                </a:solidFill>
                <a:latin typeface="Arial"/>
                <a:ea typeface="Arial"/>
                <a:cs typeface="Arial"/>
                <a:sym typeface="Arial"/>
              </a:rPr>
              <a:t>Independent probabilities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h9fd51cbb4fe9101_0_825"/>
          <p:cNvSpPr txBox="1"/>
          <p:nvPr>
            <p:ph idx="12" type="sldNum"/>
          </p:nvPr>
        </p:nvSpPr>
        <p:spPr>
          <a:xfrm>
            <a:off x="11296417" y="6502680"/>
            <a:ext cx="731400" cy="52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2025" lIns="122025" spcFirstLastPara="1" rIns="122025" wrap="square" tIns="1220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r>
              <a:rPr lang="en-US"/>
              <a:t>/40</a:t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33" name="Google Shape;233;h9fd51cbb4fe9101_0_825"/>
          <p:cNvSpPr txBox="1"/>
          <p:nvPr/>
        </p:nvSpPr>
        <p:spPr>
          <a:xfrm>
            <a:off x="701082" y="1126235"/>
            <a:ext cx="107898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007094"/>
                </a:solidFill>
              </a:rPr>
              <a:t>You can create your own function</a:t>
            </a:r>
            <a:endParaRPr/>
          </a:p>
        </p:txBody>
      </p:sp>
      <p:sp>
        <p:nvSpPr>
          <p:cNvPr id="234" name="Google Shape;234;h9fd51cbb4fe9101_0_825"/>
          <p:cNvSpPr/>
          <p:nvPr/>
        </p:nvSpPr>
        <p:spPr>
          <a:xfrm>
            <a:off x="822960" y="2057400"/>
            <a:ext cx="3383400" cy="868800"/>
          </a:xfrm>
          <a:prstGeom prst="roundRect">
            <a:avLst>
              <a:gd fmla="val 16667" name="adj"/>
            </a:avLst>
          </a:prstGeom>
          <a:solidFill>
            <a:srgbClr val="FFDA6E"/>
          </a:solidFill>
          <a:ln cap="flat" cmpd="sng" w="9525">
            <a:solidFill>
              <a:srgbClr val="00709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pc="0" sz="1600" u="none" cap="none" strike="noStrike">
                <a:solidFill>
                  <a:srgbClr val="282828"/>
                </a:solidFill>
                <a:latin typeface="Arial"/>
                <a:ea typeface="Arial"/>
                <a:cs typeface="Arial"/>
                <a:sym typeface="Arial"/>
              </a:rPr>
              <a:t>1. It should solve a real modelling problem</a:t>
            </a:r>
            <a:endParaRPr/>
          </a:p>
        </p:txBody>
      </p:sp>
      <p:sp>
        <p:nvSpPr>
          <p:cNvPr id="235" name="Google Shape;235;h9fd51cbb4fe9101_0_825"/>
          <p:cNvSpPr/>
          <p:nvPr/>
        </p:nvSpPr>
        <p:spPr>
          <a:xfrm>
            <a:off x="4434840" y="2057400"/>
            <a:ext cx="3383400" cy="868800"/>
          </a:xfrm>
          <a:prstGeom prst="roundRect">
            <a:avLst>
              <a:gd fmla="val 16667" name="adj"/>
            </a:avLst>
          </a:prstGeom>
          <a:solidFill>
            <a:srgbClr val="F5F5F5"/>
          </a:solidFill>
          <a:ln cap="flat" cmpd="sng" w="9525">
            <a:solidFill>
              <a:srgbClr val="00709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pc="0" sz="1600" u="none" cap="none" strike="noStrike">
                <a:solidFill>
                  <a:srgbClr val="282828"/>
                </a:solidFill>
                <a:latin typeface="Arial"/>
                <a:ea typeface="Arial"/>
                <a:cs typeface="Arial"/>
                <a:sym typeface="Arial"/>
              </a:rPr>
              <a:t>2. Gradient-based training needs a usable derivative</a:t>
            </a:r>
            <a:endParaRPr/>
          </a:p>
        </p:txBody>
      </p:sp>
      <p:sp>
        <p:nvSpPr>
          <p:cNvPr id="236" name="Google Shape;236;h9fd51cbb4fe9101_0_825"/>
          <p:cNvSpPr/>
          <p:nvPr/>
        </p:nvSpPr>
        <p:spPr>
          <a:xfrm>
            <a:off x="8046720" y="2057400"/>
            <a:ext cx="3383400" cy="868800"/>
          </a:xfrm>
          <a:prstGeom prst="roundRect">
            <a:avLst>
              <a:gd fmla="val 16667" name="adj"/>
            </a:avLst>
          </a:prstGeom>
          <a:solidFill>
            <a:srgbClr val="F5F5F5"/>
          </a:solidFill>
          <a:ln cap="flat" cmpd="sng" w="9525">
            <a:solidFill>
              <a:srgbClr val="00709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pc="0" sz="1600" u="none" cap="none" strike="noStrike">
                <a:solidFill>
                  <a:srgbClr val="282828"/>
                </a:solidFill>
                <a:latin typeface="Arial"/>
                <a:ea typeface="Arial"/>
                <a:cs typeface="Arial"/>
                <a:sym typeface="Arial"/>
              </a:rPr>
              <a:t>3. Numerical stability matters</a:t>
            </a:r>
            <a:endParaRPr/>
          </a:p>
        </p:txBody>
      </p:sp>
      <p:sp>
        <p:nvSpPr>
          <p:cNvPr id="237" name="Google Shape;237;h9fd51cbb4fe9101_0_825"/>
          <p:cNvSpPr txBox="1"/>
          <p:nvPr/>
        </p:nvSpPr>
        <p:spPr>
          <a:xfrm>
            <a:off x="1005840" y="3337560"/>
            <a:ext cx="5577900" cy="15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pc="0" sz="1600" u="none" cap="none" strike="noStrike">
                <a:solidFill>
                  <a:srgbClr val="282828"/>
                </a:solidFill>
                <a:latin typeface="Arial"/>
                <a:ea typeface="Arial"/>
                <a:cs typeface="Arial"/>
                <a:sym typeface="Arial"/>
              </a:rPr>
              <a:t>Examples of why new activations appeared:</a:t>
            </a:r>
            <a:br>
              <a:rPr b="0" i="0" lang="en-US" spc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pc="0" sz="1600" u="none" cap="none" strike="noStrike">
                <a:solidFill>
                  <a:srgbClr val="282828"/>
                </a:solidFill>
                <a:latin typeface="Arial"/>
                <a:ea typeface="Arial"/>
                <a:cs typeface="Arial"/>
                <a:sym typeface="Arial"/>
              </a:rPr>
              <a:t>• Leaky ReLU → avoid permanently inactive negative units</a:t>
            </a:r>
            <a:br>
              <a:rPr b="0" i="0" lang="en-US" spc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pc="0" sz="1600" u="none" cap="none" strike="noStrike">
                <a:solidFill>
                  <a:srgbClr val="282828"/>
                </a:solidFill>
                <a:latin typeface="Arial"/>
                <a:ea typeface="Arial"/>
                <a:cs typeface="Arial"/>
                <a:sym typeface="Arial"/>
              </a:rPr>
              <a:t>• GELU / SiLU → smoother gating used in many modern architectures</a:t>
            </a:r>
            <a:br>
              <a:rPr b="0" i="0" lang="en-US" spc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pc="0" sz="1600" u="none" cap="none" strike="noStrike">
                <a:solidFill>
                  <a:srgbClr val="282828"/>
                </a:solidFill>
                <a:latin typeface="Arial"/>
                <a:ea typeface="Arial"/>
                <a:cs typeface="Arial"/>
                <a:sym typeface="Arial"/>
              </a:rPr>
              <a:t>• Task-specific monotonic or bounded functions → encode domain constraints</a:t>
            </a:r>
            <a:endParaRPr/>
          </a:p>
        </p:txBody>
      </p:sp>
      <p:sp>
        <p:nvSpPr>
          <p:cNvPr id="238" name="Google Shape;238;h9fd51cbb4fe9101_0_825"/>
          <p:cNvSpPr txBox="1"/>
          <p:nvPr/>
        </p:nvSpPr>
        <p:spPr>
          <a:xfrm>
            <a:off x="6949440" y="3337560"/>
            <a:ext cx="4389000" cy="178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pc="0" sz="1600" u="none" cap="none" strike="noStrike">
                <a:solidFill>
                  <a:srgbClr val="282828"/>
                </a:solidFill>
                <a:latin typeface="Arial"/>
                <a:ea typeface="Arial"/>
                <a:cs typeface="Arial"/>
                <a:sym typeface="Arial"/>
              </a:rPr>
              <a:t>But changing f(z) changes optimization too.</a:t>
            </a:r>
            <a:br>
              <a:rPr b="0" i="0" lang="en-US" spc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b="0" i="0" lang="en-US" spc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pc="0" sz="1600" u="none" cap="none" strike="noStrike">
                <a:solidFill>
                  <a:srgbClr val="282828"/>
                </a:solidFill>
                <a:latin typeface="Arial"/>
                <a:ea typeface="Arial"/>
                <a:cs typeface="Arial"/>
                <a:sym typeface="Arial"/>
              </a:rPr>
              <a:t>Ask:</a:t>
            </a:r>
            <a:br>
              <a:rPr b="0" i="0" lang="en-US" spc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pc="0" sz="1600" u="none" cap="none" strike="noStrike">
                <a:solidFill>
                  <a:srgbClr val="282828"/>
                </a:solidFill>
                <a:latin typeface="Arial"/>
                <a:ea typeface="Arial"/>
                <a:cs typeface="Arial"/>
                <a:sym typeface="Arial"/>
              </a:rPr>
              <a:t>• Does it saturate?</a:t>
            </a:r>
            <a:br>
              <a:rPr b="0" i="0" lang="en-US" spc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pc="0" sz="1600" u="none" cap="none" strike="noStrike">
                <a:solidFill>
                  <a:srgbClr val="282828"/>
                </a:solidFill>
                <a:latin typeface="Arial"/>
                <a:ea typeface="Arial"/>
                <a:cs typeface="Arial"/>
                <a:sym typeface="Arial"/>
              </a:rPr>
              <a:t>• Are gradients stable?</a:t>
            </a:r>
            <a:br>
              <a:rPr b="0" i="0" lang="en-US" spc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pc="0" sz="1600" u="none" cap="none" strike="noStrike">
                <a:solidFill>
                  <a:srgbClr val="282828"/>
                </a:solidFill>
                <a:latin typeface="Arial"/>
                <a:ea typeface="Arial"/>
                <a:cs typeface="Arial"/>
                <a:sym typeface="Arial"/>
              </a:rPr>
              <a:t>• Is the output range appropriate?</a:t>
            </a:r>
            <a:br>
              <a:rPr b="0" i="0" lang="en-US" spc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pc="0" sz="1600" u="none" cap="none" strike="noStrike">
                <a:solidFill>
                  <a:srgbClr val="282828"/>
                </a:solidFill>
                <a:latin typeface="Arial"/>
                <a:ea typeface="Arial"/>
                <a:cs typeface="Arial"/>
                <a:sym typeface="Arial"/>
              </a:rPr>
              <a:t>• Does it improve validation performance?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h9fd51cbb4fe9101_0_482"/>
          <p:cNvSpPr txBox="1"/>
          <p:nvPr>
            <p:ph idx="12" type="sldNum"/>
          </p:nvPr>
        </p:nvSpPr>
        <p:spPr>
          <a:xfrm>
            <a:off x="11409097" y="6333120"/>
            <a:ext cx="731400" cy="524400"/>
          </a:xfrm>
          <a:prstGeom prst="rect">
            <a:avLst/>
          </a:prstGeom>
          <a:noFill/>
          <a:ln>
            <a:noFill/>
          </a:ln>
        </p:spPr>
        <p:txBody>
          <a:bodyPr anchorCtr="0" anchor="t" bIns="122025" lIns="122025" spcFirstLastPara="1" rIns="122025" wrap="square" tIns="1220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44" name="Google Shape;244;h9fd51cbb4fe9101_0_482"/>
          <p:cNvSpPr txBox="1"/>
          <p:nvPr/>
        </p:nvSpPr>
        <p:spPr>
          <a:xfrm>
            <a:off x="914400" y="2770632"/>
            <a:ext cx="10058400" cy="1246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en-US" sz="2500">
                <a:solidFill>
                  <a:srgbClr val="18A999"/>
                </a:solidFill>
              </a:rPr>
              <a:t>4. Inputs, layers and representations</a:t>
            </a:r>
            <a:endParaRPr sz="2500">
              <a:solidFill>
                <a:srgbClr val="18A999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t/>
            </a:r>
            <a:endParaRPr sz="2500">
              <a:solidFill>
                <a:srgbClr val="18A999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t/>
            </a:r>
            <a:endParaRPr sz="2500">
              <a:solidFill>
                <a:srgbClr val="18A999"/>
              </a:solidFill>
            </a:endParaRPr>
          </a:p>
        </p:txBody>
      </p:sp>
      <p:sp>
        <p:nvSpPr>
          <p:cNvPr id="245" name="Google Shape;245;h9fd51cbb4fe9101_0_482"/>
          <p:cNvSpPr txBox="1"/>
          <p:nvPr/>
        </p:nvSpPr>
        <p:spPr>
          <a:xfrm>
            <a:off x="914400" y="3264408"/>
            <a:ext cx="10058400" cy="8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>
                <a:solidFill>
                  <a:srgbClr val="007191"/>
                </a:solidFill>
              </a:rPr>
              <a:t>A network is a sequence of tensor transformations.</a:t>
            </a:r>
            <a:endParaRPr sz="1600">
              <a:solidFill>
                <a:srgbClr val="00719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sz="1600">
              <a:solidFill>
                <a:srgbClr val="00719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sz="1600">
              <a:solidFill>
                <a:srgbClr val="007191"/>
              </a:solidFill>
            </a:endParaRPr>
          </a:p>
        </p:txBody>
      </p:sp>
      <p:pic>
        <p:nvPicPr>
          <p:cNvPr id="246" name="Google Shape;246;h9fd51cbb4fe9101_0_48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234449" y="367850"/>
            <a:ext cx="3906050" cy="58590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h9fd51cbb4fe9101_0_488"/>
          <p:cNvSpPr txBox="1"/>
          <p:nvPr>
            <p:ph idx="12" type="sldNum"/>
          </p:nvPr>
        </p:nvSpPr>
        <p:spPr>
          <a:xfrm>
            <a:off x="11296417" y="6502680"/>
            <a:ext cx="731400" cy="52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2025" lIns="122025" spcFirstLastPara="1" rIns="122025" wrap="square" tIns="1220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r>
              <a:rPr lang="en-US"/>
              <a:t>/40</a:t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52" name="Google Shape;252;h9fd51cbb4fe9101_0_488"/>
          <p:cNvSpPr txBox="1"/>
          <p:nvPr/>
        </p:nvSpPr>
        <p:spPr>
          <a:xfrm>
            <a:off x="701082" y="1114935"/>
            <a:ext cx="107898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007094"/>
                </a:solidFill>
                <a:latin typeface="Arial"/>
                <a:ea typeface="Arial"/>
                <a:cs typeface="Arial"/>
                <a:sym typeface="Arial"/>
              </a:rPr>
              <a:t>What does the network actually see?</a:t>
            </a:r>
            <a:endParaRPr/>
          </a:p>
        </p:txBody>
      </p:sp>
      <p:sp>
        <p:nvSpPr>
          <p:cNvPr id="253" name="Google Shape;253;h9fd51cbb4fe9101_0_488"/>
          <p:cNvSpPr txBox="1"/>
          <p:nvPr/>
        </p:nvSpPr>
        <p:spPr>
          <a:xfrm>
            <a:off x="792524" y="2029325"/>
            <a:ext cx="5160000" cy="3889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232323"/>
                </a:solidFill>
                <a:latin typeface="Arial"/>
                <a:ea typeface="Arial"/>
                <a:cs typeface="Arial"/>
                <a:sym typeface="Arial"/>
              </a:rPr>
              <a:t>• A network receives numbers arranged in tensors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232323"/>
                </a:solidFill>
                <a:latin typeface="Arial"/>
                <a:ea typeface="Arial"/>
                <a:cs typeface="Arial"/>
                <a:sym typeface="Arial"/>
              </a:rPr>
              <a:t>• Tabular input: where rows are samples and columns are features.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232323"/>
                </a:solidFill>
                <a:latin typeface="Arial"/>
                <a:ea typeface="Arial"/>
                <a:cs typeface="Arial"/>
                <a:sym typeface="Arial"/>
              </a:rPr>
              <a:t>• Transcriptomics example: one sample → vector of gene-expression values.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232323"/>
                </a:solidFill>
                <a:latin typeface="Arial"/>
                <a:ea typeface="Arial"/>
                <a:cs typeface="Arial"/>
                <a:sym typeface="Arial"/>
              </a:rPr>
              <a:t>• QSAR example: one compound → vector of molecular descriptors.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232323"/>
                </a:solidFill>
                <a:latin typeface="Arial"/>
                <a:ea typeface="Arial"/>
                <a:cs typeface="Arial"/>
                <a:sym typeface="Arial"/>
              </a:rPr>
              <a:t>• Microscopy-feature example: one cell → vector of morphology and texture measurements/multide</a:t>
            </a:r>
            <a:r>
              <a:rPr lang="en-US" sz="2000">
                <a:solidFill>
                  <a:srgbClr val="232323"/>
                </a:solidFill>
              </a:rPr>
              <a:t>mensional matrix</a:t>
            </a:r>
            <a:r>
              <a:rPr b="0" i="0" lang="en-US" sz="2000" u="none" cap="none" strike="noStrike">
                <a:solidFill>
                  <a:srgbClr val="232323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</p:txBody>
      </p:sp>
      <p:pic>
        <p:nvPicPr>
          <p:cNvPr id="254" name="Google Shape;254;h9fd51cbb4fe9101_0_48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04925" y="1790524"/>
            <a:ext cx="5385950" cy="43087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h9fd51cbb4fe9101_0_498"/>
          <p:cNvSpPr txBox="1"/>
          <p:nvPr>
            <p:ph idx="12" type="sldNum"/>
          </p:nvPr>
        </p:nvSpPr>
        <p:spPr>
          <a:xfrm>
            <a:off x="11296417" y="6502680"/>
            <a:ext cx="731400" cy="52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2025" lIns="122025" spcFirstLastPara="1" rIns="122025" wrap="square" tIns="1220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r>
              <a:rPr lang="en-US"/>
              <a:t>/40</a:t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60" name="Google Shape;260;h9fd51cbb4fe9101_0_498"/>
          <p:cNvSpPr txBox="1"/>
          <p:nvPr/>
        </p:nvSpPr>
        <p:spPr>
          <a:xfrm>
            <a:off x="701082" y="1126260"/>
            <a:ext cx="107898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007094"/>
                </a:solidFill>
                <a:latin typeface="Arial"/>
                <a:ea typeface="Arial"/>
                <a:cs typeface="Arial"/>
                <a:sym typeface="Arial"/>
              </a:rPr>
              <a:t>A layer is many neurons in parallel</a:t>
            </a:r>
            <a:endParaRPr/>
          </a:p>
        </p:txBody>
      </p:sp>
      <p:sp>
        <p:nvSpPr>
          <p:cNvPr id="261" name="Google Shape;261;h9fd51cbb4fe9101_0_498"/>
          <p:cNvSpPr txBox="1"/>
          <p:nvPr/>
        </p:nvSpPr>
        <p:spPr>
          <a:xfrm>
            <a:off x="792525" y="2040650"/>
            <a:ext cx="5544900" cy="255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232323"/>
                </a:solidFill>
                <a:latin typeface="Arial"/>
                <a:ea typeface="Arial"/>
                <a:cs typeface="Arial"/>
                <a:sym typeface="Arial"/>
              </a:rPr>
              <a:t>• A dense layer computes z = Wx + b.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232323"/>
                </a:solidFill>
                <a:latin typeface="Arial"/>
                <a:ea typeface="Arial"/>
                <a:cs typeface="Arial"/>
                <a:sym typeface="Arial"/>
              </a:rPr>
              <a:t>• If input dimension = p and layer width = h, then W has shape h × p.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232323"/>
                </a:solidFill>
                <a:latin typeface="Arial"/>
                <a:ea typeface="Arial"/>
                <a:cs typeface="Arial"/>
                <a:sym typeface="Arial"/>
              </a:rPr>
              <a:t>• The activation is applied element-wise: h = f(z).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232323"/>
                </a:solidFill>
                <a:latin typeface="Arial"/>
                <a:ea typeface="Arial"/>
                <a:cs typeface="Arial"/>
                <a:sym typeface="Arial"/>
              </a:rPr>
              <a:t>• The layer therefore maps one representation into another.</a:t>
            </a:r>
            <a:endParaRPr/>
          </a:p>
        </p:txBody>
      </p:sp>
      <p:pic>
        <p:nvPicPr>
          <p:cNvPr id="262" name="Google Shape;262;h9fd51cbb4fe9101_0_49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032950" y="1236010"/>
            <a:ext cx="4075837" cy="490374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h9fd51cbb4fe9101_0_504"/>
          <p:cNvSpPr txBox="1"/>
          <p:nvPr>
            <p:ph idx="12" type="sldNum"/>
          </p:nvPr>
        </p:nvSpPr>
        <p:spPr>
          <a:xfrm>
            <a:off x="11296417" y="6502680"/>
            <a:ext cx="731400" cy="52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2025" lIns="122025" spcFirstLastPara="1" rIns="122025" wrap="square" tIns="1220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r>
              <a:rPr lang="en-US"/>
              <a:t>/40</a:t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68" name="Google Shape;268;h9fd51cbb4fe9101_0_504"/>
          <p:cNvSpPr/>
          <p:nvPr/>
        </p:nvSpPr>
        <p:spPr>
          <a:xfrm>
            <a:off x="822960" y="2194560"/>
            <a:ext cx="2286000" cy="914400"/>
          </a:xfrm>
          <a:prstGeom prst="roundRect">
            <a:avLst>
              <a:gd fmla="val 16667" name="adj"/>
            </a:avLst>
          </a:prstGeom>
          <a:solidFill>
            <a:srgbClr val="F4F4F4"/>
          </a:solidFill>
          <a:ln cap="flat" cmpd="sng" w="15225">
            <a:solidFill>
              <a:srgbClr val="00709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232323"/>
                </a:solidFill>
                <a:latin typeface="Arial"/>
                <a:ea typeface="Arial"/>
                <a:cs typeface="Arial"/>
                <a:sym typeface="Arial"/>
              </a:rPr>
              <a:t>1000 input features</a:t>
            </a:r>
            <a:endParaRPr/>
          </a:p>
        </p:txBody>
      </p:sp>
      <p:cxnSp>
        <p:nvCxnSpPr>
          <p:cNvPr id="269" name="Google Shape;269;h9fd51cbb4fe9101_0_504"/>
          <p:cNvCxnSpPr/>
          <p:nvPr/>
        </p:nvCxnSpPr>
        <p:spPr>
          <a:xfrm>
            <a:off x="3108960" y="2651760"/>
            <a:ext cx="914400" cy="0"/>
          </a:xfrm>
          <a:prstGeom prst="straightConnector1">
            <a:avLst/>
          </a:prstGeom>
          <a:noFill/>
          <a:ln cap="flat" cmpd="sng" w="25400">
            <a:solidFill>
              <a:srgbClr val="00709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40"/>
              </a:srgbClr>
            </a:outerShdw>
          </a:effectLst>
        </p:spPr>
      </p:cxnSp>
      <p:sp>
        <p:nvSpPr>
          <p:cNvPr id="270" name="Google Shape;270;h9fd51cbb4fe9101_0_504"/>
          <p:cNvSpPr/>
          <p:nvPr/>
        </p:nvSpPr>
        <p:spPr>
          <a:xfrm>
            <a:off x="4023360" y="2011680"/>
            <a:ext cx="2377500" cy="1280100"/>
          </a:xfrm>
          <a:prstGeom prst="roundRect">
            <a:avLst>
              <a:gd fmla="val 16667" name="adj"/>
            </a:avLst>
          </a:prstGeom>
          <a:solidFill>
            <a:srgbClr val="FFD866"/>
          </a:solidFill>
          <a:ln cap="flat" cmpd="sng" w="15225">
            <a:solidFill>
              <a:srgbClr val="00709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232323"/>
                </a:solidFill>
                <a:latin typeface="Arial"/>
                <a:ea typeface="Arial"/>
                <a:cs typeface="Arial"/>
                <a:sym typeface="Arial"/>
              </a:rPr>
              <a:t>Dense layer</a:t>
            </a:r>
            <a:br>
              <a:rPr b="0" i="0" lang="en-US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1800" u="none" cap="none" strike="noStrike">
                <a:solidFill>
                  <a:srgbClr val="232323"/>
                </a:solidFill>
                <a:latin typeface="Arial"/>
                <a:ea typeface="Arial"/>
                <a:cs typeface="Arial"/>
                <a:sym typeface="Arial"/>
              </a:rPr>
              <a:t>128 neurons</a:t>
            </a:r>
            <a:endParaRPr/>
          </a:p>
        </p:txBody>
      </p:sp>
      <p:cxnSp>
        <p:nvCxnSpPr>
          <p:cNvPr id="271" name="Google Shape;271;h9fd51cbb4fe9101_0_504"/>
          <p:cNvCxnSpPr/>
          <p:nvPr/>
        </p:nvCxnSpPr>
        <p:spPr>
          <a:xfrm>
            <a:off x="6400800" y="2651760"/>
            <a:ext cx="914400" cy="0"/>
          </a:xfrm>
          <a:prstGeom prst="straightConnector1">
            <a:avLst/>
          </a:prstGeom>
          <a:noFill/>
          <a:ln cap="flat" cmpd="sng" w="25400">
            <a:solidFill>
              <a:srgbClr val="00709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40"/>
              </a:srgbClr>
            </a:outerShdw>
          </a:effectLst>
        </p:spPr>
      </p:cxnSp>
      <p:sp>
        <p:nvSpPr>
          <p:cNvPr id="272" name="Google Shape;272;h9fd51cbb4fe9101_0_504"/>
          <p:cNvSpPr/>
          <p:nvPr/>
        </p:nvSpPr>
        <p:spPr>
          <a:xfrm>
            <a:off x="7315200" y="2194560"/>
            <a:ext cx="2194500" cy="914400"/>
          </a:xfrm>
          <a:prstGeom prst="roundRect">
            <a:avLst>
              <a:gd fmla="val 16667" name="adj"/>
            </a:avLst>
          </a:prstGeom>
          <a:solidFill>
            <a:srgbClr val="F4F4F4"/>
          </a:solidFill>
          <a:ln cap="flat" cmpd="sng" w="15225">
            <a:solidFill>
              <a:srgbClr val="00709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232323"/>
                </a:solidFill>
                <a:latin typeface="Arial"/>
                <a:ea typeface="Arial"/>
                <a:cs typeface="Arial"/>
                <a:sym typeface="Arial"/>
              </a:rPr>
              <a:t>128 outputs</a:t>
            </a:r>
            <a:endParaRPr/>
          </a:p>
        </p:txBody>
      </p:sp>
      <p:sp>
        <p:nvSpPr>
          <p:cNvPr id="273" name="Google Shape;273;h9fd51cbb4fe9101_0_504"/>
          <p:cNvSpPr txBox="1"/>
          <p:nvPr/>
        </p:nvSpPr>
        <p:spPr>
          <a:xfrm>
            <a:off x="2103120" y="3886200"/>
            <a:ext cx="7863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232323"/>
                </a:solidFill>
                <a:latin typeface="Arial"/>
                <a:ea typeface="Arial"/>
                <a:cs typeface="Arial"/>
                <a:sym typeface="Arial"/>
              </a:rPr>
              <a:t>weights: 1000 × 128 = 128,000</a:t>
            </a:r>
            <a:endParaRPr/>
          </a:p>
        </p:txBody>
      </p:sp>
      <p:sp>
        <p:nvSpPr>
          <p:cNvPr id="274" name="Google Shape;274;h9fd51cbb4fe9101_0_504"/>
          <p:cNvSpPr txBox="1"/>
          <p:nvPr/>
        </p:nvSpPr>
        <p:spPr>
          <a:xfrm>
            <a:off x="2103120" y="4389120"/>
            <a:ext cx="7863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232323"/>
                </a:solidFill>
                <a:latin typeface="Arial"/>
                <a:ea typeface="Arial"/>
                <a:cs typeface="Arial"/>
                <a:sym typeface="Arial"/>
              </a:rPr>
              <a:t>biases: 128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h9fd51cbb4fe9101_0_510"/>
          <p:cNvSpPr txBox="1"/>
          <p:nvPr>
            <p:ph idx="12" type="sldNum"/>
          </p:nvPr>
        </p:nvSpPr>
        <p:spPr>
          <a:xfrm>
            <a:off x="11296417" y="6502680"/>
            <a:ext cx="731400" cy="52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2025" lIns="122025" spcFirstLastPara="1" rIns="122025" wrap="square" tIns="1220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r>
              <a:rPr lang="en-US"/>
              <a:t>/40</a:t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0" name="Google Shape;280;h9fd51cbb4fe9101_0_510"/>
          <p:cNvSpPr txBox="1"/>
          <p:nvPr/>
        </p:nvSpPr>
        <p:spPr>
          <a:xfrm>
            <a:off x="629695" y="990435"/>
            <a:ext cx="107898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007094"/>
                </a:solidFill>
                <a:latin typeface="Arial"/>
                <a:ea typeface="Arial"/>
                <a:cs typeface="Arial"/>
                <a:sym typeface="Arial"/>
              </a:rPr>
              <a:t>Input, hidden and output layers</a:t>
            </a:r>
            <a:endParaRPr/>
          </a:p>
        </p:txBody>
      </p:sp>
      <p:sp>
        <p:nvSpPr>
          <p:cNvPr id="281" name="Google Shape;281;h9fd51cbb4fe9101_0_510"/>
          <p:cNvSpPr txBox="1"/>
          <p:nvPr/>
        </p:nvSpPr>
        <p:spPr>
          <a:xfrm>
            <a:off x="358978" y="1870875"/>
            <a:ext cx="6917700" cy="2247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232323"/>
                </a:solidFill>
                <a:latin typeface="Arial"/>
                <a:ea typeface="Arial"/>
                <a:cs typeface="Arial"/>
                <a:sym typeface="Arial"/>
              </a:rPr>
              <a:t>• Input layer: the representation supplied by the dataset.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232323"/>
                </a:solidFill>
                <a:latin typeface="Arial"/>
                <a:ea typeface="Arial"/>
                <a:cs typeface="Arial"/>
                <a:sym typeface="Arial"/>
              </a:rPr>
              <a:t>• Hidden layers: learned intermediate representations.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232323"/>
                </a:solidFill>
                <a:latin typeface="Arial"/>
                <a:ea typeface="Arial"/>
                <a:cs typeface="Arial"/>
                <a:sym typeface="Arial"/>
              </a:rPr>
              <a:t>• Output layer: dimensionality and activation chosen for the prediction task.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232323"/>
                </a:solidFill>
                <a:latin typeface="Arial"/>
                <a:ea typeface="Arial"/>
                <a:cs typeface="Arial"/>
                <a:sym typeface="Arial"/>
              </a:rPr>
              <a:t>• Width = number of units in a layer; depth = number of successive learned layers.</a:t>
            </a:r>
            <a:endParaRPr/>
          </a:p>
        </p:txBody>
      </p:sp>
      <p:pic>
        <p:nvPicPr>
          <p:cNvPr id="282" name="Google Shape;282;h9fd51cbb4fe9101_0_5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76674" y="650424"/>
            <a:ext cx="4549424" cy="54735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h9fd51cbb4fe9101_0_536"/>
          <p:cNvSpPr txBox="1"/>
          <p:nvPr>
            <p:ph idx="12" type="sldNum"/>
          </p:nvPr>
        </p:nvSpPr>
        <p:spPr>
          <a:xfrm>
            <a:off x="11409097" y="6333120"/>
            <a:ext cx="731400" cy="524400"/>
          </a:xfrm>
          <a:prstGeom prst="rect">
            <a:avLst/>
          </a:prstGeom>
          <a:noFill/>
          <a:ln>
            <a:noFill/>
          </a:ln>
        </p:spPr>
        <p:txBody>
          <a:bodyPr anchorCtr="0" anchor="t" bIns="122025" lIns="122025" spcFirstLastPara="1" rIns="122025" wrap="square" tIns="1220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8" name="Google Shape;288;h9fd51cbb4fe9101_0_536"/>
          <p:cNvSpPr txBox="1"/>
          <p:nvPr/>
        </p:nvSpPr>
        <p:spPr>
          <a:xfrm>
            <a:off x="914400" y="2770632"/>
            <a:ext cx="10058400" cy="1246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en-US" sz="2500">
                <a:solidFill>
                  <a:srgbClr val="18A999"/>
                </a:solidFill>
              </a:rPr>
              <a:t>5</a:t>
            </a:r>
            <a:r>
              <a:rPr lang="en-US" sz="2500">
                <a:solidFill>
                  <a:srgbClr val="18A999"/>
                </a:solidFill>
              </a:rPr>
              <a:t>. Multilayer perceptron</a:t>
            </a:r>
            <a:endParaRPr sz="2500">
              <a:solidFill>
                <a:srgbClr val="18A999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t/>
            </a:r>
            <a:endParaRPr sz="2500">
              <a:solidFill>
                <a:srgbClr val="18A999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t/>
            </a:r>
            <a:endParaRPr sz="2500">
              <a:solidFill>
                <a:srgbClr val="18A999"/>
              </a:solidFill>
            </a:endParaRPr>
          </a:p>
        </p:txBody>
      </p:sp>
      <p:sp>
        <p:nvSpPr>
          <p:cNvPr id="289" name="Google Shape;289;h9fd51cbb4fe9101_0_536"/>
          <p:cNvSpPr txBox="1"/>
          <p:nvPr/>
        </p:nvSpPr>
        <p:spPr>
          <a:xfrm>
            <a:off x="914400" y="3264408"/>
            <a:ext cx="10058400" cy="8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>
                <a:solidFill>
                  <a:srgbClr val="007191"/>
                </a:solidFill>
              </a:rPr>
              <a:t>Dense layers + nonlinear activations + task-specific output.</a:t>
            </a:r>
            <a:endParaRPr sz="1600">
              <a:solidFill>
                <a:srgbClr val="00719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sz="1600">
              <a:solidFill>
                <a:srgbClr val="00719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sz="1600">
              <a:solidFill>
                <a:srgbClr val="007191"/>
              </a:solidFill>
            </a:endParaRPr>
          </a:p>
        </p:txBody>
      </p:sp>
      <p:pic>
        <p:nvPicPr>
          <p:cNvPr id="290" name="Google Shape;290;h9fd51cbb4fe9101_0_5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089326" y="1969124"/>
            <a:ext cx="5102649" cy="2867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h9fd51cbb4fe9101_0_526"/>
          <p:cNvSpPr txBox="1"/>
          <p:nvPr>
            <p:ph idx="12" type="sldNum"/>
          </p:nvPr>
        </p:nvSpPr>
        <p:spPr>
          <a:xfrm>
            <a:off x="11296417" y="6502680"/>
            <a:ext cx="731400" cy="52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2025" lIns="122025" spcFirstLastPara="1" rIns="122025" wrap="square" tIns="1220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r>
              <a:rPr lang="en-US"/>
              <a:t>/40</a:t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96" name="Google Shape;296;h9fd51cbb4fe9101_0_5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3625" y="1321275"/>
            <a:ext cx="10950748" cy="4855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h9fd51cbb4fe9101_0_530"/>
          <p:cNvSpPr txBox="1"/>
          <p:nvPr>
            <p:ph idx="12" type="sldNum"/>
          </p:nvPr>
        </p:nvSpPr>
        <p:spPr>
          <a:xfrm>
            <a:off x="11296417" y="6502680"/>
            <a:ext cx="731400" cy="52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2025" lIns="122025" spcFirstLastPara="1" rIns="122025" wrap="square" tIns="1220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r>
              <a:rPr lang="en-US"/>
              <a:t>/40</a:t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02" name="Google Shape;302;h9fd51cbb4fe9101_0_530"/>
          <p:cNvSpPr txBox="1"/>
          <p:nvPr/>
        </p:nvSpPr>
        <p:spPr>
          <a:xfrm>
            <a:off x="1353945" y="673585"/>
            <a:ext cx="107898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007094"/>
                </a:solidFill>
                <a:latin typeface="Arial"/>
                <a:ea typeface="Arial"/>
                <a:cs typeface="Arial"/>
                <a:sym typeface="Arial"/>
              </a:rPr>
              <a:t>Output layer depends on the task</a:t>
            </a:r>
            <a:endParaRPr/>
          </a:p>
        </p:txBody>
      </p:sp>
      <p:pic>
        <p:nvPicPr>
          <p:cNvPr id="303" name="Google Shape;303;h9fd51cbb4fe9101_0_5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05125" y="1263125"/>
            <a:ext cx="8560724" cy="5070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h9fd51cbb4fe9101_0_569"/>
          <p:cNvSpPr txBox="1"/>
          <p:nvPr>
            <p:ph idx="12" type="sldNum"/>
          </p:nvPr>
        </p:nvSpPr>
        <p:spPr>
          <a:xfrm>
            <a:off x="11409097" y="6333120"/>
            <a:ext cx="731400" cy="524400"/>
          </a:xfrm>
          <a:prstGeom prst="rect">
            <a:avLst/>
          </a:prstGeom>
          <a:noFill/>
          <a:ln>
            <a:noFill/>
          </a:ln>
        </p:spPr>
        <p:txBody>
          <a:bodyPr anchorCtr="0" anchor="t" bIns="122025" lIns="122025" spcFirstLastPara="1" rIns="122025" wrap="square" tIns="1220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09" name="Google Shape;309;h9fd51cbb4fe9101_0_569"/>
          <p:cNvSpPr txBox="1"/>
          <p:nvPr/>
        </p:nvSpPr>
        <p:spPr>
          <a:xfrm>
            <a:off x="914400" y="2770632"/>
            <a:ext cx="10058400" cy="16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en-US" sz="2500">
                <a:solidFill>
                  <a:srgbClr val="18A999"/>
                </a:solidFill>
              </a:rPr>
              <a:t>6. Loss functions</a:t>
            </a:r>
            <a:endParaRPr sz="2500">
              <a:solidFill>
                <a:srgbClr val="18A999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t/>
            </a:r>
            <a:endParaRPr sz="2500">
              <a:solidFill>
                <a:srgbClr val="18A999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t/>
            </a:r>
            <a:endParaRPr sz="2500">
              <a:solidFill>
                <a:srgbClr val="18A999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t/>
            </a:r>
            <a:endParaRPr sz="2500">
              <a:solidFill>
                <a:srgbClr val="18A999"/>
              </a:solidFill>
            </a:endParaRPr>
          </a:p>
        </p:txBody>
      </p:sp>
      <p:sp>
        <p:nvSpPr>
          <p:cNvPr id="310" name="Google Shape;310;h9fd51cbb4fe9101_0_569"/>
          <p:cNvSpPr txBox="1"/>
          <p:nvPr/>
        </p:nvSpPr>
        <p:spPr>
          <a:xfrm>
            <a:off x="914400" y="3264408"/>
            <a:ext cx="10058400" cy="10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sz="1600">
              <a:solidFill>
                <a:srgbClr val="00719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>
                <a:solidFill>
                  <a:srgbClr val="007191"/>
                </a:solidFill>
              </a:rPr>
              <a:t>The loss defines how we measure efficacy.</a:t>
            </a:r>
            <a:endParaRPr sz="1600">
              <a:solidFill>
                <a:srgbClr val="00719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sz="1600">
              <a:solidFill>
                <a:srgbClr val="00719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sz="1600">
              <a:solidFill>
                <a:srgbClr val="007191"/>
              </a:solidFill>
            </a:endParaRPr>
          </a:p>
        </p:txBody>
      </p:sp>
      <p:pic>
        <p:nvPicPr>
          <p:cNvPr id="311" name="Google Shape;311;h9fd51cbb4fe9101_0_56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21150" y="1856076"/>
            <a:ext cx="4570824" cy="30472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h9fd51cbb4fe9101_0_583"/>
          <p:cNvSpPr txBox="1"/>
          <p:nvPr>
            <p:ph idx="12" type="sldNum"/>
          </p:nvPr>
        </p:nvSpPr>
        <p:spPr>
          <a:xfrm>
            <a:off x="11296417" y="6502680"/>
            <a:ext cx="731400" cy="52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2025" lIns="122025" spcFirstLastPara="1" rIns="122025" wrap="square" tIns="1220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r>
              <a:rPr lang="en-US"/>
              <a:t>/40</a:t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17" name="Google Shape;317;h9fd51cbb4fe9101_0_583"/>
          <p:cNvPicPr preferRelativeResize="0"/>
          <p:nvPr/>
        </p:nvPicPr>
        <p:blipFill rotWithShape="1">
          <a:blip r:embed="rId3">
            <a:alphaModFix/>
          </a:blip>
          <a:srcRect b="0" l="0" r="0" t="9033"/>
          <a:stretch/>
        </p:blipFill>
        <p:spPr>
          <a:xfrm>
            <a:off x="0" y="0"/>
            <a:ext cx="5935200" cy="679175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h9fd51cbb4fe9101_0_843"/>
          <p:cNvSpPr txBox="1"/>
          <p:nvPr>
            <p:ph idx="12" type="sldNum"/>
          </p:nvPr>
        </p:nvSpPr>
        <p:spPr>
          <a:xfrm>
            <a:off x="11296417" y="6502680"/>
            <a:ext cx="731400" cy="52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2025" lIns="122025" spcFirstLastPara="1" rIns="122025" wrap="square" tIns="1220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r>
              <a:rPr lang="en-US"/>
              <a:t>/40</a:t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23" name="Google Shape;323;h9fd51cbb4fe9101_0_843"/>
          <p:cNvSpPr txBox="1"/>
          <p:nvPr/>
        </p:nvSpPr>
        <p:spPr>
          <a:xfrm>
            <a:off x="1614245" y="616985"/>
            <a:ext cx="107898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007094"/>
                </a:solidFill>
              </a:rPr>
              <a:t>You can build your own(</a:t>
            </a:r>
            <a:r>
              <a:rPr b="1" lang="en-US" sz="2800">
                <a:solidFill>
                  <a:srgbClr val="007094"/>
                </a:solidFill>
              </a:rPr>
              <a:t>task specific</a:t>
            </a:r>
            <a:r>
              <a:rPr b="1" lang="en-US" sz="2800">
                <a:solidFill>
                  <a:srgbClr val="007094"/>
                </a:solidFill>
              </a:rPr>
              <a:t>) loss</a:t>
            </a:r>
            <a:endParaRPr/>
          </a:p>
        </p:txBody>
      </p:sp>
      <p:sp>
        <p:nvSpPr>
          <p:cNvPr id="324" name="Google Shape;324;h9fd51cbb4fe9101_0_843"/>
          <p:cNvSpPr txBox="1"/>
          <p:nvPr/>
        </p:nvSpPr>
        <p:spPr>
          <a:xfrm>
            <a:off x="1614245" y="616985"/>
            <a:ext cx="107898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pc="0" sz="2800" u="none" cap="none" strike="noStrike">
                <a:solidFill>
                  <a:srgbClr val="007094"/>
                </a:solidFill>
                <a:latin typeface="Arial"/>
                <a:ea typeface="Arial"/>
                <a:cs typeface="Arial"/>
                <a:sym typeface="Arial"/>
              </a:rPr>
              <a:t>You can build your own(task specific) loss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5" name="Google Shape;325;h9fd51cbb4fe9101_0_843"/>
          <p:cNvSpPr/>
          <p:nvPr/>
        </p:nvSpPr>
        <p:spPr>
          <a:xfrm>
            <a:off x="822960" y="2331720"/>
            <a:ext cx="2560200" cy="960000"/>
          </a:xfrm>
          <a:prstGeom prst="roundRect">
            <a:avLst>
              <a:gd fmla="val 16667" name="adj"/>
            </a:avLst>
          </a:prstGeom>
          <a:solidFill>
            <a:srgbClr val="F5F5F5"/>
          </a:solidFill>
          <a:ln cap="flat" cmpd="sng" w="9525">
            <a:solidFill>
              <a:srgbClr val="00709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pc="0" sz="1700" u="none" cap="none" strike="noStrike">
                <a:solidFill>
                  <a:srgbClr val="282828"/>
                </a:solidFill>
                <a:latin typeface="Arial"/>
                <a:ea typeface="Arial"/>
                <a:cs typeface="Arial"/>
                <a:sym typeface="Arial"/>
              </a:rPr>
              <a:t>Standard loss</a:t>
            </a:r>
            <a:br>
              <a:rPr b="0" i="0" lang="en-US" spc="0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pc="0" sz="1700" u="none" cap="none" strike="noStrike">
                <a:solidFill>
                  <a:srgbClr val="282828"/>
                </a:solidFill>
                <a:latin typeface="Arial"/>
                <a:ea typeface="Arial"/>
                <a:cs typeface="Arial"/>
                <a:sym typeface="Arial"/>
              </a:rPr>
              <a:t>MSE / BCE / CE</a:t>
            </a:r>
            <a:endParaRPr/>
          </a:p>
        </p:txBody>
      </p:sp>
      <p:sp>
        <p:nvSpPr>
          <p:cNvPr id="326" name="Google Shape;326;h9fd51cbb4fe9101_0_843"/>
          <p:cNvSpPr txBox="1"/>
          <p:nvPr/>
        </p:nvSpPr>
        <p:spPr>
          <a:xfrm>
            <a:off x="3611880" y="2560320"/>
            <a:ext cx="4572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pc="0" sz="2800" u="none" cap="none" strike="noStrike">
                <a:solidFill>
                  <a:srgbClr val="007094"/>
                </a:solidFill>
                <a:latin typeface="Arial"/>
                <a:ea typeface="Arial"/>
                <a:cs typeface="Arial"/>
                <a:sym typeface="Arial"/>
              </a:rPr>
              <a:t>+</a:t>
            </a:r>
            <a:endParaRPr/>
          </a:p>
        </p:txBody>
      </p:sp>
      <p:sp>
        <p:nvSpPr>
          <p:cNvPr id="327" name="Google Shape;327;h9fd51cbb4fe9101_0_843"/>
          <p:cNvSpPr/>
          <p:nvPr/>
        </p:nvSpPr>
        <p:spPr>
          <a:xfrm>
            <a:off x="4160520" y="2331720"/>
            <a:ext cx="2743200" cy="960000"/>
          </a:xfrm>
          <a:prstGeom prst="roundRect">
            <a:avLst>
              <a:gd fmla="val 16667" name="adj"/>
            </a:avLst>
          </a:prstGeom>
          <a:solidFill>
            <a:srgbClr val="FFDA6E"/>
          </a:solidFill>
          <a:ln cap="flat" cmpd="sng" w="9525">
            <a:solidFill>
              <a:srgbClr val="00709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pc="0" sz="1700" u="none" cap="none" strike="noStrike">
                <a:solidFill>
                  <a:srgbClr val="282828"/>
                </a:solidFill>
                <a:latin typeface="Arial"/>
                <a:ea typeface="Arial"/>
                <a:cs typeface="Arial"/>
                <a:sym typeface="Arial"/>
              </a:rPr>
              <a:t>Domain penalty</a:t>
            </a:r>
            <a:br>
              <a:rPr b="0" i="0" lang="en-US" spc="0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pc="0" sz="1700" u="none" cap="none" strike="noStrike">
                <a:solidFill>
                  <a:srgbClr val="282828"/>
                </a:solidFill>
                <a:latin typeface="Arial"/>
                <a:ea typeface="Arial"/>
                <a:cs typeface="Arial"/>
                <a:sym typeface="Arial"/>
              </a:rPr>
              <a:t>λ · R(ŷ, x)</a:t>
            </a:r>
            <a:endParaRPr/>
          </a:p>
        </p:txBody>
      </p:sp>
      <p:sp>
        <p:nvSpPr>
          <p:cNvPr id="328" name="Google Shape;328;h9fd51cbb4fe9101_0_843"/>
          <p:cNvSpPr txBox="1"/>
          <p:nvPr/>
        </p:nvSpPr>
        <p:spPr>
          <a:xfrm>
            <a:off x="7132320" y="2560320"/>
            <a:ext cx="4572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pc="0" sz="2800" u="none" cap="none" strike="noStrike">
                <a:solidFill>
                  <a:srgbClr val="007094"/>
                </a:solidFill>
                <a:latin typeface="Arial"/>
                <a:ea typeface="Arial"/>
                <a:cs typeface="Arial"/>
                <a:sym typeface="Arial"/>
              </a:rPr>
              <a:t>=</a:t>
            </a:r>
            <a:endParaRPr/>
          </a:p>
        </p:txBody>
      </p:sp>
      <p:sp>
        <p:nvSpPr>
          <p:cNvPr id="329" name="Google Shape;329;h9fd51cbb4fe9101_0_843"/>
          <p:cNvSpPr/>
          <p:nvPr/>
        </p:nvSpPr>
        <p:spPr>
          <a:xfrm>
            <a:off x="7680960" y="2331720"/>
            <a:ext cx="3474600" cy="960000"/>
          </a:xfrm>
          <a:prstGeom prst="roundRect">
            <a:avLst>
              <a:gd fmla="val 16667" name="adj"/>
            </a:avLst>
          </a:prstGeom>
          <a:solidFill>
            <a:srgbClr val="F5F5F5"/>
          </a:solidFill>
          <a:ln cap="flat" cmpd="sng" w="9525">
            <a:solidFill>
              <a:srgbClr val="00709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pc="0" sz="1700" u="none" cap="none" strike="noStrike">
                <a:solidFill>
                  <a:srgbClr val="282828"/>
                </a:solidFill>
                <a:latin typeface="Arial"/>
                <a:ea typeface="Arial"/>
                <a:cs typeface="Arial"/>
                <a:sym typeface="Arial"/>
              </a:rPr>
              <a:t>Task-specific objective</a:t>
            </a:r>
            <a:endParaRPr/>
          </a:p>
        </p:txBody>
      </p:sp>
      <p:sp>
        <p:nvSpPr>
          <p:cNvPr id="330" name="Google Shape;330;h9fd51cbb4fe9101_0_843"/>
          <p:cNvSpPr txBox="1"/>
          <p:nvPr/>
        </p:nvSpPr>
        <p:spPr>
          <a:xfrm>
            <a:off x="1005840" y="3703320"/>
            <a:ext cx="5303400" cy="206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pc="0" sz="1600" u="none" cap="none" strike="noStrike">
                <a:solidFill>
                  <a:srgbClr val="282828"/>
                </a:solidFill>
                <a:latin typeface="Arial"/>
                <a:ea typeface="Arial"/>
                <a:cs typeface="Arial"/>
                <a:sym typeface="Arial"/>
              </a:rPr>
              <a:t>Biology-specific examples:</a:t>
            </a:r>
            <a:br>
              <a:rPr b="0" i="0" lang="en-US" spc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pc="0" sz="1600" u="none" cap="none" strike="noStrike">
                <a:solidFill>
                  <a:srgbClr val="282828"/>
                </a:solidFill>
                <a:latin typeface="Arial"/>
                <a:ea typeface="Arial"/>
                <a:cs typeface="Arial"/>
                <a:sym typeface="Arial"/>
              </a:rPr>
              <a:t>• penalize biologically impossible negative concentrations;</a:t>
            </a:r>
            <a:br>
              <a:rPr b="0" i="0" lang="en-US" spc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pc="0" sz="1600" u="none" cap="none" strike="noStrike">
                <a:solidFill>
                  <a:srgbClr val="282828"/>
                </a:solidFill>
                <a:latin typeface="Arial"/>
                <a:ea typeface="Arial"/>
                <a:cs typeface="Arial"/>
                <a:sym typeface="Arial"/>
              </a:rPr>
              <a:t>• weight rare disease classes more strongly;</a:t>
            </a:r>
            <a:br>
              <a:rPr b="0" i="0" lang="en-US" spc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pc="0" sz="1600" u="none" cap="none" strike="noStrike">
                <a:solidFill>
                  <a:srgbClr val="282828"/>
                </a:solidFill>
                <a:latin typeface="Arial"/>
                <a:ea typeface="Arial"/>
                <a:cs typeface="Arial"/>
                <a:sym typeface="Arial"/>
              </a:rPr>
              <a:t>• combine prediction error with pathway/structure constraints;</a:t>
            </a:r>
            <a:br>
              <a:rPr b="0" i="0" lang="en-US" spc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pc="0" sz="1600" u="none" cap="none" strike="noStrike">
                <a:solidFill>
                  <a:srgbClr val="282828"/>
                </a:solidFill>
                <a:latin typeface="Arial"/>
                <a:ea typeface="Arial"/>
                <a:cs typeface="Arial"/>
                <a:sym typeface="Arial"/>
              </a:rPr>
              <a:t>• penalize violations of monotonic dose–response behavior.</a:t>
            </a:r>
            <a:endParaRPr/>
          </a:p>
        </p:txBody>
      </p:sp>
      <p:sp>
        <p:nvSpPr>
          <p:cNvPr id="331" name="Google Shape;331;h9fd51cbb4fe9101_0_843"/>
          <p:cNvSpPr txBox="1"/>
          <p:nvPr/>
        </p:nvSpPr>
        <p:spPr>
          <a:xfrm>
            <a:off x="6446520" y="3703320"/>
            <a:ext cx="4755000" cy="15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pc="0" sz="1600" u="none" cap="none" strike="noStrike">
                <a:solidFill>
                  <a:srgbClr val="282828"/>
                </a:solidFill>
                <a:latin typeface="Arial"/>
                <a:ea typeface="Arial"/>
                <a:cs typeface="Arial"/>
                <a:sym typeface="Arial"/>
              </a:rPr>
              <a:t>Requirements:</a:t>
            </a:r>
            <a:br>
              <a:rPr b="0" i="0" lang="en-US" spc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pc="0" sz="1600" u="none" cap="none" strike="noStrike">
                <a:solidFill>
                  <a:srgbClr val="282828"/>
                </a:solidFill>
                <a:latin typeface="Arial"/>
                <a:ea typeface="Arial"/>
                <a:cs typeface="Arial"/>
                <a:sym typeface="Arial"/>
              </a:rPr>
              <a:t>• differentiable or sub-differentiable;</a:t>
            </a:r>
            <a:br>
              <a:rPr b="0" i="0" lang="en-US" spc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pc="0" sz="1600" u="none" cap="none" strike="noStrike">
                <a:solidFill>
                  <a:srgbClr val="282828"/>
                </a:solidFill>
                <a:latin typeface="Arial"/>
                <a:ea typeface="Arial"/>
                <a:cs typeface="Arial"/>
                <a:sym typeface="Arial"/>
              </a:rPr>
              <a:t>• numerically stable;</a:t>
            </a:r>
            <a:br>
              <a:rPr b="0" i="0" lang="en-US" spc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pc="0" sz="1600" u="none" cap="none" strike="noStrike">
                <a:solidFill>
                  <a:srgbClr val="282828"/>
                </a:solidFill>
                <a:latin typeface="Arial"/>
                <a:ea typeface="Arial"/>
                <a:cs typeface="Arial"/>
                <a:sym typeface="Arial"/>
              </a:rPr>
              <a:t>• correctly scaled relative to the main objective;</a:t>
            </a:r>
            <a:br>
              <a:rPr b="0" i="0" lang="en-US" spc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pc="0" sz="1600" u="none" cap="none" strike="noStrike">
                <a:solidFill>
                  <a:srgbClr val="282828"/>
                </a:solidFill>
                <a:latin typeface="Arial"/>
                <a:ea typeface="Arial"/>
                <a:cs typeface="Arial"/>
                <a:sym typeface="Arial"/>
              </a:rPr>
              <a:t>• validated against the scientific goal, not only training loss.</a:t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h9fd51cbb4fe9101_0_593"/>
          <p:cNvSpPr txBox="1"/>
          <p:nvPr>
            <p:ph idx="12" type="sldNum"/>
          </p:nvPr>
        </p:nvSpPr>
        <p:spPr>
          <a:xfrm>
            <a:off x="11409097" y="6333120"/>
            <a:ext cx="731400" cy="524400"/>
          </a:xfrm>
          <a:prstGeom prst="rect">
            <a:avLst/>
          </a:prstGeom>
          <a:noFill/>
          <a:ln>
            <a:noFill/>
          </a:ln>
        </p:spPr>
        <p:txBody>
          <a:bodyPr anchorCtr="0" anchor="t" bIns="122025" lIns="122025" spcFirstLastPara="1" rIns="122025" wrap="square" tIns="1220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37" name="Google Shape;337;h9fd51cbb4fe9101_0_593"/>
          <p:cNvSpPr txBox="1"/>
          <p:nvPr/>
        </p:nvSpPr>
        <p:spPr>
          <a:xfrm>
            <a:off x="914400" y="2770632"/>
            <a:ext cx="10058400" cy="201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en-US" sz="2500">
                <a:solidFill>
                  <a:srgbClr val="18A999"/>
                </a:solidFill>
              </a:rPr>
              <a:t>7. How a neural network learns</a:t>
            </a:r>
            <a:endParaRPr sz="2500">
              <a:solidFill>
                <a:srgbClr val="18A999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t/>
            </a:r>
            <a:endParaRPr sz="2500">
              <a:solidFill>
                <a:srgbClr val="18A999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t/>
            </a:r>
            <a:endParaRPr sz="2500">
              <a:solidFill>
                <a:srgbClr val="18A999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t/>
            </a:r>
            <a:endParaRPr sz="2500">
              <a:solidFill>
                <a:srgbClr val="18A999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t/>
            </a:r>
            <a:endParaRPr sz="2500">
              <a:solidFill>
                <a:srgbClr val="18A999"/>
              </a:solidFill>
            </a:endParaRPr>
          </a:p>
        </p:txBody>
      </p:sp>
      <p:sp>
        <p:nvSpPr>
          <p:cNvPr id="338" name="Google Shape;338;h9fd51cbb4fe9101_0_593"/>
          <p:cNvSpPr txBox="1"/>
          <p:nvPr/>
        </p:nvSpPr>
        <p:spPr>
          <a:xfrm>
            <a:off x="914400" y="3264408"/>
            <a:ext cx="10058400" cy="1323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sz="1600">
              <a:solidFill>
                <a:srgbClr val="00719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sz="1600">
              <a:solidFill>
                <a:srgbClr val="00719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>
                <a:solidFill>
                  <a:srgbClr val="007191"/>
                </a:solidFill>
              </a:rPr>
              <a:t>Forward pass → loss → gradients → parameter update.</a:t>
            </a:r>
            <a:endParaRPr sz="1600">
              <a:solidFill>
                <a:srgbClr val="00719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sz="1600">
              <a:solidFill>
                <a:srgbClr val="00719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sz="1600">
              <a:solidFill>
                <a:srgbClr val="007191"/>
              </a:solidFill>
            </a:endParaRPr>
          </a:p>
        </p:txBody>
      </p:sp>
      <p:pic>
        <p:nvPicPr>
          <p:cNvPr id="339" name="Google Shape;339;h9fd51cbb4fe9101_0_59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143996" y="1284820"/>
            <a:ext cx="3047976" cy="4117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h9fd51cbb4fe9101_0_599"/>
          <p:cNvSpPr txBox="1"/>
          <p:nvPr>
            <p:ph idx="12" type="sldNum"/>
          </p:nvPr>
        </p:nvSpPr>
        <p:spPr>
          <a:xfrm>
            <a:off x="11296417" y="6502680"/>
            <a:ext cx="731400" cy="52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2025" lIns="122025" spcFirstLastPara="1" rIns="122025" wrap="square" tIns="1220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r>
              <a:rPr lang="en-US"/>
              <a:t>/40</a:t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45" name="Google Shape;345;h9fd51cbb4fe9101_0_599"/>
          <p:cNvSpPr txBox="1"/>
          <p:nvPr/>
        </p:nvSpPr>
        <p:spPr>
          <a:xfrm>
            <a:off x="1614245" y="616985"/>
            <a:ext cx="107898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007094"/>
                </a:solidFill>
                <a:latin typeface="Arial"/>
                <a:ea typeface="Arial"/>
                <a:cs typeface="Arial"/>
                <a:sym typeface="Arial"/>
              </a:rPr>
              <a:t>The training loop</a:t>
            </a:r>
            <a:endParaRPr/>
          </a:p>
        </p:txBody>
      </p:sp>
      <p:sp>
        <p:nvSpPr>
          <p:cNvPr id="346" name="Google Shape;346;h9fd51cbb4fe9101_0_599"/>
          <p:cNvSpPr txBox="1"/>
          <p:nvPr/>
        </p:nvSpPr>
        <p:spPr>
          <a:xfrm>
            <a:off x="3155293" y="6004400"/>
            <a:ext cx="6400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007094"/>
                </a:solidFill>
                <a:latin typeface="Arial"/>
                <a:ea typeface="Arial"/>
                <a:cs typeface="Arial"/>
                <a:sym typeface="Arial"/>
              </a:rPr>
              <a:t>repeat for many mini-batches and epochs</a:t>
            </a:r>
            <a:endParaRPr/>
          </a:p>
        </p:txBody>
      </p:sp>
      <p:pic>
        <p:nvPicPr>
          <p:cNvPr id="347" name="Google Shape;347;h9fd51cbb4fe9101_0_59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28675" y="1140174"/>
            <a:ext cx="8254051" cy="43804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h9fd51cbb4fe9101_0_605"/>
          <p:cNvSpPr txBox="1"/>
          <p:nvPr>
            <p:ph idx="12" type="sldNum"/>
          </p:nvPr>
        </p:nvSpPr>
        <p:spPr>
          <a:xfrm>
            <a:off x="11296417" y="6502680"/>
            <a:ext cx="731400" cy="52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2025" lIns="122025" spcFirstLastPara="1" rIns="122025" wrap="square" tIns="1220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r>
              <a:rPr lang="en-US"/>
              <a:t>/40</a:t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53" name="Google Shape;353;h9fd51cbb4fe9101_0_605"/>
          <p:cNvSpPr txBox="1"/>
          <p:nvPr/>
        </p:nvSpPr>
        <p:spPr>
          <a:xfrm>
            <a:off x="1467095" y="628310"/>
            <a:ext cx="107898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007094"/>
                </a:solidFill>
                <a:latin typeface="Arial"/>
                <a:ea typeface="Arial"/>
                <a:cs typeface="Arial"/>
                <a:sym typeface="Arial"/>
              </a:rPr>
              <a:t>Backpropagation </a:t>
            </a:r>
            <a:endParaRPr/>
          </a:p>
        </p:txBody>
      </p:sp>
      <p:sp>
        <p:nvSpPr>
          <p:cNvPr id="354" name="Google Shape;354;h9fd51cbb4fe9101_0_605"/>
          <p:cNvSpPr txBox="1"/>
          <p:nvPr/>
        </p:nvSpPr>
        <p:spPr>
          <a:xfrm>
            <a:off x="822960" y="1508760"/>
            <a:ext cx="10515600" cy="183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232323"/>
                </a:solidFill>
                <a:latin typeface="Arial"/>
                <a:ea typeface="Arial"/>
                <a:cs typeface="Arial"/>
                <a:sym typeface="Arial"/>
              </a:rPr>
              <a:t>• For a computation x → z → a → L, each operation contributes a local derivative.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232323"/>
                </a:solidFill>
                <a:latin typeface="Arial"/>
                <a:ea typeface="Arial"/>
                <a:cs typeface="Arial"/>
                <a:sym typeface="Arial"/>
              </a:rPr>
              <a:t>• The gradient of the loss with respect to a parameter is obtained by chaining derivatives backward.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232323"/>
                </a:solidFill>
                <a:latin typeface="Arial"/>
                <a:ea typeface="Arial"/>
                <a:cs typeface="Arial"/>
                <a:sym typeface="Arial"/>
              </a:rPr>
              <a:t>• Automatic differentiation frameworks compute these gradients for large computational graphs.</a:t>
            </a:r>
            <a:endParaRPr/>
          </a:p>
        </p:txBody>
      </p:sp>
      <p:pic>
        <p:nvPicPr>
          <p:cNvPr id="355" name="Google Shape;355;h9fd51cbb4fe9101_0_60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98500" y="3295135"/>
            <a:ext cx="6415080" cy="32075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h9fd51cbb4fe9101_0_635"/>
          <p:cNvSpPr txBox="1"/>
          <p:nvPr>
            <p:ph idx="12" type="sldNum"/>
          </p:nvPr>
        </p:nvSpPr>
        <p:spPr>
          <a:xfrm>
            <a:off x="11409097" y="6333120"/>
            <a:ext cx="731400" cy="524400"/>
          </a:xfrm>
          <a:prstGeom prst="rect">
            <a:avLst/>
          </a:prstGeom>
          <a:noFill/>
          <a:ln>
            <a:noFill/>
          </a:ln>
        </p:spPr>
        <p:txBody>
          <a:bodyPr anchorCtr="0" anchor="t" bIns="122025" lIns="122025" spcFirstLastPara="1" rIns="122025" wrap="square" tIns="1220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61" name="Google Shape;361;h9fd51cbb4fe9101_0_635"/>
          <p:cNvSpPr txBox="1"/>
          <p:nvPr/>
        </p:nvSpPr>
        <p:spPr>
          <a:xfrm>
            <a:off x="914400" y="2770632"/>
            <a:ext cx="10058400" cy="240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en-US" sz="2500">
                <a:solidFill>
                  <a:srgbClr val="18A999"/>
                </a:solidFill>
              </a:rPr>
              <a:t>9. Optimization</a:t>
            </a:r>
            <a:endParaRPr sz="2500">
              <a:solidFill>
                <a:srgbClr val="18A999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t/>
            </a:r>
            <a:endParaRPr sz="2500">
              <a:solidFill>
                <a:srgbClr val="18A999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t/>
            </a:r>
            <a:endParaRPr sz="2500">
              <a:solidFill>
                <a:srgbClr val="18A999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t/>
            </a:r>
            <a:endParaRPr sz="2500">
              <a:solidFill>
                <a:srgbClr val="18A999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t/>
            </a:r>
            <a:endParaRPr sz="2500">
              <a:solidFill>
                <a:srgbClr val="18A999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t/>
            </a:r>
            <a:endParaRPr sz="2500">
              <a:solidFill>
                <a:srgbClr val="18A999"/>
              </a:solidFill>
            </a:endParaRPr>
          </a:p>
        </p:txBody>
      </p:sp>
      <p:sp>
        <p:nvSpPr>
          <p:cNvPr id="362" name="Google Shape;362;h9fd51cbb4fe9101_0_635"/>
          <p:cNvSpPr txBox="1"/>
          <p:nvPr/>
        </p:nvSpPr>
        <p:spPr>
          <a:xfrm>
            <a:off x="914400" y="3264408"/>
            <a:ext cx="10058400" cy="10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sz="1600">
              <a:solidFill>
                <a:srgbClr val="00719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>
                <a:solidFill>
                  <a:srgbClr val="007191"/>
                </a:solidFill>
              </a:rPr>
              <a:t>Gradients tell us a direction; the optimizer decides how to move.</a:t>
            </a:r>
            <a:endParaRPr sz="1600">
              <a:solidFill>
                <a:srgbClr val="00719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sz="1600">
              <a:solidFill>
                <a:srgbClr val="00719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sz="1600">
              <a:solidFill>
                <a:srgbClr val="007191"/>
              </a:solidFill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h9fd51cbb4fe9101_0_643"/>
          <p:cNvSpPr txBox="1"/>
          <p:nvPr>
            <p:ph idx="12" type="sldNum"/>
          </p:nvPr>
        </p:nvSpPr>
        <p:spPr>
          <a:xfrm>
            <a:off x="11296417" y="6502680"/>
            <a:ext cx="731400" cy="52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2025" lIns="122025" spcFirstLastPara="1" rIns="122025" wrap="square" tIns="1220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r>
              <a:rPr lang="en-US"/>
              <a:t>/40</a:t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68" name="Google Shape;368;h9fd51cbb4fe9101_0_643"/>
          <p:cNvSpPr txBox="1"/>
          <p:nvPr/>
        </p:nvSpPr>
        <p:spPr>
          <a:xfrm>
            <a:off x="1339870" y="662260"/>
            <a:ext cx="107898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007094"/>
                </a:solidFill>
                <a:latin typeface="Arial"/>
                <a:ea typeface="Arial"/>
                <a:cs typeface="Arial"/>
                <a:sym typeface="Arial"/>
              </a:rPr>
              <a:t>Learning rate changes training behavior</a:t>
            </a:r>
            <a:endParaRPr/>
          </a:p>
        </p:txBody>
      </p:sp>
      <p:pic>
        <p:nvPicPr>
          <p:cNvPr descr="learning_rate.png" id="369" name="Google Shape;369;h9fd51cbb4fe9101_0_6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4400" y="1600200"/>
            <a:ext cx="6766559" cy="4001143"/>
          </a:xfrm>
          <a:prstGeom prst="rect">
            <a:avLst/>
          </a:prstGeom>
          <a:noFill/>
          <a:ln>
            <a:noFill/>
          </a:ln>
        </p:spPr>
      </p:pic>
      <p:sp>
        <p:nvSpPr>
          <p:cNvPr id="370" name="Google Shape;370;h9fd51cbb4fe9101_0_643"/>
          <p:cNvSpPr txBox="1"/>
          <p:nvPr/>
        </p:nvSpPr>
        <p:spPr>
          <a:xfrm>
            <a:off x="7772400" y="1828800"/>
            <a:ext cx="3383400" cy="237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232323"/>
                </a:solidFill>
                <a:latin typeface="Arial"/>
                <a:ea typeface="Arial"/>
                <a:cs typeface="Arial"/>
                <a:sym typeface="Arial"/>
              </a:rPr>
              <a:t>• Very small learning rate: stable but inefficient.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232323"/>
                </a:solidFill>
                <a:latin typeface="Arial"/>
                <a:ea typeface="Arial"/>
                <a:cs typeface="Arial"/>
                <a:sym typeface="Arial"/>
              </a:rPr>
              <a:t>• Reasonable learning rate: rapid loss reduction.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232323"/>
                </a:solidFill>
                <a:latin typeface="Arial"/>
                <a:ea typeface="Arial"/>
                <a:cs typeface="Arial"/>
                <a:sym typeface="Arial"/>
              </a:rPr>
              <a:t>• Too large: unstable updates and possible divergence.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232323"/>
                </a:solidFill>
                <a:latin typeface="Arial"/>
                <a:ea typeface="Arial"/>
                <a:cs typeface="Arial"/>
                <a:sym typeface="Arial"/>
              </a:rPr>
              <a:t>• Learning-rate schedules can reduce η during training.</a:t>
            </a:r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h9fd51cbb4fe9101_0_649"/>
          <p:cNvSpPr txBox="1"/>
          <p:nvPr>
            <p:ph idx="12" type="sldNum"/>
          </p:nvPr>
        </p:nvSpPr>
        <p:spPr>
          <a:xfrm>
            <a:off x="11296417" y="6502680"/>
            <a:ext cx="731400" cy="52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2025" lIns="122025" spcFirstLastPara="1" rIns="122025" wrap="square" tIns="1220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r>
              <a:rPr lang="en-US"/>
              <a:t>/40</a:t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76" name="Google Shape;376;h9fd51cbb4fe9101_0_649"/>
          <p:cNvSpPr txBox="1"/>
          <p:nvPr/>
        </p:nvSpPr>
        <p:spPr>
          <a:xfrm>
            <a:off x="901270" y="933885"/>
            <a:ext cx="107898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007094"/>
                </a:solidFill>
                <a:latin typeface="Arial"/>
                <a:ea typeface="Arial"/>
                <a:cs typeface="Arial"/>
                <a:sym typeface="Arial"/>
              </a:rPr>
              <a:t>Batch, iteration and epoch</a:t>
            </a:r>
            <a:endParaRPr/>
          </a:p>
        </p:txBody>
      </p:sp>
      <p:sp>
        <p:nvSpPr>
          <p:cNvPr id="377" name="Google Shape;377;h9fd51cbb4fe9101_0_649"/>
          <p:cNvSpPr txBox="1"/>
          <p:nvPr/>
        </p:nvSpPr>
        <p:spPr>
          <a:xfrm>
            <a:off x="822960" y="1508760"/>
            <a:ext cx="10515600" cy="16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232323"/>
                </a:solidFill>
                <a:latin typeface="Arial"/>
                <a:ea typeface="Arial"/>
                <a:cs typeface="Arial"/>
                <a:sym typeface="Arial"/>
              </a:rPr>
              <a:t>• Batch: subset of samples used for one gradient update.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232323"/>
                </a:solidFill>
                <a:latin typeface="Arial"/>
                <a:ea typeface="Arial"/>
                <a:cs typeface="Arial"/>
                <a:sym typeface="Arial"/>
              </a:rPr>
              <a:t>• Iteration / optimization step: one forward + backward + update cycle.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232323"/>
                </a:solidFill>
                <a:latin typeface="Arial"/>
                <a:ea typeface="Arial"/>
                <a:cs typeface="Arial"/>
                <a:sym typeface="Arial"/>
              </a:rPr>
              <a:t>• Epoch: one complete pass through the training dataset.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232323"/>
                </a:solidFill>
                <a:latin typeface="Arial"/>
                <a:ea typeface="Arial"/>
                <a:cs typeface="Arial"/>
                <a:sym typeface="Arial"/>
              </a:rPr>
              <a:t>• Example: 1000 samples with batch_size=100 → about 10 optimization steps per epoch.</a:t>
            </a:r>
            <a:endParaRPr/>
          </a:p>
        </p:txBody>
      </p:sp>
      <p:pic>
        <p:nvPicPr>
          <p:cNvPr id="378" name="Google Shape;378;h9fd51cbb4fe9101_0_649"/>
          <p:cNvPicPr preferRelativeResize="0"/>
          <p:nvPr/>
        </p:nvPicPr>
        <p:blipFill rotWithShape="1">
          <a:blip r:embed="rId3">
            <a:alphaModFix/>
          </a:blip>
          <a:srcRect b="12779" l="0" r="0" t="17584"/>
          <a:stretch/>
        </p:blipFill>
        <p:spPr>
          <a:xfrm>
            <a:off x="2098900" y="3140450"/>
            <a:ext cx="7974359" cy="33622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h9fd51cbb4fe9101_0_658"/>
          <p:cNvSpPr txBox="1"/>
          <p:nvPr>
            <p:ph idx="12" type="sldNum"/>
          </p:nvPr>
        </p:nvSpPr>
        <p:spPr>
          <a:xfrm>
            <a:off x="11296417" y="6502680"/>
            <a:ext cx="731400" cy="52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2025" lIns="122025" spcFirstLastPara="1" rIns="122025" wrap="square" tIns="1220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r>
              <a:rPr lang="en-US"/>
              <a:t>/40</a:t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84" name="Google Shape;384;h9fd51cbb4fe9101_0_658"/>
          <p:cNvSpPr txBox="1"/>
          <p:nvPr/>
        </p:nvSpPr>
        <p:spPr>
          <a:xfrm>
            <a:off x="1568970" y="639635"/>
            <a:ext cx="107898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007094"/>
                </a:solidFill>
                <a:latin typeface="Arial"/>
                <a:ea typeface="Arial"/>
                <a:cs typeface="Arial"/>
                <a:sym typeface="Arial"/>
              </a:rPr>
              <a:t>SGD, momentum and Adam</a:t>
            </a:r>
            <a:endParaRPr/>
          </a:p>
        </p:txBody>
      </p:sp>
      <p:sp>
        <p:nvSpPr>
          <p:cNvPr id="385" name="Google Shape;385;h9fd51cbb4fe9101_0_658"/>
          <p:cNvSpPr txBox="1"/>
          <p:nvPr/>
        </p:nvSpPr>
        <p:spPr>
          <a:xfrm>
            <a:off x="822957" y="1508750"/>
            <a:ext cx="2651400" cy="5233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232323"/>
                </a:solidFill>
                <a:latin typeface="Arial"/>
                <a:ea typeface="Arial"/>
                <a:cs typeface="Arial"/>
                <a:sym typeface="Arial"/>
              </a:rPr>
              <a:t>• SGD uses the current mini-batch gradient directly.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232323"/>
                </a:solidFill>
                <a:latin typeface="Arial"/>
                <a:ea typeface="Arial"/>
                <a:cs typeface="Arial"/>
                <a:sym typeface="Arial"/>
              </a:rPr>
              <a:t>• Momentum accumulates direction across steps and can accelerate movement through shallow valleys.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232323"/>
                </a:solidFill>
                <a:latin typeface="Arial"/>
                <a:ea typeface="Arial"/>
                <a:cs typeface="Arial"/>
                <a:sym typeface="Arial"/>
              </a:rPr>
              <a:t>• Adam keeps adaptive running estimates of gradient moments and is a common practical default.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86" name="Google Shape;386;h9fd51cbb4fe9101_0_65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97400" y="1394276"/>
            <a:ext cx="5108400" cy="5108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0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h9fd51cbb4fe9101_0_674"/>
          <p:cNvSpPr txBox="1"/>
          <p:nvPr>
            <p:ph idx="12" type="sldNum"/>
          </p:nvPr>
        </p:nvSpPr>
        <p:spPr>
          <a:xfrm>
            <a:off x="11409097" y="6333120"/>
            <a:ext cx="731400" cy="524400"/>
          </a:xfrm>
          <a:prstGeom prst="rect">
            <a:avLst/>
          </a:prstGeom>
          <a:noFill/>
          <a:ln>
            <a:noFill/>
          </a:ln>
        </p:spPr>
        <p:txBody>
          <a:bodyPr anchorCtr="0" anchor="t" bIns="122025" lIns="122025" spcFirstLastPara="1" rIns="122025" wrap="square" tIns="1220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92" name="Google Shape;392;h9fd51cbb4fe9101_0_674"/>
          <p:cNvSpPr txBox="1"/>
          <p:nvPr/>
        </p:nvSpPr>
        <p:spPr>
          <a:xfrm>
            <a:off x="914400" y="2770632"/>
            <a:ext cx="10058400" cy="27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en-US" sz="2500">
                <a:solidFill>
                  <a:srgbClr val="18A999"/>
                </a:solidFill>
              </a:rPr>
              <a:t>10. Generalization and regularization</a:t>
            </a:r>
            <a:endParaRPr sz="2500">
              <a:solidFill>
                <a:srgbClr val="18A999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t/>
            </a:r>
            <a:endParaRPr sz="2500">
              <a:solidFill>
                <a:srgbClr val="18A999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t/>
            </a:r>
            <a:endParaRPr sz="2500">
              <a:solidFill>
                <a:srgbClr val="18A999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t/>
            </a:r>
            <a:endParaRPr sz="2500">
              <a:solidFill>
                <a:srgbClr val="18A999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t/>
            </a:r>
            <a:endParaRPr sz="2500">
              <a:solidFill>
                <a:srgbClr val="18A999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t/>
            </a:r>
            <a:endParaRPr sz="2500">
              <a:solidFill>
                <a:srgbClr val="18A999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t/>
            </a:r>
            <a:endParaRPr sz="2500">
              <a:solidFill>
                <a:srgbClr val="18A999"/>
              </a:solidFill>
            </a:endParaRPr>
          </a:p>
        </p:txBody>
      </p:sp>
      <p:sp>
        <p:nvSpPr>
          <p:cNvPr id="393" name="Google Shape;393;h9fd51cbb4fe9101_0_674"/>
          <p:cNvSpPr txBox="1"/>
          <p:nvPr/>
        </p:nvSpPr>
        <p:spPr>
          <a:xfrm>
            <a:off x="914400" y="3264408"/>
            <a:ext cx="10058400" cy="1323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sz="1600">
              <a:solidFill>
                <a:srgbClr val="00719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>
                <a:solidFill>
                  <a:srgbClr val="007191"/>
                </a:solidFill>
              </a:rPr>
              <a:t>Training loss is not the goal — performance on unseen data is.</a:t>
            </a:r>
            <a:endParaRPr sz="1600">
              <a:solidFill>
                <a:srgbClr val="00719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sz="1600">
              <a:solidFill>
                <a:srgbClr val="00719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sz="1600">
              <a:solidFill>
                <a:srgbClr val="00719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sz="1600">
              <a:solidFill>
                <a:srgbClr val="007191"/>
              </a:solidFill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h9fd51cbb4fe9101_0_664"/>
          <p:cNvSpPr txBox="1"/>
          <p:nvPr>
            <p:ph idx="12" type="sldNum"/>
          </p:nvPr>
        </p:nvSpPr>
        <p:spPr>
          <a:xfrm>
            <a:off x="11296417" y="6502680"/>
            <a:ext cx="731400" cy="52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2025" lIns="122025" spcFirstLastPara="1" rIns="122025" wrap="square" tIns="1220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r>
              <a:rPr lang="en-US"/>
              <a:t>/40</a:t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99" name="Google Shape;399;h9fd51cbb4fe9101_0_664"/>
          <p:cNvSpPr txBox="1"/>
          <p:nvPr/>
        </p:nvSpPr>
        <p:spPr>
          <a:xfrm>
            <a:off x="810720" y="956723"/>
            <a:ext cx="107898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007094"/>
                </a:solidFill>
                <a:latin typeface="Arial"/>
                <a:ea typeface="Arial"/>
                <a:cs typeface="Arial"/>
                <a:sym typeface="Arial"/>
              </a:rPr>
              <a:t>Neural networks can overfit</a:t>
            </a:r>
            <a:endParaRPr/>
          </a:p>
        </p:txBody>
      </p:sp>
      <p:pic>
        <p:nvPicPr>
          <p:cNvPr descr="overfit.png" id="400" name="Google Shape;400;h9fd51cbb4fe9101_0_66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85040" y="2008282"/>
            <a:ext cx="6583680" cy="3893005"/>
          </a:xfrm>
          <a:prstGeom prst="rect">
            <a:avLst/>
          </a:prstGeom>
          <a:noFill/>
          <a:ln>
            <a:noFill/>
          </a:ln>
        </p:spPr>
      </p:pic>
      <p:sp>
        <p:nvSpPr>
          <p:cNvPr id="401" name="Google Shape;401;h9fd51cbb4fe9101_0_664"/>
          <p:cNvSpPr txBox="1"/>
          <p:nvPr/>
        </p:nvSpPr>
        <p:spPr>
          <a:xfrm>
            <a:off x="7760160" y="2191163"/>
            <a:ext cx="3474600" cy="286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232323"/>
                </a:solidFill>
                <a:latin typeface="Arial"/>
                <a:ea typeface="Arial"/>
                <a:cs typeface="Arial"/>
                <a:sym typeface="Arial"/>
              </a:rPr>
              <a:t>• Training loss can continue to improve while validation performance deteriorates.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232323"/>
                </a:solidFill>
                <a:latin typeface="Arial"/>
                <a:ea typeface="Arial"/>
                <a:cs typeface="Arial"/>
                <a:sym typeface="Arial"/>
              </a:rPr>
              <a:t>• Small biological datasets are especially vulnerable.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232323"/>
                </a:solidFill>
                <a:latin typeface="Arial"/>
                <a:ea typeface="Arial"/>
                <a:cs typeface="Arial"/>
                <a:sym typeface="Arial"/>
              </a:rPr>
              <a:t>• Always monitor validation metrics, not only training loss.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232323"/>
                </a:solidFill>
                <a:latin typeface="Arial"/>
                <a:ea typeface="Arial"/>
                <a:cs typeface="Arial"/>
                <a:sym typeface="Arial"/>
              </a:rPr>
              <a:t>• Early stopping can preserve the model from the best validation epoch.</a:t>
            </a:r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5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h9fd51cbb4fe9101_0_683"/>
          <p:cNvSpPr txBox="1"/>
          <p:nvPr>
            <p:ph idx="12" type="sldNum"/>
          </p:nvPr>
        </p:nvSpPr>
        <p:spPr>
          <a:xfrm>
            <a:off x="11296417" y="6502680"/>
            <a:ext cx="731400" cy="52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2025" lIns="122025" spcFirstLastPara="1" rIns="122025" wrap="square" tIns="1220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r>
              <a:rPr lang="en-US"/>
              <a:t>/40</a:t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07" name="Google Shape;407;h9fd51cbb4fe9101_0_683"/>
          <p:cNvSpPr txBox="1"/>
          <p:nvPr/>
        </p:nvSpPr>
        <p:spPr>
          <a:xfrm>
            <a:off x="1501070" y="650960"/>
            <a:ext cx="107898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007094"/>
                </a:solidFill>
                <a:latin typeface="Arial"/>
                <a:ea typeface="Arial"/>
                <a:cs typeface="Arial"/>
                <a:sym typeface="Arial"/>
              </a:rPr>
              <a:t>Regularization strategies</a:t>
            </a:r>
            <a:endParaRPr/>
          </a:p>
        </p:txBody>
      </p:sp>
      <p:sp>
        <p:nvSpPr>
          <p:cNvPr id="408" name="Google Shape;408;h9fd51cbb4fe9101_0_683"/>
          <p:cNvSpPr txBox="1"/>
          <p:nvPr/>
        </p:nvSpPr>
        <p:spPr>
          <a:xfrm>
            <a:off x="822954" y="1508750"/>
            <a:ext cx="4439400" cy="3889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232323"/>
                </a:solidFill>
                <a:latin typeface="Arial"/>
                <a:ea typeface="Arial"/>
                <a:cs typeface="Arial"/>
                <a:sym typeface="Arial"/>
              </a:rPr>
              <a:t>• Weight decay / L2 discourages excessively large weights.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232323"/>
                </a:solidFill>
                <a:latin typeface="Arial"/>
                <a:ea typeface="Arial"/>
                <a:cs typeface="Arial"/>
                <a:sym typeface="Arial"/>
              </a:rPr>
              <a:t>• Dropout randomly removes a fraction of activations during training.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232323"/>
                </a:solidFill>
                <a:latin typeface="Arial"/>
                <a:ea typeface="Arial"/>
                <a:cs typeface="Arial"/>
                <a:sym typeface="Arial"/>
              </a:rPr>
              <a:t>• Early stopping limits training once validation performance stops improving.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232323"/>
                </a:solidFill>
                <a:latin typeface="Arial"/>
                <a:ea typeface="Arial"/>
                <a:cs typeface="Arial"/>
                <a:sym typeface="Arial"/>
              </a:rPr>
              <a:t>• Reducing model width/depth is also a form of capacity control.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232323"/>
                </a:solidFill>
                <a:latin typeface="Arial"/>
                <a:ea typeface="Arial"/>
                <a:cs typeface="Arial"/>
                <a:sym typeface="Arial"/>
              </a:rPr>
              <a:t>• The best regularization strength depends on data size and noise.</a:t>
            </a:r>
            <a:endParaRPr/>
          </a:p>
        </p:txBody>
      </p:sp>
      <p:pic>
        <p:nvPicPr>
          <p:cNvPr id="409" name="Google Shape;409;h9fd51cbb4fe9101_0_683"/>
          <p:cNvPicPr preferRelativeResize="0"/>
          <p:nvPr/>
        </p:nvPicPr>
        <p:blipFill rotWithShape="1">
          <a:blip r:embed="rId3">
            <a:alphaModFix/>
          </a:blip>
          <a:srcRect b="13548" l="0" r="0" t="9035"/>
          <a:stretch/>
        </p:blipFill>
        <p:spPr>
          <a:xfrm>
            <a:off x="5123825" y="1302374"/>
            <a:ext cx="7167049" cy="44388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3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h9fd51cbb4fe9101_0_775"/>
          <p:cNvSpPr txBox="1"/>
          <p:nvPr>
            <p:ph idx="12" type="sldNum"/>
          </p:nvPr>
        </p:nvSpPr>
        <p:spPr>
          <a:xfrm>
            <a:off x="11409097" y="6333120"/>
            <a:ext cx="731400" cy="524400"/>
          </a:xfrm>
          <a:prstGeom prst="rect">
            <a:avLst/>
          </a:prstGeom>
          <a:noFill/>
          <a:ln>
            <a:noFill/>
          </a:ln>
        </p:spPr>
        <p:txBody>
          <a:bodyPr anchorCtr="0" anchor="t" bIns="122025" lIns="122025" spcFirstLastPara="1" rIns="122025" wrap="square" tIns="1220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15" name="Google Shape;415;h9fd51cbb4fe9101_0_775"/>
          <p:cNvSpPr txBox="1"/>
          <p:nvPr/>
        </p:nvSpPr>
        <p:spPr>
          <a:xfrm>
            <a:off x="914400" y="2770632"/>
            <a:ext cx="100584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en-US" sz="2500">
                <a:solidFill>
                  <a:srgbClr val="18A999"/>
                </a:solidFill>
              </a:rPr>
              <a:t>3. Are neural networks decision trees?</a:t>
            </a:r>
            <a:endParaRPr sz="2500">
              <a:solidFill>
                <a:srgbClr val="18A999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t/>
            </a:r>
            <a:endParaRPr sz="2500">
              <a:solidFill>
                <a:srgbClr val="18A999"/>
              </a:solidFill>
            </a:endParaRPr>
          </a:p>
        </p:txBody>
      </p:sp>
      <p:sp>
        <p:nvSpPr>
          <p:cNvPr id="416" name="Google Shape;416;h9fd51cbb4fe9101_0_775"/>
          <p:cNvSpPr txBox="1"/>
          <p:nvPr/>
        </p:nvSpPr>
        <p:spPr>
          <a:xfrm>
            <a:off x="914400" y="3264408"/>
            <a:ext cx="100584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>
                <a:solidFill>
                  <a:srgbClr val="007191"/>
                </a:solidFill>
              </a:rPr>
              <a:t>Wait, are they?</a:t>
            </a:r>
            <a:endParaRPr sz="1600">
              <a:solidFill>
                <a:srgbClr val="00719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sz="1600">
              <a:solidFill>
                <a:srgbClr val="007191"/>
              </a:solidFill>
            </a:endParaRPr>
          </a:p>
        </p:txBody>
      </p:sp>
      <p:pic>
        <p:nvPicPr>
          <p:cNvPr id="417" name="Google Shape;417;h9fd51cbb4fe9101_0_77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133050" y="2303058"/>
            <a:ext cx="4058929" cy="270379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h9fd51cbb4fe9101_0_781"/>
          <p:cNvSpPr txBox="1"/>
          <p:nvPr>
            <p:ph idx="12" type="sldNum"/>
          </p:nvPr>
        </p:nvSpPr>
        <p:spPr>
          <a:xfrm>
            <a:off x="11296417" y="6502680"/>
            <a:ext cx="731400" cy="52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2025" lIns="122025" spcFirstLastPara="1" rIns="122025" wrap="square" tIns="1220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r>
              <a:rPr lang="en-US"/>
              <a:t>/40</a:t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23" name="Google Shape;423;h9fd51cbb4fe9101_0_781"/>
          <p:cNvSpPr txBox="1"/>
          <p:nvPr/>
        </p:nvSpPr>
        <p:spPr>
          <a:xfrm>
            <a:off x="652295" y="979135"/>
            <a:ext cx="107898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007094"/>
                </a:solidFill>
                <a:latin typeface="Arial"/>
                <a:ea typeface="Arial"/>
                <a:cs typeface="Arial"/>
                <a:sym typeface="Arial"/>
              </a:rPr>
              <a:t>Week 5 recap: trees partition feature space</a:t>
            </a:r>
            <a:endParaRPr/>
          </a:p>
        </p:txBody>
      </p:sp>
      <p:sp>
        <p:nvSpPr>
          <p:cNvPr id="424" name="Google Shape;424;h9fd51cbb4fe9101_0_781"/>
          <p:cNvSpPr txBox="1"/>
          <p:nvPr/>
        </p:nvSpPr>
        <p:spPr>
          <a:xfrm>
            <a:off x="743724" y="1893525"/>
            <a:ext cx="9826200" cy="16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232323"/>
                </a:solidFill>
                <a:latin typeface="Arial"/>
                <a:ea typeface="Arial"/>
                <a:cs typeface="Arial"/>
                <a:sym typeface="Arial"/>
              </a:rPr>
              <a:t>• A tree routes a sample through explicit conditional rules.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232323"/>
                </a:solidFill>
                <a:latin typeface="Arial"/>
                <a:ea typeface="Arial"/>
                <a:cs typeface="Arial"/>
                <a:sym typeface="Arial"/>
              </a:rPr>
              <a:t>• Each split creates a boundary and divides the feature space into regions.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232323"/>
                </a:solidFill>
                <a:latin typeface="Arial"/>
                <a:ea typeface="Arial"/>
                <a:cs typeface="Arial"/>
                <a:sym typeface="Arial"/>
              </a:rPr>
              <a:t>• Only one root-to-leaf path is followed for a given sample.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232323"/>
                </a:solidFill>
                <a:latin typeface="Arial"/>
                <a:ea typeface="Arial"/>
                <a:cs typeface="Arial"/>
                <a:sym typeface="Arial"/>
              </a:rPr>
              <a:t>• Deep trees therefore implement piecewise predictions over many regions.</a:t>
            </a:r>
            <a:endParaRPr/>
          </a:p>
        </p:txBody>
      </p:sp>
      <p:pic>
        <p:nvPicPr>
          <p:cNvPr id="425" name="Google Shape;425;h9fd51cbb4fe9101_0_781"/>
          <p:cNvPicPr preferRelativeResize="0"/>
          <p:nvPr/>
        </p:nvPicPr>
        <p:blipFill rotWithShape="1">
          <a:blip r:embed="rId3">
            <a:alphaModFix/>
          </a:blip>
          <a:srcRect b="5643" l="0" r="0" t="16098"/>
          <a:stretch/>
        </p:blipFill>
        <p:spPr>
          <a:xfrm>
            <a:off x="250388" y="3586570"/>
            <a:ext cx="11873700" cy="327142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9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h9fd51cbb4fe9101_0_787"/>
          <p:cNvSpPr txBox="1"/>
          <p:nvPr>
            <p:ph idx="12" type="sldNum"/>
          </p:nvPr>
        </p:nvSpPr>
        <p:spPr>
          <a:xfrm>
            <a:off x="11296417" y="6502680"/>
            <a:ext cx="731400" cy="52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2025" lIns="122025" spcFirstLastPara="1" rIns="122025" wrap="square" tIns="1220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r>
              <a:rPr lang="en-US"/>
              <a:t>/40</a:t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31" name="Google Shape;431;h9fd51cbb4fe9101_0_787"/>
          <p:cNvSpPr txBox="1"/>
          <p:nvPr/>
        </p:nvSpPr>
        <p:spPr>
          <a:xfrm>
            <a:off x="701095" y="963185"/>
            <a:ext cx="107898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007094"/>
                </a:solidFill>
                <a:latin typeface="Arial"/>
                <a:ea typeface="Arial"/>
                <a:cs typeface="Arial"/>
                <a:sym typeface="Arial"/>
              </a:rPr>
              <a:t>Aytekin (2022): “Neural Networks are Decision Trees”</a:t>
            </a:r>
            <a:endParaRPr/>
          </a:p>
        </p:txBody>
      </p:sp>
      <p:sp>
        <p:nvSpPr>
          <p:cNvPr id="432" name="Google Shape;432;h9fd51cbb4fe9101_0_787"/>
          <p:cNvSpPr txBox="1"/>
          <p:nvPr/>
        </p:nvSpPr>
        <p:spPr>
          <a:xfrm>
            <a:off x="701095" y="1511825"/>
            <a:ext cx="106071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3" name="Google Shape;433;h9fd51cbb4fe9101_0_787"/>
          <p:cNvSpPr txBox="1"/>
          <p:nvPr/>
        </p:nvSpPr>
        <p:spPr>
          <a:xfrm>
            <a:off x="792535" y="1877585"/>
            <a:ext cx="10515600" cy="286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232323"/>
                </a:solidFill>
                <a:latin typeface="Arial"/>
                <a:ea typeface="Arial"/>
                <a:cs typeface="Arial"/>
                <a:sym typeface="Arial"/>
              </a:rPr>
              <a:t>• The paper proves that a neural network can be represented by an equivalent decision tree not merely approximated by one.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232323"/>
                </a:solidFill>
                <a:latin typeface="Arial"/>
                <a:ea typeface="Arial"/>
                <a:cs typeface="Arial"/>
                <a:sym typeface="Arial"/>
              </a:rPr>
              <a:t>• The claim is stated for arbitrary activation functions and covers fully connected and convolutional networks.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232323"/>
                </a:solidFill>
                <a:latin typeface="Arial"/>
                <a:ea typeface="Arial"/>
                <a:cs typeface="Arial"/>
                <a:sym typeface="Arial"/>
              </a:rPr>
              <a:t>• The construction can also accommodate architectures with skip connections and normalization layers.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232323"/>
                </a:solidFill>
                <a:latin typeface="Arial"/>
                <a:ea typeface="Arial"/>
                <a:cs typeface="Arial"/>
                <a:sym typeface="Arial"/>
              </a:rPr>
              <a:t>• The point is representational equivalence: the tree can reproduce the network output exactly.</a:t>
            </a:r>
            <a:endParaRPr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7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h9fd51cbb4fe9101_0_800"/>
          <p:cNvSpPr txBox="1"/>
          <p:nvPr>
            <p:ph idx="12" type="sldNum"/>
          </p:nvPr>
        </p:nvSpPr>
        <p:spPr>
          <a:xfrm>
            <a:off x="11296417" y="6502680"/>
            <a:ext cx="731400" cy="52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2025" lIns="122025" spcFirstLastPara="1" rIns="122025" wrap="square" tIns="1220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r>
              <a:rPr lang="en-US"/>
              <a:t>/40</a:t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39" name="Google Shape;439;h9fd51cbb4fe9101_0_800"/>
          <p:cNvSpPr txBox="1"/>
          <p:nvPr/>
        </p:nvSpPr>
        <p:spPr>
          <a:xfrm>
            <a:off x="1693470" y="594360"/>
            <a:ext cx="107898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007094"/>
                </a:solidFill>
                <a:latin typeface="Arial"/>
                <a:ea typeface="Arial"/>
                <a:cs typeface="Arial"/>
                <a:sym typeface="Arial"/>
              </a:rPr>
              <a:t>Tree logic vs neural-network logic</a:t>
            </a:r>
            <a:endParaRPr/>
          </a:p>
        </p:txBody>
      </p:sp>
      <p:sp>
        <p:nvSpPr>
          <p:cNvPr id="440" name="Google Shape;440;h9fd51cbb4fe9101_0_800"/>
          <p:cNvSpPr txBox="1"/>
          <p:nvPr/>
        </p:nvSpPr>
        <p:spPr>
          <a:xfrm>
            <a:off x="914400" y="1463040"/>
            <a:ext cx="4389000" cy="4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007094"/>
                </a:solidFill>
                <a:latin typeface="Arial"/>
                <a:ea typeface="Arial"/>
                <a:cs typeface="Arial"/>
                <a:sym typeface="Arial"/>
              </a:rPr>
              <a:t>Decision tree</a:t>
            </a:r>
            <a:endParaRPr/>
          </a:p>
        </p:txBody>
      </p:sp>
      <p:sp>
        <p:nvSpPr>
          <p:cNvPr id="441" name="Google Shape;441;h9fd51cbb4fe9101_0_800"/>
          <p:cNvSpPr txBox="1"/>
          <p:nvPr/>
        </p:nvSpPr>
        <p:spPr>
          <a:xfrm>
            <a:off x="6766560" y="1463040"/>
            <a:ext cx="4389000" cy="4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007094"/>
                </a:solidFill>
                <a:latin typeface="Arial"/>
                <a:ea typeface="Arial"/>
                <a:cs typeface="Arial"/>
                <a:sym typeface="Arial"/>
              </a:rPr>
              <a:t>Neural network</a:t>
            </a:r>
            <a:endParaRPr/>
          </a:p>
        </p:txBody>
      </p:sp>
      <p:sp>
        <p:nvSpPr>
          <p:cNvPr id="442" name="Google Shape;442;h9fd51cbb4fe9101_0_800"/>
          <p:cNvSpPr/>
          <p:nvPr/>
        </p:nvSpPr>
        <p:spPr>
          <a:xfrm>
            <a:off x="1005840" y="2103120"/>
            <a:ext cx="4023300" cy="658500"/>
          </a:xfrm>
          <a:prstGeom prst="roundRect">
            <a:avLst>
              <a:gd fmla="val 16667" name="adj"/>
            </a:avLst>
          </a:prstGeom>
          <a:solidFill>
            <a:srgbClr val="F4F4F4"/>
          </a:solidFill>
          <a:ln cap="flat" cmpd="sng" w="15225">
            <a:solidFill>
              <a:srgbClr val="00709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232323"/>
                </a:solidFill>
                <a:latin typeface="Arial"/>
                <a:ea typeface="Arial"/>
                <a:cs typeface="Arial"/>
                <a:sym typeface="Arial"/>
              </a:rPr>
              <a:t>Rule</a:t>
            </a:r>
            <a:br>
              <a:rPr b="0" i="0" lang="en-US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600" u="none" cap="none" strike="noStrike">
                <a:solidFill>
                  <a:srgbClr val="232323"/>
                </a:solidFill>
                <a:latin typeface="Arial"/>
                <a:ea typeface="Arial"/>
                <a:cs typeface="Arial"/>
                <a:sym typeface="Arial"/>
              </a:rPr>
              <a:t>xⱼ &lt; t</a:t>
            </a:r>
            <a:endParaRPr/>
          </a:p>
        </p:txBody>
      </p:sp>
      <p:sp>
        <p:nvSpPr>
          <p:cNvPr id="443" name="Google Shape;443;h9fd51cbb4fe9101_0_800"/>
          <p:cNvSpPr/>
          <p:nvPr/>
        </p:nvSpPr>
        <p:spPr>
          <a:xfrm>
            <a:off x="6858000" y="2103120"/>
            <a:ext cx="4023300" cy="658500"/>
          </a:xfrm>
          <a:prstGeom prst="roundRect">
            <a:avLst>
              <a:gd fmla="val 16667" name="adj"/>
            </a:avLst>
          </a:prstGeom>
          <a:solidFill>
            <a:srgbClr val="F4F4F4"/>
          </a:solidFill>
          <a:ln cap="flat" cmpd="sng" w="15225">
            <a:solidFill>
              <a:srgbClr val="00709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232323"/>
                </a:solidFill>
                <a:latin typeface="Arial"/>
                <a:ea typeface="Arial"/>
                <a:cs typeface="Arial"/>
                <a:sym typeface="Arial"/>
              </a:rPr>
              <a:t>Rule</a:t>
            </a:r>
            <a:br>
              <a:rPr b="0" i="0" lang="en-US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600" u="none" cap="none" strike="noStrike">
                <a:solidFill>
                  <a:srgbClr val="232323"/>
                </a:solidFill>
                <a:latin typeface="Arial"/>
                <a:ea typeface="Arial"/>
                <a:cs typeface="Arial"/>
                <a:sym typeface="Arial"/>
              </a:rPr>
              <a:t>wᵀx + b</a:t>
            </a:r>
            <a:endParaRPr/>
          </a:p>
        </p:txBody>
      </p:sp>
      <p:sp>
        <p:nvSpPr>
          <p:cNvPr id="444" name="Google Shape;444;h9fd51cbb4fe9101_0_800"/>
          <p:cNvSpPr/>
          <p:nvPr/>
        </p:nvSpPr>
        <p:spPr>
          <a:xfrm>
            <a:off x="1005840" y="2971800"/>
            <a:ext cx="4023300" cy="658500"/>
          </a:xfrm>
          <a:prstGeom prst="roundRect">
            <a:avLst>
              <a:gd fmla="val 16667" name="adj"/>
            </a:avLst>
          </a:prstGeom>
          <a:solidFill>
            <a:srgbClr val="F4F4F4"/>
          </a:solidFill>
          <a:ln cap="flat" cmpd="sng" w="15225">
            <a:solidFill>
              <a:srgbClr val="00709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232323"/>
                </a:solidFill>
                <a:latin typeface="Arial"/>
                <a:ea typeface="Arial"/>
                <a:cs typeface="Arial"/>
                <a:sym typeface="Arial"/>
              </a:rPr>
              <a:t>Routing</a:t>
            </a:r>
            <a:br>
              <a:rPr b="0" i="0" lang="en-US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600" u="none" cap="none" strike="noStrike">
                <a:solidFill>
                  <a:srgbClr val="232323"/>
                </a:solidFill>
                <a:latin typeface="Arial"/>
                <a:ea typeface="Arial"/>
                <a:cs typeface="Arial"/>
                <a:sym typeface="Arial"/>
              </a:rPr>
              <a:t>hard / one path</a:t>
            </a:r>
            <a:endParaRPr/>
          </a:p>
        </p:txBody>
      </p:sp>
      <p:sp>
        <p:nvSpPr>
          <p:cNvPr id="445" name="Google Shape;445;h9fd51cbb4fe9101_0_800"/>
          <p:cNvSpPr/>
          <p:nvPr/>
        </p:nvSpPr>
        <p:spPr>
          <a:xfrm>
            <a:off x="6858000" y="2971800"/>
            <a:ext cx="4023300" cy="658500"/>
          </a:xfrm>
          <a:prstGeom prst="roundRect">
            <a:avLst>
              <a:gd fmla="val 16667" name="adj"/>
            </a:avLst>
          </a:prstGeom>
          <a:solidFill>
            <a:srgbClr val="F4F4F4"/>
          </a:solidFill>
          <a:ln cap="flat" cmpd="sng" w="15225">
            <a:solidFill>
              <a:srgbClr val="00709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232323"/>
                </a:solidFill>
                <a:latin typeface="Arial"/>
                <a:ea typeface="Arial"/>
                <a:cs typeface="Arial"/>
                <a:sym typeface="Arial"/>
              </a:rPr>
              <a:t>Routing</a:t>
            </a:r>
            <a:br>
              <a:rPr b="0" i="0" lang="en-US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600" u="none" cap="none" strike="noStrike">
                <a:solidFill>
                  <a:srgbClr val="232323"/>
                </a:solidFill>
                <a:latin typeface="Arial"/>
                <a:ea typeface="Arial"/>
                <a:cs typeface="Arial"/>
                <a:sym typeface="Arial"/>
              </a:rPr>
              <a:t>many units active</a:t>
            </a:r>
            <a:endParaRPr/>
          </a:p>
        </p:txBody>
      </p:sp>
      <p:sp>
        <p:nvSpPr>
          <p:cNvPr id="446" name="Google Shape;446;h9fd51cbb4fe9101_0_800"/>
          <p:cNvSpPr/>
          <p:nvPr/>
        </p:nvSpPr>
        <p:spPr>
          <a:xfrm>
            <a:off x="1005840" y="3840479"/>
            <a:ext cx="4023300" cy="658500"/>
          </a:xfrm>
          <a:prstGeom prst="roundRect">
            <a:avLst>
              <a:gd fmla="val 16667" name="adj"/>
            </a:avLst>
          </a:prstGeom>
          <a:solidFill>
            <a:srgbClr val="F4F4F4"/>
          </a:solidFill>
          <a:ln cap="flat" cmpd="sng" w="15225">
            <a:solidFill>
              <a:srgbClr val="00709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232323"/>
                </a:solidFill>
                <a:latin typeface="Arial"/>
                <a:ea typeface="Arial"/>
                <a:cs typeface="Arial"/>
                <a:sym typeface="Arial"/>
              </a:rPr>
              <a:t>Boundary</a:t>
            </a:r>
            <a:br>
              <a:rPr b="0" i="0" lang="en-US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600" u="none" cap="none" strike="noStrike">
                <a:solidFill>
                  <a:srgbClr val="232323"/>
                </a:solidFill>
                <a:latin typeface="Arial"/>
                <a:ea typeface="Arial"/>
                <a:cs typeface="Arial"/>
                <a:sym typeface="Arial"/>
              </a:rPr>
              <a:t>often axis-aligned</a:t>
            </a:r>
            <a:endParaRPr/>
          </a:p>
        </p:txBody>
      </p:sp>
      <p:sp>
        <p:nvSpPr>
          <p:cNvPr id="447" name="Google Shape;447;h9fd51cbb4fe9101_0_800"/>
          <p:cNvSpPr/>
          <p:nvPr/>
        </p:nvSpPr>
        <p:spPr>
          <a:xfrm>
            <a:off x="6858000" y="3840479"/>
            <a:ext cx="4023300" cy="658500"/>
          </a:xfrm>
          <a:prstGeom prst="roundRect">
            <a:avLst>
              <a:gd fmla="val 16667" name="adj"/>
            </a:avLst>
          </a:prstGeom>
          <a:solidFill>
            <a:srgbClr val="F4F4F4"/>
          </a:solidFill>
          <a:ln cap="flat" cmpd="sng" w="15225">
            <a:solidFill>
              <a:srgbClr val="00709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232323"/>
                </a:solidFill>
                <a:latin typeface="Arial"/>
                <a:ea typeface="Arial"/>
                <a:cs typeface="Arial"/>
                <a:sym typeface="Arial"/>
              </a:rPr>
              <a:t>Boundary</a:t>
            </a:r>
            <a:br>
              <a:rPr b="0" i="0" lang="en-US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600" u="none" cap="none" strike="noStrike">
                <a:solidFill>
                  <a:srgbClr val="232323"/>
                </a:solidFill>
                <a:latin typeface="Arial"/>
                <a:ea typeface="Arial"/>
                <a:cs typeface="Arial"/>
                <a:sym typeface="Arial"/>
              </a:rPr>
              <a:t>oblique / composed</a:t>
            </a:r>
            <a:endParaRPr/>
          </a:p>
        </p:txBody>
      </p:sp>
      <p:sp>
        <p:nvSpPr>
          <p:cNvPr id="448" name="Google Shape;448;h9fd51cbb4fe9101_0_800"/>
          <p:cNvSpPr/>
          <p:nvPr/>
        </p:nvSpPr>
        <p:spPr>
          <a:xfrm>
            <a:off x="1005840" y="4709159"/>
            <a:ext cx="4023300" cy="658500"/>
          </a:xfrm>
          <a:prstGeom prst="roundRect">
            <a:avLst>
              <a:gd fmla="val 16667" name="adj"/>
            </a:avLst>
          </a:prstGeom>
          <a:solidFill>
            <a:srgbClr val="F4F4F4"/>
          </a:solidFill>
          <a:ln cap="flat" cmpd="sng" w="15225">
            <a:solidFill>
              <a:srgbClr val="00709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232323"/>
                </a:solidFill>
                <a:latin typeface="Arial"/>
                <a:ea typeface="Arial"/>
                <a:cs typeface="Arial"/>
                <a:sym typeface="Arial"/>
              </a:rPr>
              <a:t>Representation</a:t>
            </a:r>
            <a:br>
              <a:rPr b="0" i="0" lang="en-US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600" u="none" cap="none" strike="noStrike">
                <a:solidFill>
                  <a:srgbClr val="232323"/>
                </a:solidFill>
                <a:latin typeface="Arial"/>
                <a:ea typeface="Arial"/>
                <a:cs typeface="Arial"/>
                <a:sym typeface="Arial"/>
              </a:rPr>
              <a:t>explicit hierarchy</a:t>
            </a:r>
            <a:endParaRPr/>
          </a:p>
        </p:txBody>
      </p:sp>
      <p:sp>
        <p:nvSpPr>
          <p:cNvPr id="449" name="Google Shape;449;h9fd51cbb4fe9101_0_800"/>
          <p:cNvSpPr/>
          <p:nvPr/>
        </p:nvSpPr>
        <p:spPr>
          <a:xfrm>
            <a:off x="6858000" y="4709159"/>
            <a:ext cx="4023300" cy="658500"/>
          </a:xfrm>
          <a:prstGeom prst="roundRect">
            <a:avLst>
              <a:gd fmla="val 16667" name="adj"/>
            </a:avLst>
          </a:prstGeom>
          <a:solidFill>
            <a:srgbClr val="F4F4F4"/>
          </a:solidFill>
          <a:ln cap="flat" cmpd="sng" w="15225">
            <a:solidFill>
              <a:srgbClr val="00709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232323"/>
                </a:solidFill>
                <a:latin typeface="Arial"/>
                <a:ea typeface="Arial"/>
                <a:cs typeface="Arial"/>
                <a:sym typeface="Arial"/>
              </a:rPr>
              <a:t>Representation</a:t>
            </a:r>
            <a:br>
              <a:rPr b="0" i="0" lang="en-US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600" u="none" cap="none" strike="noStrike">
                <a:solidFill>
                  <a:srgbClr val="232323"/>
                </a:solidFill>
                <a:latin typeface="Arial"/>
                <a:ea typeface="Arial"/>
                <a:cs typeface="Arial"/>
                <a:sym typeface="Arial"/>
              </a:rPr>
              <a:t>distributed</a:t>
            </a:r>
            <a:endParaRPr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3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h9fd51cbb4fe9101_0_714"/>
          <p:cNvSpPr txBox="1"/>
          <p:nvPr>
            <p:ph idx="12" type="sldNum"/>
          </p:nvPr>
        </p:nvSpPr>
        <p:spPr>
          <a:xfrm>
            <a:off x="11409097" y="6333120"/>
            <a:ext cx="731400" cy="524400"/>
          </a:xfrm>
          <a:prstGeom prst="rect">
            <a:avLst/>
          </a:prstGeom>
          <a:noFill/>
          <a:ln>
            <a:noFill/>
          </a:ln>
        </p:spPr>
        <p:txBody>
          <a:bodyPr anchorCtr="0" anchor="t" bIns="122025" lIns="122025" spcFirstLastPara="1" rIns="122025" wrap="square" tIns="1220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55" name="Google Shape;455;h9fd51cbb4fe9101_0_714"/>
          <p:cNvSpPr txBox="1"/>
          <p:nvPr/>
        </p:nvSpPr>
        <p:spPr>
          <a:xfrm>
            <a:off x="914400" y="2770632"/>
            <a:ext cx="10058400" cy="317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en-US" sz="2500">
                <a:solidFill>
                  <a:srgbClr val="18A999"/>
                </a:solidFill>
              </a:rPr>
              <a:t>11. Putting the MLP together</a:t>
            </a:r>
            <a:endParaRPr sz="2500">
              <a:solidFill>
                <a:srgbClr val="18A999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t/>
            </a:r>
            <a:endParaRPr sz="2500">
              <a:solidFill>
                <a:srgbClr val="18A999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t/>
            </a:r>
            <a:endParaRPr sz="2500">
              <a:solidFill>
                <a:srgbClr val="18A999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t/>
            </a:r>
            <a:endParaRPr sz="2500">
              <a:solidFill>
                <a:srgbClr val="18A999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t/>
            </a:r>
            <a:endParaRPr sz="2500">
              <a:solidFill>
                <a:srgbClr val="18A999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t/>
            </a:r>
            <a:endParaRPr sz="2500">
              <a:solidFill>
                <a:srgbClr val="18A999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t/>
            </a:r>
            <a:endParaRPr sz="2500">
              <a:solidFill>
                <a:srgbClr val="18A999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t/>
            </a:r>
            <a:endParaRPr sz="2500">
              <a:solidFill>
                <a:srgbClr val="18A999"/>
              </a:solidFill>
            </a:endParaRPr>
          </a:p>
        </p:txBody>
      </p:sp>
      <p:sp>
        <p:nvSpPr>
          <p:cNvPr id="456" name="Google Shape;456;h9fd51cbb4fe9101_0_714"/>
          <p:cNvSpPr txBox="1"/>
          <p:nvPr/>
        </p:nvSpPr>
        <p:spPr>
          <a:xfrm>
            <a:off x="914400" y="3264408"/>
            <a:ext cx="10058400" cy="1323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sz="1600">
              <a:solidFill>
                <a:srgbClr val="00719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>
                <a:solidFill>
                  <a:srgbClr val="007191"/>
                </a:solidFill>
              </a:rPr>
              <a:t>From tensor input to prediction and training loop.</a:t>
            </a:r>
            <a:endParaRPr sz="1600">
              <a:solidFill>
                <a:srgbClr val="00719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sz="1600">
              <a:solidFill>
                <a:srgbClr val="00719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sz="1600">
              <a:solidFill>
                <a:srgbClr val="00719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sz="1600">
              <a:solidFill>
                <a:srgbClr val="007191"/>
              </a:solidFill>
            </a:endParaRPr>
          </a:p>
        </p:txBody>
      </p:sp>
      <p:pic>
        <p:nvPicPr>
          <p:cNvPr id="457" name="Google Shape;457;h9fd51cbb4fe9101_0_7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064771" y="1261971"/>
            <a:ext cx="3183775" cy="4015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Google Shape;462;h9fd51cbb4fe9101_0_694"/>
          <p:cNvSpPr txBox="1"/>
          <p:nvPr>
            <p:ph idx="12" type="sldNum"/>
          </p:nvPr>
        </p:nvSpPr>
        <p:spPr>
          <a:xfrm>
            <a:off x="11296417" y="6502680"/>
            <a:ext cx="731400" cy="52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2025" lIns="122025" spcFirstLastPara="1" rIns="122025" wrap="square" tIns="1220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r>
              <a:rPr lang="en-US"/>
              <a:t>/40</a:t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63" name="Google Shape;463;h9fd51cbb4fe9101_0_694"/>
          <p:cNvSpPr txBox="1"/>
          <p:nvPr/>
        </p:nvSpPr>
        <p:spPr>
          <a:xfrm>
            <a:off x="1981900" y="429925"/>
            <a:ext cx="74349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007094"/>
                </a:solidFill>
              </a:rPr>
              <a:t>A minimal MLP in PyTorch </a:t>
            </a:r>
            <a:endParaRPr/>
          </a:p>
        </p:txBody>
      </p:sp>
      <p:sp>
        <p:nvSpPr>
          <p:cNvPr id="464" name="Google Shape;464;h9fd51cbb4fe9101_0_694"/>
          <p:cNvSpPr txBox="1"/>
          <p:nvPr/>
        </p:nvSpPr>
        <p:spPr>
          <a:xfrm>
            <a:off x="822956" y="1508750"/>
            <a:ext cx="3849000" cy="2965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232323"/>
                </a:solidFill>
                <a:latin typeface="Arial"/>
                <a:ea typeface="Arial"/>
                <a:cs typeface="Arial"/>
                <a:sym typeface="Arial"/>
              </a:rPr>
              <a:t>• Linear(input_dim, 128) → learned affine transformation.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232323"/>
                </a:solidFill>
                <a:latin typeface="Arial"/>
                <a:ea typeface="Arial"/>
                <a:cs typeface="Arial"/>
                <a:sym typeface="Arial"/>
              </a:rPr>
              <a:t>• ReLU() → nonlinearity.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232323"/>
                </a:solidFill>
                <a:latin typeface="Arial"/>
                <a:ea typeface="Arial"/>
                <a:cs typeface="Arial"/>
                <a:sym typeface="Arial"/>
              </a:rPr>
              <a:t>• Linear(128, 32) → second learned representation.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232323"/>
                </a:solidFill>
                <a:latin typeface="Arial"/>
                <a:ea typeface="Arial"/>
                <a:cs typeface="Arial"/>
                <a:sym typeface="Arial"/>
              </a:rPr>
              <a:t>• ReLU() → nonlinearity.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232323"/>
                </a:solidFill>
                <a:latin typeface="Arial"/>
                <a:ea typeface="Arial"/>
                <a:cs typeface="Arial"/>
                <a:sym typeface="Arial"/>
              </a:rPr>
              <a:t>• Linear(32, output_dim) → task-specific logits or prediction.</a:t>
            </a:r>
            <a:endParaRPr/>
          </a:p>
        </p:txBody>
      </p:sp>
      <p:pic>
        <p:nvPicPr>
          <p:cNvPr id="465" name="Google Shape;465;h9fd51cbb4fe9101_0_69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24356" y="1197925"/>
            <a:ext cx="6781800" cy="5076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9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Google Shape;470;h9fd51cbb4fe9101_0_724"/>
          <p:cNvSpPr txBox="1"/>
          <p:nvPr>
            <p:ph idx="12" type="sldNum"/>
          </p:nvPr>
        </p:nvSpPr>
        <p:spPr>
          <a:xfrm>
            <a:off x="11296417" y="6502680"/>
            <a:ext cx="731400" cy="52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2025" lIns="122025" spcFirstLastPara="1" rIns="122025" wrap="square" tIns="1220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r>
              <a:rPr lang="en-US"/>
              <a:t>/40</a:t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71" name="Google Shape;471;h9fd51cbb4fe9101_0_724"/>
          <p:cNvSpPr txBox="1"/>
          <p:nvPr/>
        </p:nvSpPr>
        <p:spPr>
          <a:xfrm>
            <a:off x="1841470" y="481210"/>
            <a:ext cx="107898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007094"/>
                </a:solidFill>
                <a:latin typeface="Arial"/>
                <a:ea typeface="Arial"/>
                <a:cs typeface="Arial"/>
                <a:sym typeface="Arial"/>
              </a:rPr>
              <a:t>A good baseline MLP workflow</a:t>
            </a:r>
            <a:endParaRPr/>
          </a:p>
        </p:txBody>
      </p:sp>
      <p:sp>
        <p:nvSpPr>
          <p:cNvPr id="472" name="Google Shape;472;h9fd51cbb4fe9101_0_724"/>
          <p:cNvSpPr txBox="1"/>
          <p:nvPr/>
        </p:nvSpPr>
        <p:spPr>
          <a:xfrm>
            <a:off x="822960" y="1508760"/>
            <a:ext cx="10515600" cy="24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232323"/>
                </a:solidFill>
                <a:latin typeface="Arial"/>
                <a:ea typeface="Arial"/>
                <a:cs typeface="Arial"/>
                <a:sym typeface="Arial"/>
              </a:rPr>
              <a:t>• Split data correctly before any learned preprocessing.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232323"/>
                </a:solidFill>
                <a:latin typeface="Arial"/>
                <a:ea typeface="Arial"/>
                <a:cs typeface="Arial"/>
                <a:sym typeface="Arial"/>
              </a:rPr>
              <a:t>• Normalize/standardize the input representation.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232323"/>
                </a:solidFill>
                <a:latin typeface="Arial"/>
                <a:ea typeface="Arial"/>
                <a:cs typeface="Arial"/>
                <a:sym typeface="Arial"/>
              </a:rPr>
              <a:t>• Start with a small MLP rather than a very deep network.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232323"/>
                </a:solidFill>
                <a:latin typeface="Arial"/>
                <a:ea typeface="Arial"/>
                <a:cs typeface="Arial"/>
                <a:sym typeface="Arial"/>
              </a:rPr>
              <a:t>• Monitor train and validation curves.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232323"/>
                </a:solidFill>
                <a:latin typeface="Arial"/>
                <a:ea typeface="Arial"/>
                <a:cs typeface="Arial"/>
                <a:sym typeface="Arial"/>
              </a:rPr>
              <a:t>• Tune learning rate, width/depth, weight decay and possibly dropout.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232323"/>
                </a:solidFill>
                <a:latin typeface="Arial"/>
                <a:ea typeface="Arial"/>
                <a:cs typeface="Arial"/>
                <a:sym typeface="Arial"/>
              </a:rPr>
              <a:t>• Evaluate once on the untouched test set.</a:t>
            </a:r>
            <a:endParaRPr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6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h9fd51cbb4fe9101_0_752"/>
          <p:cNvSpPr txBox="1"/>
          <p:nvPr>
            <p:ph idx="12" type="sldNum"/>
          </p:nvPr>
        </p:nvSpPr>
        <p:spPr>
          <a:xfrm>
            <a:off x="11296417" y="6502680"/>
            <a:ext cx="731400" cy="52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2025" lIns="122025" spcFirstLastPara="1" rIns="122025" wrap="square" tIns="1220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r>
              <a:rPr lang="en-US"/>
              <a:t>/40</a:t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78" name="Google Shape;478;h9fd51cbb4fe9101_0_752"/>
          <p:cNvSpPr txBox="1"/>
          <p:nvPr/>
        </p:nvSpPr>
        <p:spPr>
          <a:xfrm>
            <a:off x="1546320" y="583060"/>
            <a:ext cx="107898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007094"/>
                </a:solidFill>
                <a:latin typeface="Arial"/>
                <a:ea typeface="Arial"/>
                <a:cs typeface="Arial"/>
                <a:sym typeface="Arial"/>
              </a:rPr>
              <a:t>Practical 6 </a:t>
            </a:r>
            <a:endParaRPr/>
          </a:p>
        </p:txBody>
      </p:sp>
      <p:sp>
        <p:nvSpPr>
          <p:cNvPr id="479" name="Google Shape;479;h9fd51cbb4fe9101_0_752"/>
          <p:cNvSpPr txBox="1"/>
          <p:nvPr/>
        </p:nvSpPr>
        <p:spPr>
          <a:xfrm>
            <a:off x="822960" y="1508760"/>
            <a:ext cx="10515600" cy="24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232323"/>
                </a:solidFill>
                <a:latin typeface="Arial"/>
                <a:ea typeface="Arial"/>
                <a:cs typeface="Arial"/>
                <a:sym typeface="Arial"/>
              </a:rPr>
              <a:t>• Manually compute one neuron and one small dense layer with NumPy.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232323"/>
                </a:solidFill>
                <a:latin typeface="Arial"/>
                <a:ea typeface="Arial"/>
                <a:cs typeface="Arial"/>
                <a:sym typeface="Arial"/>
              </a:rPr>
              <a:t>• Plot activation functions and observe their effect on outputs/gradients.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232323"/>
                </a:solidFill>
                <a:latin typeface="Arial"/>
                <a:ea typeface="Arial"/>
                <a:cs typeface="Arial"/>
                <a:sym typeface="Arial"/>
              </a:rPr>
              <a:t>• Build a small MLP for a biological tabular dataset in PyTorch.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232323"/>
                </a:solidFill>
                <a:latin typeface="Arial"/>
                <a:ea typeface="Arial"/>
                <a:cs typeface="Arial"/>
                <a:sym typeface="Arial"/>
              </a:rPr>
              <a:t>• Write the training loop explicitly: zero_grad → forward → loss → backward → step.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232323"/>
                </a:solidFill>
                <a:latin typeface="Arial"/>
                <a:ea typeface="Arial"/>
                <a:cs typeface="Arial"/>
                <a:sym typeface="Arial"/>
              </a:rPr>
              <a:t>• Compare learning rates and hidden-layer widths.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232323"/>
                </a:solidFill>
                <a:latin typeface="Arial"/>
                <a:ea typeface="Arial"/>
                <a:cs typeface="Arial"/>
                <a:sym typeface="Arial"/>
              </a:rPr>
              <a:t>• Plot train/validation loss and add early stopping / weight decay.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</cp:coreProperties>
</file>