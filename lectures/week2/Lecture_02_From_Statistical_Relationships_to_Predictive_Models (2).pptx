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60" r:id="rId5"/>
    <p:sldMasterId id="2147483674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</p:sldIdLst>
  <p:sldSz cy="6858000" cx="121919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3" roundtripDataSignature="AMtx7miz34xxZ2PMyGJUVlUYWfNnAkxQq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20" Type="http://schemas.openxmlformats.org/officeDocument/2006/relationships/slide" Target="slides/slide1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43" Type="http://customschemas.google.com/relationships/presentationmetadata" Target="metadata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4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slide" Target="slides/slide26.xml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35" Type="http://schemas.openxmlformats.org/officeDocument/2006/relationships/slide" Target="slides/slide28.xml"/><Relationship Id="rId12" Type="http://schemas.openxmlformats.org/officeDocument/2006/relationships/slide" Target="slides/slide5.xml"/><Relationship Id="rId34" Type="http://schemas.openxmlformats.org/officeDocument/2006/relationships/slide" Target="slides/slide27.xml"/><Relationship Id="rId15" Type="http://schemas.openxmlformats.org/officeDocument/2006/relationships/slide" Target="slides/slide8.xml"/><Relationship Id="rId37" Type="http://schemas.openxmlformats.org/officeDocument/2006/relationships/slide" Target="slides/slide30.xml"/><Relationship Id="rId14" Type="http://schemas.openxmlformats.org/officeDocument/2006/relationships/slide" Target="slides/slide7.xml"/><Relationship Id="rId36" Type="http://schemas.openxmlformats.org/officeDocument/2006/relationships/slide" Target="slides/slide29.xml"/><Relationship Id="rId17" Type="http://schemas.openxmlformats.org/officeDocument/2006/relationships/slide" Target="slides/slide10.xml"/><Relationship Id="rId39" Type="http://schemas.openxmlformats.org/officeDocument/2006/relationships/slide" Target="slides/slide32.xml"/><Relationship Id="rId16" Type="http://schemas.openxmlformats.org/officeDocument/2006/relationships/slide" Target="slides/slide9.xml"/><Relationship Id="rId38" Type="http://schemas.openxmlformats.org/officeDocument/2006/relationships/slide" Target="slides/slide31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fa1f53d6d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g3fa1f53d6d9_0_0:notes"/>
          <p:cNvSpPr/>
          <p:nvPr>
            <p:ph idx="2" type="sldImg"/>
          </p:nvPr>
        </p:nvSpPr>
        <p:spPr>
          <a:xfrm>
            <a:off x="857422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fa1f53d6d9_0_244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g3fa1f53d6d9_0_244:notes"/>
          <p:cNvSpPr/>
          <p:nvPr>
            <p:ph idx="2" type="sldImg"/>
          </p:nvPr>
        </p:nvSpPr>
        <p:spPr>
          <a:xfrm>
            <a:off x="1143230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fa35a6d944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g3fa35a6d944_0_26:notes"/>
          <p:cNvSpPr/>
          <p:nvPr>
            <p:ph idx="2" type="sldImg"/>
          </p:nvPr>
        </p:nvSpPr>
        <p:spPr>
          <a:xfrm>
            <a:off x="857422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fa35a6d94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g3fa35a6d944_0_0:notes"/>
          <p:cNvSpPr/>
          <p:nvPr>
            <p:ph idx="2" type="sldImg"/>
          </p:nvPr>
        </p:nvSpPr>
        <p:spPr>
          <a:xfrm>
            <a:off x="857422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fa35a6d944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g3fa35a6d944_0_161:notes"/>
          <p:cNvSpPr/>
          <p:nvPr>
            <p:ph idx="2" type="sldImg"/>
          </p:nvPr>
        </p:nvSpPr>
        <p:spPr>
          <a:xfrm>
            <a:off x="857422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fa35a6d944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g3fa35a6d944_0_180:notes"/>
          <p:cNvSpPr/>
          <p:nvPr>
            <p:ph idx="2" type="sldImg"/>
          </p:nvPr>
        </p:nvSpPr>
        <p:spPr>
          <a:xfrm>
            <a:off x="857422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fa35a6d944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g3fa35a6d944_0_185:notes"/>
          <p:cNvSpPr/>
          <p:nvPr>
            <p:ph idx="2" type="sldImg"/>
          </p:nvPr>
        </p:nvSpPr>
        <p:spPr>
          <a:xfrm>
            <a:off x="857422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fa35a6d944_0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g3fa35a6d944_0_229:notes"/>
          <p:cNvSpPr/>
          <p:nvPr>
            <p:ph idx="2" type="sldImg"/>
          </p:nvPr>
        </p:nvSpPr>
        <p:spPr>
          <a:xfrm>
            <a:off x="857422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2f1a03d0f3b0ff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g32f1a03d0f3b0ff4_0:notes"/>
          <p:cNvSpPr/>
          <p:nvPr>
            <p:ph idx="2" type="sldImg"/>
          </p:nvPr>
        </p:nvSpPr>
        <p:spPr>
          <a:xfrm>
            <a:off x="857422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fa35a6d944_0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g3fa35a6d944_0_257:notes"/>
          <p:cNvSpPr/>
          <p:nvPr>
            <p:ph idx="2" type="sldImg"/>
          </p:nvPr>
        </p:nvSpPr>
        <p:spPr>
          <a:xfrm>
            <a:off x="857422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fa35a6d944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g3fa35a6d944_0_298:notes"/>
          <p:cNvSpPr/>
          <p:nvPr>
            <p:ph idx="2" type="sldImg"/>
          </p:nvPr>
        </p:nvSpPr>
        <p:spPr>
          <a:xfrm>
            <a:off x="857422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fa35a6d944_0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g3fa35a6d944_0_275:notes"/>
          <p:cNvSpPr/>
          <p:nvPr>
            <p:ph idx="2" type="sldImg"/>
          </p:nvPr>
        </p:nvSpPr>
        <p:spPr>
          <a:xfrm>
            <a:off x="857422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fa35a6d944_0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g3fa35a6d944_0_283:notes"/>
          <p:cNvSpPr/>
          <p:nvPr>
            <p:ph idx="2" type="sldImg"/>
          </p:nvPr>
        </p:nvSpPr>
        <p:spPr>
          <a:xfrm>
            <a:off x="857422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fa35a6d944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g3fa35a6d944_0_288:notes"/>
          <p:cNvSpPr/>
          <p:nvPr>
            <p:ph idx="2" type="sldImg"/>
          </p:nvPr>
        </p:nvSpPr>
        <p:spPr>
          <a:xfrm>
            <a:off x="857422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fa35a6d944_0_3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g3fa35a6d944_0_339:notes"/>
          <p:cNvSpPr/>
          <p:nvPr>
            <p:ph idx="2" type="sldImg"/>
          </p:nvPr>
        </p:nvSpPr>
        <p:spPr>
          <a:xfrm>
            <a:off x="857422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fa35a6d944_0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g3fa35a6d944_0_293:notes"/>
          <p:cNvSpPr/>
          <p:nvPr>
            <p:ph idx="2" type="sldImg"/>
          </p:nvPr>
        </p:nvSpPr>
        <p:spPr>
          <a:xfrm>
            <a:off x="857422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fa35a6d944_0_4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g3fa35a6d944_0_424:notes"/>
          <p:cNvSpPr/>
          <p:nvPr>
            <p:ph idx="2" type="sldImg"/>
          </p:nvPr>
        </p:nvSpPr>
        <p:spPr>
          <a:xfrm>
            <a:off x="857422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fa35a6d944_0_4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g3fa35a6d944_0_448:notes"/>
          <p:cNvSpPr/>
          <p:nvPr>
            <p:ph idx="2" type="sldImg"/>
          </p:nvPr>
        </p:nvSpPr>
        <p:spPr>
          <a:xfrm>
            <a:off x="857422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3fa35a6d944_0_4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g3fa35a6d944_0_479:notes"/>
          <p:cNvSpPr/>
          <p:nvPr>
            <p:ph idx="2" type="sldImg"/>
          </p:nvPr>
        </p:nvSpPr>
        <p:spPr>
          <a:xfrm>
            <a:off x="857422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3fa35a6d944_0_4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g3fa35a6d944_0_436:notes"/>
          <p:cNvSpPr/>
          <p:nvPr>
            <p:ph idx="2" type="sldImg"/>
          </p:nvPr>
        </p:nvSpPr>
        <p:spPr>
          <a:xfrm>
            <a:off x="857422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3fa4c5937f3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g3fa4c5937f3_0_59:notes"/>
          <p:cNvSpPr/>
          <p:nvPr>
            <p:ph idx="2" type="sldImg"/>
          </p:nvPr>
        </p:nvSpPr>
        <p:spPr>
          <a:xfrm>
            <a:off x="857422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fa35a6d944_0_5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g3fa35a6d944_0_536:notes"/>
          <p:cNvSpPr/>
          <p:nvPr>
            <p:ph idx="2" type="sldImg"/>
          </p:nvPr>
        </p:nvSpPr>
        <p:spPr>
          <a:xfrm>
            <a:off x="857422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fa4c5937f3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g3fa4c5937f3_0_68:notes"/>
          <p:cNvSpPr/>
          <p:nvPr>
            <p:ph idx="2" type="sldImg"/>
          </p:nvPr>
        </p:nvSpPr>
        <p:spPr>
          <a:xfrm>
            <a:off x="857422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3fa35a6d944_0_5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g3fa35a6d944_0_578:notes"/>
          <p:cNvSpPr/>
          <p:nvPr>
            <p:ph idx="2" type="sldImg"/>
          </p:nvPr>
        </p:nvSpPr>
        <p:spPr>
          <a:xfrm>
            <a:off x="857422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3fa35a6d944_0_5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g3fa35a6d944_0_518:notes"/>
          <p:cNvSpPr/>
          <p:nvPr>
            <p:ph idx="2" type="sldImg"/>
          </p:nvPr>
        </p:nvSpPr>
        <p:spPr>
          <a:xfrm>
            <a:off x="857422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3fa35a6d944_0_5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g3fa35a6d944_0_573:notes"/>
          <p:cNvSpPr/>
          <p:nvPr>
            <p:ph idx="2" type="sldImg"/>
          </p:nvPr>
        </p:nvSpPr>
        <p:spPr>
          <a:xfrm>
            <a:off x="857422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3fa35a6d944_0_5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g3fa35a6d944_0_568:notes"/>
          <p:cNvSpPr/>
          <p:nvPr>
            <p:ph idx="2" type="sldImg"/>
          </p:nvPr>
        </p:nvSpPr>
        <p:spPr>
          <a:xfrm>
            <a:off x="857422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3fa35a6d944_0_6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g3fa35a6d944_0_606:notes"/>
          <p:cNvSpPr/>
          <p:nvPr>
            <p:ph idx="2" type="sldImg"/>
          </p:nvPr>
        </p:nvSpPr>
        <p:spPr>
          <a:xfrm>
            <a:off x="857422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3fa35a6d944_0_6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g3fa35a6d944_0_630:notes"/>
          <p:cNvSpPr/>
          <p:nvPr>
            <p:ph idx="2" type="sldImg"/>
          </p:nvPr>
        </p:nvSpPr>
        <p:spPr>
          <a:xfrm>
            <a:off x="857422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3fa35a6d944_0_6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g3fa35a6d944_0_645:notes"/>
          <p:cNvSpPr/>
          <p:nvPr>
            <p:ph idx="2" type="sldImg"/>
          </p:nvPr>
        </p:nvSpPr>
        <p:spPr>
          <a:xfrm>
            <a:off x="857422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3fa35a6d944_0_6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g3fa35a6d944_0_658:notes"/>
          <p:cNvSpPr/>
          <p:nvPr>
            <p:ph idx="2" type="sldImg"/>
          </p:nvPr>
        </p:nvSpPr>
        <p:spPr>
          <a:xfrm>
            <a:off x="857422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3fa35a6d944_0_6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g3fa35a6d944_0_663:notes"/>
          <p:cNvSpPr/>
          <p:nvPr>
            <p:ph idx="2" type="sldImg"/>
          </p:nvPr>
        </p:nvSpPr>
        <p:spPr>
          <a:xfrm>
            <a:off x="857422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g3fa35a6d944_0_6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g3fa35a6d944_0_692:notes"/>
          <p:cNvSpPr/>
          <p:nvPr>
            <p:ph idx="2" type="sldImg"/>
          </p:nvPr>
        </p:nvSpPr>
        <p:spPr>
          <a:xfrm>
            <a:off x="857422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g3fa35a6d944_0_6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g3fa35a6d944_0_682:notes"/>
          <p:cNvSpPr/>
          <p:nvPr>
            <p:ph idx="2" type="sldImg"/>
          </p:nvPr>
        </p:nvSpPr>
        <p:spPr>
          <a:xfrm>
            <a:off x="857422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3fa35a6d944_0_6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g3fa35a6d944_0_677:notes"/>
          <p:cNvSpPr/>
          <p:nvPr>
            <p:ph idx="2" type="sldImg"/>
          </p:nvPr>
        </p:nvSpPr>
        <p:spPr>
          <a:xfrm>
            <a:off x="857422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4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4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4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4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4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4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4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4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4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4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4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4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5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5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5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5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5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5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5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5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5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5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5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5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5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вичайний 1" type="title">
  <p:cSld name="TITLE">
    <p:bg>
      <p:bgPr>
        <a:solidFill>
          <a:schemeClr val="lt1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g3fa1f53d6d9_0_254"/>
          <p:cNvPicPr preferRelativeResize="0"/>
          <p:nvPr/>
        </p:nvPicPr>
        <p:blipFill rotWithShape="1">
          <a:blip r:embed="rId2">
            <a:alphaModFix/>
          </a:blip>
          <a:srcRect b="0" l="45887" r="0" t="93322"/>
          <a:stretch/>
        </p:blipFill>
        <p:spPr>
          <a:xfrm>
            <a:off x="6064908" y="6400800"/>
            <a:ext cx="6126828" cy="456841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g3fa1f53d6d9_0_254"/>
          <p:cNvPicPr preferRelativeResize="0"/>
          <p:nvPr/>
        </p:nvPicPr>
        <p:blipFill rotWithShape="1">
          <a:blip r:embed="rId2">
            <a:alphaModFix/>
          </a:blip>
          <a:srcRect b="84967" l="0" r="82433" t="0"/>
          <a:stretch/>
        </p:blipFill>
        <p:spPr>
          <a:xfrm>
            <a:off x="0" y="0"/>
            <a:ext cx="1987917" cy="102996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g3fa1f53d6d9_0_254"/>
          <p:cNvSpPr/>
          <p:nvPr/>
        </p:nvSpPr>
        <p:spPr>
          <a:xfrm>
            <a:off x="6175427" y="6502680"/>
            <a:ext cx="53028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8A999"/>
                </a:solidFill>
                <a:latin typeface="Arial"/>
                <a:ea typeface="Arial"/>
                <a:cs typeface="Arial"/>
                <a:sym typeface="Arial"/>
              </a:rPr>
              <a:t>Machine Learning for Bioinformatics · </a:t>
            </a:r>
            <a:r>
              <a:rPr lang="en-US" sz="1300">
                <a:solidFill>
                  <a:srgbClr val="18A999"/>
                </a:solidFill>
              </a:rPr>
              <a:t>Lecture 2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g3fa1f53d6d9_0_254"/>
          <p:cNvSpPr txBox="1"/>
          <p:nvPr>
            <p:ph type="title"/>
          </p:nvPr>
        </p:nvSpPr>
        <p:spPr>
          <a:xfrm>
            <a:off x="415439" y="992880"/>
            <a:ext cx="11360400" cy="2736600"/>
          </a:xfrm>
          <a:prstGeom prst="rect">
            <a:avLst/>
          </a:prstGeom>
          <a:noFill/>
          <a:ln>
            <a:noFill/>
          </a:ln>
        </p:spPr>
        <p:txBody>
          <a:bodyPr anchorCtr="0" anchor="b" bIns="122025" lIns="122025" spcFirstLastPara="1" rIns="122025" wrap="square" tIns="122025">
            <a:norm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  <a:defRPr b="0" i="0" sz="6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6" name="Google Shape;86;g3fa1f53d6d9_0_254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/34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" name="Google Shape;87;g3fa1f53d6d9_0_254"/>
          <p:cNvSpPr txBox="1"/>
          <p:nvPr>
            <p:ph idx="1" type="body"/>
          </p:nvPr>
        </p:nvSpPr>
        <p:spPr>
          <a:xfrm>
            <a:off x="609479" y="1604520"/>
            <a:ext cx="109725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68605" lvl="0" marL="457200" marR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5275" lvl="1" marL="914400" marR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Noto Sans Symbols"/>
              <a:buChar char="−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68605" lvl="2" marL="1371600" marR="0" algn="l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5275" lvl="3" marL="1828800" marR="0" algn="l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Noto Sans Symbols"/>
              <a:buChar char="−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85750" lvl="4" marL="2286000" marR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5750" lvl="5" marL="2743200" marR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85750" lvl="6" marL="3200400" marR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3_1" type="blank">
  <p:cSld name="BLANK">
    <p:bg>
      <p:bgPr>
        <a:solidFill>
          <a:schemeClr val="lt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g3fa1f53d6d9_0_261"/>
          <p:cNvPicPr preferRelativeResize="0"/>
          <p:nvPr/>
        </p:nvPicPr>
        <p:blipFill rotWithShape="1">
          <a:blip r:embed="rId2">
            <a:alphaModFix/>
          </a:blip>
          <a:srcRect b="0" l="45887" r="0" t="93322"/>
          <a:stretch/>
        </p:blipFill>
        <p:spPr>
          <a:xfrm>
            <a:off x="6064908" y="6400800"/>
            <a:ext cx="6126828" cy="456841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g3fa1f53d6d9_0_261"/>
          <p:cNvPicPr preferRelativeResize="0"/>
          <p:nvPr/>
        </p:nvPicPr>
        <p:blipFill rotWithShape="1">
          <a:blip r:embed="rId2">
            <a:alphaModFix/>
          </a:blip>
          <a:srcRect b="84967" l="0" r="82433" t="0"/>
          <a:stretch/>
        </p:blipFill>
        <p:spPr>
          <a:xfrm>
            <a:off x="0" y="0"/>
            <a:ext cx="1987917" cy="102996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g3fa1f53d6d9_0_261"/>
          <p:cNvSpPr/>
          <p:nvPr/>
        </p:nvSpPr>
        <p:spPr>
          <a:xfrm>
            <a:off x="6175427" y="6502680"/>
            <a:ext cx="53028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u="none" strike="noStrike">
                <a:solidFill>
                  <a:srgbClr val="18A999"/>
                </a:solidFill>
                <a:latin typeface="Arial"/>
                <a:ea typeface="Arial"/>
                <a:cs typeface="Arial"/>
                <a:sym typeface="Arial"/>
              </a:rPr>
              <a:t>Machine Learning for Bioinformatics · </a:t>
            </a:r>
            <a:r>
              <a:rPr lang="en-US" sz="1300">
                <a:solidFill>
                  <a:srgbClr val="18A999"/>
                </a:solidFill>
              </a:rPr>
              <a:t>Lecture 2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2" name="Google Shape;92;g3fa1f53d6d9_0_261"/>
          <p:cNvPicPr preferRelativeResize="0"/>
          <p:nvPr/>
        </p:nvPicPr>
        <p:blipFill rotWithShape="1">
          <a:blip r:embed="rId3">
            <a:alphaModFix/>
          </a:blip>
          <a:srcRect b="833" l="84" r="78374" t="82673"/>
          <a:stretch/>
        </p:blipFill>
        <p:spPr>
          <a:xfrm>
            <a:off x="0" y="5727600"/>
            <a:ext cx="2437914" cy="1130039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g3fa1f53d6d9_0_261"/>
          <p:cNvPicPr preferRelativeResize="0"/>
          <p:nvPr/>
        </p:nvPicPr>
        <p:blipFill rotWithShape="1">
          <a:blip r:embed="rId4">
            <a:alphaModFix/>
          </a:blip>
          <a:srcRect b="32032" l="0" r="0" t="36478"/>
          <a:stretch/>
        </p:blipFill>
        <p:spPr>
          <a:xfrm>
            <a:off x="0" y="2502000"/>
            <a:ext cx="12190295" cy="215855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g3fa1f53d6d9_0_261"/>
          <p:cNvSpPr txBox="1"/>
          <p:nvPr>
            <p:ph type="title"/>
          </p:nvPr>
        </p:nvSpPr>
        <p:spPr>
          <a:xfrm>
            <a:off x="1928156" y="2752560"/>
            <a:ext cx="7871400" cy="163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95" name="Google Shape;95;g3fa1f53d6d9_0_261"/>
          <p:cNvSpPr txBox="1"/>
          <p:nvPr>
            <p:ph idx="12" type="sldNum"/>
          </p:nvPr>
        </p:nvSpPr>
        <p:spPr>
          <a:xfrm>
            <a:off x="11409097" y="633312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2025" lIns="122025" spcFirstLastPara="1" rIns="122025" wrap="square" tIns="1220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g3fa1f53d6d9_0_261"/>
          <p:cNvSpPr txBox="1"/>
          <p:nvPr>
            <p:ph idx="1" type="body"/>
          </p:nvPr>
        </p:nvSpPr>
        <p:spPr>
          <a:xfrm>
            <a:off x="609479" y="1604520"/>
            <a:ext cx="109725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68605" lvl="0" marL="457200" marR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5275" lvl="1" marL="914400" marR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Noto Sans Symbols"/>
              <a:buChar char="−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68605" lvl="2" marL="1371600" marR="0" algn="l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5275" lvl="3" marL="1828800" marR="0" algn="l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Noto Sans Symbols"/>
              <a:buChar char="−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85750" lvl="4" marL="2286000" marR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5750" lvl="5" marL="2743200" marR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85750" lvl="6" marL="3200400" marR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_ONLY">
  <p:cSld name="CAPTION_ONLY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g3fa1f53d6d9_0_270"/>
          <p:cNvPicPr preferRelativeResize="0"/>
          <p:nvPr/>
        </p:nvPicPr>
        <p:blipFill rotWithShape="1">
          <a:blip r:embed="rId2">
            <a:alphaModFix/>
          </a:blip>
          <a:srcRect b="0" l="45887" r="0" t="93322"/>
          <a:stretch/>
        </p:blipFill>
        <p:spPr>
          <a:xfrm>
            <a:off x="6064908" y="6400800"/>
            <a:ext cx="6126828" cy="456841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g3fa1f53d6d9_0_270"/>
          <p:cNvPicPr preferRelativeResize="0"/>
          <p:nvPr/>
        </p:nvPicPr>
        <p:blipFill rotWithShape="1">
          <a:blip r:embed="rId2">
            <a:alphaModFix/>
          </a:blip>
          <a:srcRect b="84967" l="0" r="82433" t="0"/>
          <a:stretch/>
        </p:blipFill>
        <p:spPr>
          <a:xfrm>
            <a:off x="0" y="0"/>
            <a:ext cx="1987917" cy="102996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g3fa1f53d6d9_0_270"/>
          <p:cNvSpPr/>
          <p:nvPr/>
        </p:nvSpPr>
        <p:spPr>
          <a:xfrm>
            <a:off x="6175427" y="6502680"/>
            <a:ext cx="53028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u="none" strike="noStrike">
                <a:solidFill>
                  <a:srgbClr val="18A999"/>
                </a:solidFill>
                <a:latin typeface="Arial"/>
                <a:ea typeface="Arial"/>
                <a:cs typeface="Arial"/>
                <a:sym typeface="Arial"/>
              </a:rPr>
              <a:t>Machine Learning for Bioinformatics · </a:t>
            </a:r>
            <a:r>
              <a:rPr lang="en-US" sz="1300">
                <a:solidFill>
                  <a:srgbClr val="18A999"/>
                </a:solidFill>
              </a:rPr>
              <a:t>Lecture 2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g3fa1f53d6d9_0_270"/>
          <p:cNvSpPr txBox="1"/>
          <p:nvPr>
            <p:ph idx="1" type="body"/>
          </p:nvPr>
        </p:nvSpPr>
        <p:spPr>
          <a:xfrm>
            <a:off x="415439" y="5640840"/>
            <a:ext cx="7998000" cy="8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>
            <a:lvl1pPr indent="-297180" lvl="0" marL="457200" marR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/>
        </p:txBody>
      </p:sp>
      <p:sp>
        <p:nvSpPr>
          <p:cNvPr id="102" name="Google Shape;102;g3fa1f53d6d9_0_270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_NUMBER">
  <p:cSld name="BIG_NUMBER">
    <p:bg>
      <p:bgPr>
        <a:solidFill>
          <a:schemeClr val="l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g3fa1f53d6d9_0_276"/>
          <p:cNvPicPr preferRelativeResize="0"/>
          <p:nvPr/>
        </p:nvPicPr>
        <p:blipFill rotWithShape="1">
          <a:blip r:embed="rId2">
            <a:alphaModFix/>
          </a:blip>
          <a:srcRect b="0" l="45887" r="0" t="93322"/>
          <a:stretch/>
        </p:blipFill>
        <p:spPr>
          <a:xfrm>
            <a:off x="6064908" y="6400800"/>
            <a:ext cx="6126828" cy="4568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g3fa1f53d6d9_0_276"/>
          <p:cNvPicPr preferRelativeResize="0"/>
          <p:nvPr/>
        </p:nvPicPr>
        <p:blipFill rotWithShape="1">
          <a:blip r:embed="rId2">
            <a:alphaModFix/>
          </a:blip>
          <a:srcRect b="84967" l="0" r="82433" t="0"/>
          <a:stretch/>
        </p:blipFill>
        <p:spPr>
          <a:xfrm>
            <a:off x="0" y="0"/>
            <a:ext cx="1987917" cy="102996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g3fa1f53d6d9_0_276"/>
          <p:cNvSpPr/>
          <p:nvPr/>
        </p:nvSpPr>
        <p:spPr>
          <a:xfrm>
            <a:off x="6175427" y="6502680"/>
            <a:ext cx="53028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u="none" strike="noStrike">
                <a:solidFill>
                  <a:srgbClr val="18A999"/>
                </a:solidFill>
                <a:latin typeface="Arial"/>
                <a:ea typeface="Arial"/>
                <a:cs typeface="Arial"/>
                <a:sym typeface="Arial"/>
              </a:rPr>
              <a:t>Machine Learning for Bioinformatics · </a:t>
            </a:r>
            <a:r>
              <a:rPr lang="en-US" sz="1300">
                <a:solidFill>
                  <a:srgbClr val="18A999"/>
                </a:solidFill>
              </a:rPr>
              <a:t>Lecture 2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g3fa1f53d6d9_0_276"/>
          <p:cNvSpPr txBox="1"/>
          <p:nvPr>
            <p:ph hasCustomPrompt="1" type="title"/>
          </p:nvPr>
        </p:nvSpPr>
        <p:spPr>
          <a:xfrm>
            <a:off x="415439" y="1474920"/>
            <a:ext cx="11360400" cy="2617800"/>
          </a:xfrm>
          <a:prstGeom prst="rect">
            <a:avLst/>
          </a:prstGeom>
          <a:noFill/>
          <a:ln>
            <a:noFill/>
          </a:ln>
        </p:spPr>
        <p:txBody>
          <a:bodyPr anchorCtr="0" anchor="b" bIns="122025" lIns="122025" spcFirstLastPara="1" rIns="122025" wrap="square" tIns="122025">
            <a:norm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0"/>
              <a:buFont typeface="Arial"/>
              <a:buNone/>
              <a:defRPr b="0" i="0" sz="16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>
            <a:r>
              <a:t>xx%</a:t>
            </a:r>
          </a:p>
        </p:txBody>
      </p:sp>
      <p:sp>
        <p:nvSpPr>
          <p:cNvPr id="108" name="Google Shape;108;g3fa1f53d6d9_0_276"/>
          <p:cNvSpPr txBox="1"/>
          <p:nvPr>
            <p:ph idx="1" type="body"/>
          </p:nvPr>
        </p:nvSpPr>
        <p:spPr>
          <a:xfrm>
            <a:off x="415439" y="4203000"/>
            <a:ext cx="11360400" cy="17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2025" lIns="122025" spcFirstLastPara="1" rIns="122025" wrap="square" tIns="122025">
            <a:normAutofit/>
          </a:bodyPr>
          <a:lstStyle>
            <a:lvl1pPr indent="-297180" lvl="0" marL="457200" marR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7180" lvl="2" marL="1371600" marR="0" algn="l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algn="l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7180" lvl="4" marL="2286000" marR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7180" lvl="5" marL="2743200" marR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7180" lvl="6" marL="3200400" marR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09" name="Google Shape;109;g3fa1f53d6d9_0_276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mple-light-2">
  <p:cSld name="simple-light-2">
    <p:bg>
      <p:bgPr>
        <a:solidFill>
          <a:schemeClr val="lt1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g3fa1f53d6d9_0_283"/>
          <p:cNvPicPr preferRelativeResize="0"/>
          <p:nvPr/>
        </p:nvPicPr>
        <p:blipFill rotWithShape="1">
          <a:blip r:embed="rId2">
            <a:alphaModFix/>
          </a:blip>
          <a:srcRect b="0" l="45887" r="0" t="93322"/>
          <a:stretch/>
        </p:blipFill>
        <p:spPr>
          <a:xfrm>
            <a:off x="6064908" y="6400800"/>
            <a:ext cx="6126828" cy="4568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g3fa1f53d6d9_0_283"/>
          <p:cNvPicPr preferRelativeResize="0"/>
          <p:nvPr/>
        </p:nvPicPr>
        <p:blipFill rotWithShape="1">
          <a:blip r:embed="rId2">
            <a:alphaModFix/>
          </a:blip>
          <a:srcRect b="84967" l="0" r="82433" t="0"/>
          <a:stretch/>
        </p:blipFill>
        <p:spPr>
          <a:xfrm>
            <a:off x="0" y="0"/>
            <a:ext cx="1987917" cy="102996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g3fa1f53d6d9_0_283"/>
          <p:cNvSpPr/>
          <p:nvPr/>
        </p:nvSpPr>
        <p:spPr>
          <a:xfrm>
            <a:off x="6175427" y="6502680"/>
            <a:ext cx="53028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u="none" strike="noStrike">
                <a:solidFill>
                  <a:srgbClr val="18A999"/>
                </a:solidFill>
                <a:latin typeface="Arial"/>
                <a:ea typeface="Arial"/>
                <a:cs typeface="Arial"/>
                <a:sym typeface="Arial"/>
              </a:rPr>
              <a:t>Machine Learning for Bioinformatics · </a:t>
            </a:r>
            <a:r>
              <a:rPr lang="en-US" sz="1300">
                <a:solidFill>
                  <a:srgbClr val="18A999"/>
                </a:solidFill>
              </a:rPr>
              <a:t>Lecture 2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g3fa1f53d6d9_0_283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вичайний" type="obj">
  <p:cSld name="OBJECT">
    <p:bg>
      <p:bgPr>
        <a:solidFill>
          <a:schemeClr val="lt1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g3fa1f53d6d9_0_288"/>
          <p:cNvPicPr preferRelativeResize="0"/>
          <p:nvPr/>
        </p:nvPicPr>
        <p:blipFill rotWithShape="1">
          <a:blip r:embed="rId2">
            <a:alphaModFix/>
          </a:blip>
          <a:srcRect b="0" l="45887" r="0" t="93322"/>
          <a:stretch/>
        </p:blipFill>
        <p:spPr>
          <a:xfrm>
            <a:off x="6064908" y="6400800"/>
            <a:ext cx="6126828" cy="4568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g3fa1f53d6d9_0_288"/>
          <p:cNvPicPr preferRelativeResize="0"/>
          <p:nvPr/>
        </p:nvPicPr>
        <p:blipFill rotWithShape="1">
          <a:blip r:embed="rId2">
            <a:alphaModFix/>
          </a:blip>
          <a:srcRect b="84967" l="0" r="82433" t="0"/>
          <a:stretch/>
        </p:blipFill>
        <p:spPr>
          <a:xfrm>
            <a:off x="0" y="0"/>
            <a:ext cx="1987917" cy="102996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g3fa1f53d6d9_0_288"/>
          <p:cNvSpPr/>
          <p:nvPr/>
        </p:nvSpPr>
        <p:spPr>
          <a:xfrm>
            <a:off x="6175427" y="6502680"/>
            <a:ext cx="53028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u="none" strike="noStrike">
                <a:solidFill>
                  <a:srgbClr val="18A999"/>
                </a:solidFill>
                <a:latin typeface="Arial"/>
                <a:ea typeface="Arial"/>
                <a:cs typeface="Arial"/>
                <a:sym typeface="Arial"/>
              </a:rPr>
              <a:t>Machine Learning for Bioinformatics · </a:t>
            </a:r>
            <a:r>
              <a:rPr lang="en-US" sz="1300">
                <a:solidFill>
                  <a:srgbClr val="18A999"/>
                </a:solidFill>
              </a:rPr>
              <a:t>Lecture 2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g3fa1f53d6d9_0_288"/>
          <p:cNvSpPr txBox="1"/>
          <p:nvPr>
            <p:ph type="title"/>
          </p:nvPr>
        </p:nvSpPr>
        <p:spPr>
          <a:xfrm>
            <a:off x="838078" y="365040"/>
            <a:ext cx="10515300" cy="132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  <a:defRPr b="0" i="0" sz="3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0" name="Google Shape;120;g3fa1f53d6d9_0_288"/>
          <p:cNvSpPr txBox="1"/>
          <p:nvPr>
            <p:ph idx="1" type="body"/>
          </p:nvPr>
        </p:nvSpPr>
        <p:spPr>
          <a:xfrm>
            <a:off x="838078" y="1825560"/>
            <a:ext cx="10515300" cy="43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97180" lvl="0" marL="457200" marR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7180" lvl="2" marL="1371600" marR="0" algn="l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algn="l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7180" lvl="4" marL="2286000" marR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7180" lvl="5" marL="2743200" marR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7180" lvl="6" marL="3200400" marR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1" name="Google Shape;121;g3fa1f53d6d9_0_288"/>
          <p:cNvSpPr txBox="1"/>
          <p:nvPr>
            <p:ph idx="10" type="dt"/>
          </p:nvPr>
        </p:nvSpPr>
        <p:spPr>
          <a:xfrm>
            <a:off x="838078" y="6356520"/>
            <a:ext cx="27429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2" name="Google Shape;122;g3fa1f53d6d9_0_288"/>
          <p:cNvSpPr txBox="1"/>
          <p:nvPr>
            <p:ph idx="11" type="ftr"/>
          </p:nvPr>
        </p:nvSpPr>
        <p:spPr>
          <a:xfrm>
            <a:off x="4038472" y="6356520"/>
            <a:ext cx="41145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3" name="Google Shape;123;g3fa1f53d6d9_0_288"/>
          <p:cNvSpPr txBox="1"/>
          <p:nvPr>
            <p:ph idx="12" type="sldNum"/>
          </p:nvPr>
        </p:nvSpPr>
        <p:spPr>
          <a:xfrm>
            <a:off x="8610462" y="6356520"/>
            <a:ext cx="27429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Calibri"/>
              <a:buNone/>
              <a:defRPr b="0" sz="1200" u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Calibri"/>
              <a:buNone/>
              <a:defRPr b="0" sz="1200" u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Calibri"/>
              <a:buNone/>
              <a:defRPr b="0" sz="1200" u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Calibri"/>
              <a:buNone/>
              <a:defRPr b="0" sz="1200" u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Calibri"/>
              <a:buNone/>
              <a:defRPr b="0" sz="1200" u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Calibri"/>
              <a:buNone/>
              <a:defRPr b="0" sz="1200" u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Calibri"/>
              <a:buNone/>
              <a:defRPr b="0" sz="1200" u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Calibri"/>
              <a:buNone/>
              <a:defRPr b="0" sz="1200" u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Calibri"/>
              <a:buNone/>
              <a:defRPr b="0" sz="1200" u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вичайний 2">
  <p:cSld name="Звичайний 2">
    <p:bg>
      <p:bgPr>
        <a:solidFill>
          <a:schemeClr val="lt1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g3fa1f53d6d9_0_297"/>
          <p:cNvPicPr preferRelativeResize="0"/>
          <p:nvPr/>
        </p:nvPicPr>
        <p:blipFill rotWithShape="1">
          <a:blip r:embed="rId2">
            <a:alphaModFix/>
          </a:blip>
          <a:srcRect b="0" l="45887" r="0" t="93322"/>
          <a:stretch/>
        </p:blipFill>
        <p:spPr>
          <a:xfrm>
            <a:off x="6064908" y="6400800"/>
            <a:ext cx="6126828" cy="4568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g3fa1f53d6d9_0_297"/>
          <p:cNvPicPr preferRelativeResize="0"/>
          <p:nvPr/>
        </p:nvPicPr>
        <p:blipFill rotWithShape="1">
          <a:blip r:embed="rId2">
            <a:alphaModFix/>
          </a:blip>
          <a:srcRect b="84967" l="0" r="82433" t="0"/>
          <a:stretch/>
        </p:blipFill>
        <p:spPr>
          <a:xfrm>
            <a:off x="0" y="0"/>
            <a:ext cx="1987917" cy="102996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g3fa1f53d6d9_0_297"/>
          <p:cNvSpPr/>
          <p:nvPr/>
        </p:nvSpPr>
        <p:spPr>
          <a:xfrm>
            <a:off x="6175427" y="6502680"/>
            <a:ext cx="53028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u="none" strike="noStrike">
                <a:solidFill>
                  <a:srgbClr val="18A999"/>
                </a:solidFill>
                <a:latin typeface="Arial"/>
                <a:ea typeface="Arial"/>
                <a:cs typeface="Arial"/>
                <a:sym typeface="Arial"/>
              </a:rPr>
              <a:t>Machine Learning for Bioinformatics · </a:t>
            </a:r>
            <a:r>
              <a:rPr lang="en-US" sz="1300">
                <a:solidFill>
                  <a:srgbClr val="18A999"/>
                </a:solidFill>
              </a:rPr>
              <a:t>Lecture 2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g3fa1f53d6d9_0_297"/>
          <p:cNvSpPr txBox="1"/>
          <p:nvPr>
            <p:ph type="title"/>
          </p:nvPr>
        </p:nvSpPr>
        <p:spPr>
          <a:xfrm>
            <a:off x="415439" y="2867760"/>
            <a:ext cx="11360400" cy="11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9" name="Google Shape;129;g3fa1f53d6d9_0_297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" type="tx">
  <p:cSld name="TITLE_AND_BODY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g3fa1f53d6d9_0_303"/>
          <p:cNvPicPr preferRelativeResize="0"/>
          <p:nvPr/>
        </p:nvPicPr>
        <p:blipFill rotWithShape="1">
          <a:blip r:embed="rId2">
            <a:alphaModFix/>
          </a:blip>
          <a:srcRect b="0" l="45887" r="0" t="93322"/>
          <a:stretch/>
        </p:blipFill>
        <p:spPr>
          <a:xfrm>
            <a:off x="6064908" y="6400800"/>
            <a:ext cx="6126828" cy="4568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g3fa1f53d6d9_0_303"/>
          <p:cNvPicPr preferRelativeResize="0"/>
          <p:nvPr/>
        </p:nvPicPr>
        <p:blipFill rotWithShape="1">
          <a:blip r:embed="rId2">
            <a:alphaModFix/>
          </a:blip>
          <a:srcRect b="84967" l="0" r="82433" t="0"/>
          <a:stretch/>
        </p:blipFill>
        <p:spPr>
          <a:xfrm>
            <a:off x="0" y="0"/>
            <a:ext cx="1987917" cy="102996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g3fa1f53d6d9_0_303"/>
          <p:cNvSpPr/>
          <p:nvPr/>
        </p:nvSpPr>
        <p:spPr>
          <a:xfrm>
            <a:off x="6175427" y="6502680"/>
            <a:ext cx="53028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u="none" strike="noStrike">
                <a:solidFill>
                  <a:srgbClr val="18A999"/>
                </a:solidFill>
                <a:latin typeface="Arial"/>
                <a:ea typeface="Arial"/>
                <a:cs typeface="Arial"/>
                <a:sym typeface="Arial"/>
              </a:rPr>
              <a:t>Machine Learning for Bioinformatics · </a:t>
            </a:r>
            <a:r>
              <a:rPr lang="en-US" sz="1300">
                <a:solidFill>
                  <a:srgbClr val="18A999"/>
                </a:solidFill>
              </a:rPr>
              <a:t>Lecture 2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g3fa1f53d6d9_0_303"/>
          <p:cNvSpPr txBox="1"/>
          <p:nvPr>
            <p:ph type="title"/>
          </p:nvPr>
        </p:nvSpPr>
        <p:spPr>
          <a:xfrm>
            <a:off x="415439" y="593280"/>
            <a:ext cx="11360400" cy="7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2025" lIns="122025" spcFirstLastPara="1" rIns="122025" wrap="square" tIns="122025">
            <a:norm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  <a:defRPr b="0" i="0" sz="3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35" name="Google Shape;135;g3fa1f53d6d9_0_303"/>
          <p:cNvSpPr txBox="1"/>
          <p:nvPr>
            <p:ph idx="1" type="body"/>
          </p:nvPr>
        </p:nvSpPr>
        <p:spPr>
          <a:xfrm>
            <a:off x="415439" y="1536480"/>
            <a:ext cx="11360400" cy="45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2025" lIns="122025" spcFirstLastPara="1" rIns="122025" wrap="square" tIns="122025">
            <a:normAutofit/>
          </a:bodyPr>
          <a:lstStyle>
            <a:lvl1pPr indent="-297180" lvl="0" marL="457200" marR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7180" lvl="2" marL="1371600" marR="0" algn="l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algn="l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7180" lvl="4" marL="2286000" marR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7180" lvl="5" marL="2743200" marR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7180" lvl="6" marL="3200400" marR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36" name="Google Shape;136;g3fa1f53d6d9_0_303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TWO_COLUMNS" type="twoObj">
  <p:cSld name="TWO_OBJECTS">
    <p:bg>
      <p:bgPr>
        <a:solidFill>
          <a:schemeClr val="lt1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g3fa1f53d6d9_0_310"/>
          <p:cNvPicPr preferRelativeResize="0"/>
          <p:nvPr/>
        </p:nvPicPr>
        <p:blipFill rotWithShape="1">
          <a:blip r:embed="rId2">
            <a:alphaModFix/>
          </a:blip>
          <a:srcRect b="0" l="45887" r="0" t="93322"/>
          <a:stretch/>
        </p:blipFill>
        <p:spPr>
          <a:xfrm>
            <a:off x="6064908" y="6400800"/>
            <a:ext cx="6126828" cy="4568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g3fa1f53d6d9_0_310"/>
          <p:cNvPicPr preferRelativeResize="0"/>
          <p:nvPr/>
        </p:nvPicPr>
        <p:blipFill rotWithShape="1">
          <a:blip r:embed="rId2">
            <a:alphaModFix/>
          </a:blip>
          <a:srcRect b="84967" l="0" r="82433" t="0"/>
          <a:stretch/>
        </p:blipFill>
        <p:spPr>
          <a:xfrm>
            <a:off x="0" y="0"/>
            <a:ext cx="1987917" cy="102996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g3fa1f53d6d9_0_310"/>
          <p:cNvSpPr/>
          <p:nvPr/>
        </p:nvSpPr>
        <p:spPr>
          <a:xfrm>
            <a:off x="6175427" y="6502680"/>
            <a:ext cx="53028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u="none" strike="noStrike">
                <a:solidFill>
                  <a:srgbClr val="18A999"/>
                </a:solidFill>
                <a:latin typeface="Arial"/>
                <a:ea typeface="Arial"/>
                <a:cs typeface="Arial"/>
                <a:sym typeface="Arial"/>
              </a:rPr>
              <a:t>Machine Learning for Bioinformatics · </a:t>
            </a:r>
            <a:r>
              <a:rPr lang="en-US" sz="1300">
                <a:solidFill>
                  <a:srgbClr val="18A999"/>
                </a:solidFill>
              </a:rPr>
              <a:t>Lecture 2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g3fa1f53d6d9_0_310"/>
          <p:cNvSpPr txBox="1"/>
          <p:nvPr>
            <p:ph type="title"/>
          </p:nvPr>
        </p:nvSpPr>
        <p:spPr>
          <a:xfrm>
            <a:off x="415439" y="593280"/>
            <a:ext cx="11360400" cy="7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2025" lIns="122025" spcFirstLastPara="1" rIns="122025" wrap="square" tIns="122025">
            <a:norm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  <a:defRPr b="0" i="0" sz="3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42" name="Google Shape;142;g3fa1f53d6d9_0_310"/>
          <p:cNvSpPr txBox="1"/>
          <p:nvPr>
            <p:ph idx="1" type="body"/>
          </p:nvPr>
        </p:nvSpPr>
        <p:spPr>
          <a:xfrm>
            <a:off x="415439" y="1536480"/>
            <a:ext cx="5332800" cy="45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2025" lIns="122025" spcFirstLastPara="1" rIns="122025" wrap="square" tIns="122025">
            <a:normAutofit/>
          </a:bodyPr>
          <a:lstStyle>
            <a:lvl1pPr indent="-282893" lvl="0" marL="457200" marR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855"/>
              <a:buFont typeface="Noto Sans Symbols"/>
              <a:buChar char="●"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9088" lvl="1" marL="914400" marR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Noto Sans Symbols"/>
              <a:buChar char="−"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82893" lvl="2" marL="1371600" marR="0" algn="l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855"/>
              <a:buFont typeface="Noto Sans Symbols"/>
              <a:buChar char="●"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9088" lvl="3" marL="1828800" marR="0" algn="l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Noto Sans Symbols"/>
              <a:buChar char="−"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82892" lvl="4" marL="2286000" marR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55"/>
              <a:buFont typeface="Noto Sans Symbols"/>
              <a:buChar char="●"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2892" lvl="5" marL="2743200" marR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55"/>
              <a:buFont typeface="Noto Sans Symbols"/>
              <a:buChar char="●"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82892" lvl="6" marL="3200400" marR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55"/>
              <a:buFont typeface="Noto Sans Symbols"/>
              <a:buChar char="●"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43" name="Google Shape;143;g3fa1f53d6d9_0_310"/>
          <p:cNvSpPr txBox="1"/>
          <p:nvPr>
            <p:ph idx="2" type="body"/>
          </p:nvPr>
        </p:nvSpPr>
        <p:spPr>
          <a:xfrm>
            <a:off x="6443267" y="1536480"/>
            <a:ext cx="5332800" cy="45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2025" lIns="122025" spcFirstLastPara="1" rIns="122025" wrap="square" tIns="122025">
            <a:normAutofit/>
          </a:bodyPr>
          <a:lstStyle>
            <a:lvl1pPr indent="-282893" lvl="0" marL="457200" marR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855"/>
              <a:buFont typeface="Noto Sans Symbols"/>
              <a:buChar char="●"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9088" lvl="1" marL="914400" marR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Noto Sans Symbols"/>
              <a:buChar char="−"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82893" lvl="2" marL="1371600" marR="0" algn="l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855"/>
              <a:buFont typeface="Noto Sans Symbols"/>
              <a:buChar char="●"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9088" lvl="3" marL="1828800" marR="0" algn="l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Noto Sans Symbols"/>
              <a:buChar char="−"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82892" lvl="4" marL="2286000" marR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55"/>
              <a:buFont typeface="Noto Sans Symbols"/>
              <a:buChar char="●"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2892" lvl="5" marL="2743200" marR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55"/>
              <a:buFont typeface="Noto Sans Symbols"/>
              <a:buChar char="●"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82892" lvl="6" marL="3200400" marR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55"/>
              <a:buFont typeface="Noto Sans Symbols"/>
              <a:buChar char="●"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44" name="Google Shape;144;g3fa1f53d6d9_0_310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вичайний 3" type="titleOnly">
  <p:cSld name="TITLE_ONLY">
    <p:bg>
      <p:bgPr>
        <a:solidFill>
          <a:schemeClr val="lt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g3fa1f53d6d9_0_318"/>
          <p:cNvPicPr preferRelativeResize="0"/>
          <p:nvPr/>
        </p:nvPicPr>
        <p:blipFill rotWithShape="1">
          <a:blip r:embed="rId2">
            <a:alphaModFix/>
          </a:blip>
          <a:srcRect b="0" l="45887" r="0" t="93322"/>
          <a:stretch/>
        </p:blipFill>
        <p:spPr>
          <a:xfrm>
            <a:off x="6064908" y="6400800"/>
            <a:ext cx="6126828" cy="4568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g3fa1f53d6d9_0_318"/>
          <p:cNvPicPr preferRelativeResize="0"/>
          <p:nvPr/>
        </p:nvPicPr>
        <p:blipFill rotWithShape="1">
          <a:blip r:embed="rId2">
            <a:alphaModFix/>
          </a:blip>
          <a:srcRect b="84967" l="0" r="82433" t="0"/>
          <a:stretch/>
        </p:blipFill>
        <p:spPr>
          <a:xfrm>
            <a:off x="0" y="0"/>
            <a:ext cx="1987917" cy="102996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g3fa1f53d6d9_0_318"/>
          <p:cNvSpPr/>
          <p:nvPr/>
        </p:nvSpPr>
        <p:spPr>
          <a:xfrm>
            <a:off x="6175427" y="6502680"/>
            <a:ext cx="53028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u="none" strike="noStrike">
                <a:solidFill>
                  <a:srgbClr val="18A999"/>
                </a:solidFill>
                <a:latin typeface="Arial"/>
                <a:ea typeface="Arial"/>
                <a:cs typeface="Arial"/>
                <a:sym typeface="Arial"/>
              </a:rPr>
              <a:t>Machine Learning for Bioinformatics · </a:t>
            </a:r>
            <a:r>
              <a:rPr lang="en-US" sz="1300">
                <a:solidFill>
                  <a:srgbClr val="18A999"/>
                </a:solidFill>
              </a:rPr>
              <a:t>Lecture 2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fa1f53d6d9_0_318"/>
          <p:cNvSpPr txBox="1"/>
          <p:nvPr>
            <p:ph type="title"/>
          </p:nvPr>
        </p:nvSpPr>
        <p:spPr>
          <a:xfrm>
            <a:off x="415439" y="593280"/>
            <a:ext cx="11360400" cy="7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2025" lIns="122025" spcFirstLastPara="1" rIns="122025" wrap="square" tIns="122025">
            <a:norm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  <a:defRPr b="0" i="0" sz="3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50" name="Google Shape;150;g3fa1f53d6d9_0_318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_COLUMN_TEXT">
  <p:cSld name="ONE_COLUMN_TEXT">
    <p:bg>
      <p:bgPr>
        <a:solidFill>
          <a:schemeClr val="lt1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g3fa1f53d6d9_0_324"/>
          <p:cNvPicPr preferRelativeResize="0"/>
          <p:nvPr/>
        </p:nvPicPr>
        <p:blipFill rotWithShape="1">
          <a:blip r:embed="rId2">
            <a:alphaModFix/>
          </a:blip>
          <a:srcRect b="0" l="45887" r="0" t="93322"/>
          <a:stretch/>
        </p:blipFill>
        <p:spPr>
          <a:xfrm>
            <a:off x="6064908" y="6400800"/>
            <a:ext cx="6126828" cy="4568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g3fa1f53d6d9_0_324"/>
          <p:cNvPicPr preferRelativeResize="0"/>
          <p:nvPr/>
        </p:nvPicPr>
        <p:blipFill rotWithShape="1">
          <a:blip r:embed="rId2">
            <a:alphaModFix/>
          </a:blip>
          <a:srcRect b="84967" l="0" r="82433" t="0"/>
          <a:stretch/>
        </p:blipFill>
        <p:spPr>
          <a:xfrm>
            <a:off x="0" y="0"/>
            <a:ext cx="1987917" cy="102996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g3fa1f53d6d9_0_324"/>
          <p:cNvSpPr/>
          <p:nvPr/>
        </p:nvSpPr>
        <p:spPr>
          <a:xfrm>
            <a:off x="6175427" y="6502680"/>
            <a:ext cx="53028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u="none" strike="noStrike">
                <a:solidFill>
                  <a:srgbClr val="18A999"/>
                </a:solidFill>
                <a:latin typeface="Arial"/>
                <a:ea typeface="Arial"/>
                <a:cs typeface="Arial"/>
                <a:sym typeface="Arial"/>
              </a:rPr>
              <a:t>Machine Learning for Bioinformatics · </a:t>
            </a:r>
            <a:r>
              <a:rPr lang="en-US" sz="1300">
                <a:solidFill>
                  <a:srgbClr val="18A999"/>
                </a:solidFill>
              </a:rPr>
              <a:t>Lecture 2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g3fa1f53d6d9_0_324"/>
          <p:cNvSpPr txBox="1"/>
          <p:nvPr>
            <p:ph type="title"/>
          </p:nvPr>
        </p:nvSpPr>
        <p:spPr>
          <a:xfrm>
            <a:off x="415439" y="740880"/>
            <a:ext cx="3743700" cy="1007400"/>
          </a:xfrm>
          <a:prstGeom prst="rect">
            <a:avLst/>
          </a:prstGeom>
          <a:noFill/>
          <a:ln>
            <a:noFill/>
          </a:ln>
        </p:spPr>
        <p:txBody>
          <a:bodyPr anchorCtr="0" anchor="b" bIns="122025" lIns="122025" spcFirstLastPara="1" rIns="122025" wrap="square" tIns="122025">
            <a:norm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56" name="Google Shape;156;g3fa1f53d6d9_0_324"/>
          <p:cNvSpPr txBox="1"/>
          <p:nvPr>
            <p:ph idx="1" type="body"/>
          </p:nvPr>
        </p:nvSpPr>
        <p:spPr>
          <a:xfrm>
            <a:off x="415439" y="1852920"/>
            <a:ext cx="3743700" cy="42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2025" lIns="122025" spcFirstLastPara="1" rIns="122025" wrap="square" tIns="122025">
            <a:normAutofit/>
          </a:bodyPr>
          <a:lstStyle>
            <a:lvl1pPr indent="-274320" lvl="0" marL="457200" marR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720"/>
              <a:buFont typeface="Noto Sans Symbols"/>
              <a:buChar char="●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−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4320" lvl="2" marL="1371600" marR="0" algn="l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Noto Sans Symbols"/>
              <a:buChar char="●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algn="l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−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4320" lvl="4" marL="2286000" marR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720"/>
              <a:buFont typeface="Noto Sans Symbols"/>
              <a:buChar char="●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74320" lvl="5" marL="2743200" marR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720"/>
              <a:buFont typeface="Noto Sans Symbols"/>
              <a:buChar char="●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4320" lvl="6" marL="3200400" marR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720"/>
              <a:buFont typeface="Noto Sans Symbols"/>
              <a:buChar char="●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57" name="Google Shape;157;g3fa1f53d6d9_0_324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_POINT">
  <p:cSld name="MAIN_POINT">
    <p:bg>
      <p:bgPr>
        <a:solidFill>
          <a:schemeClr val="lt1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g3fa1f53d6d9_0_331"/>
          <p:cNvPicPr preferRelativeResize="0"/>
          <p:nvPr/>
        </p:nvPicPr>
        <p:blipFill rotWithShape="1">
          <a:blip r:embed="rId2">
            <a:alphaModFix/>
          </a:blip>
          <a:srcRect b="0" l="45887" r="0" t="93322"/>
          <a:stretch/>
        </p:blipFill>
        <p:spPr>
          <a:xfrm>
            <a:off x="6064908" y="6400800"/>
            <a:ext cx="6126828" cy="4568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g3fa1f53d6d9_0_331"/>
          <p:cNvPicPr preferRelativeResize="0"/>
          <p:nvPr/>
        </p:nvPicPr>
        <p:blipFill rotWithShape="1">
          <a:blip r:embed="rId2">
            <a:alphaModFix/>
          </a:blip>
          <a:srcRect b="84967" l="0" r="82433" t="0"/>
          <a:stretch/>
        </p:blipFill>
        <p:spPr>
          <a:xfrm>
            <a:off x="0" y="0"/>
            <a:ext cx="1987917" cy="102996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g3fa1f53d6d9_0_331"/>
          <p:cNvSpPr/>
          <p:nvPr/>
        </p:nvSpPr>
        <p:spPr>
          <a:xfrm>
            <a:off x="6175427" y="6502680"/>
            <a:ext cx="53028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u="none" strike="noStrike">
                <a:solidFill>
                  <a:srgbClr val="18A999"/>
                </a:solidFill>
                <a:latin typeface="Arial"/>
                <a:ea typeface="Arial"/>
                <a:cs typeface="Arial"/>
                <a:sym typeface="Arial"/>
              </a:rPr>
              <a:t>Machine Learning for Bioinformatics · </a:t>
            </a:r>
            <a:r>
              <a:rPr lang="en-US" sz="1300">
                <a:solidFill>
                  <a:srgbClr val="18A999"/>
                </a:solidFill>
              </a:rPr>
              <a:t>Lecture 2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g3fa1f53d6d9_0_331"/>
          <p:cNvSpPr txBox="1"/>
          <p:nvPr>
            <p:ph type="title"/>
          </p:nvPr>
        </p:nvSpPr>
        <p:spPr>
          <a:xfrm>
            <a:off x="653759" y="600120"/>
            <a:ext cx="8490000" cy="54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  <a:defRPr b="0" i="0" sz="6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63" name="Google Shape;163;g3fa1f53d6d9_0_331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TITLE_AND_DESCRIPTION">
  <p:cSld name="SECTION_TITLE_AND_DESCRIPTION">
    <p:bg>
      <p:bgPr>
        <a:solidFill>
          <a:schemeClr val="lt1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g3fa1f53d6d9_0_337"/>
          <p:cNvPicPr preferRelativeResize="0"/>
          <p:nvPr/>
        </p:nvPicPr>
        <p:blipFill rotWithShape="1">
          <a:blip r:embed="rId2">
            <a:alphaModFix/>
          </a:blip>
          <a:srcRect b="0" l="45887" r="0" t="93322"/>
          <a:stretch/>
        </p:blipFill>
        <p:spPr>
          <a:xfrm>
            <a:off x="6064908" y="6400800"/>
            <a:ext cx="6126828" cy="4568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g3fa1f53d6d9_0_337"/>
          <p:cNvPicPr preferRelativeResize="0"/>
          <p:nvPr/>
        </p:nvPicPr>
        <p:blipFill rotWithShape="1">
          <a:blip r:embed="rId2">
            <a:alphaModFix/>
          </a:blip>
          <a:srcRect b="84967" l="0" r="82433" t="0"/>
          <a:stretch/>
        </p:blipFill>
        <p:spPr>
          <a:xfrm>
            <a:off x="0" y="0"/>
            <a:ext cx="1987917" cy="102996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g3fa1f53d6d9_0_337"/>
          <p:cNvSpPr/>
          <p:nvPr/>
        </p:nvSpPr>
        <p:spPr>
          <a:xfrm>
            <a:off x="6175427" y="6502680"/>
            <a:ext cx="53028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u="none" strike="noStrike">
                <a:solidFill>
                  <a:srgbClr val="18A999"/>
                </a:solidFill>
                <a:latin typeface="Arial"/>
                <a:ea typeface="Arial"/>
                <a:cs typeface="Arial"/>
                <a:sym typeface="Arial"/>
              </a:rPr>
              <a:t>Machine Learning for Bioinformatics · </a:t>
            </a:r>
            <a:r>
              <a:rPr lang="en-US" sz="1300">
                <a:solidFill>
                  <a:srgbClr val="18A999"/>
                </a:solidFill>
              </a:rPr>
              <a:t>Lecture 2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g3fa1f53d6d9_0_337"/>
          <p:cNvSpPr/>
          <p:nvPr/>
        </p:nvSpPr>
        <p:spPr>
          <a:xfrm>
            <a:off x="6095868" y="0"/>
            <a:ext cx="6095400" cy="6857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2025" lIns="122025" spcFirstLastPara="1" rIns="122025" wrap="square" tIns="1220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g3fa1f53d6d9_0_337"/>
          <p:cNvSpPr txBox="1"/>
          <p:nvPr>
            <p:ph type="title"/>
          </p:nvPr>
        </p:nvSpPr>
        <p:spPr>
          <a:xfrm>
            <a:off x="353879" y="1644120"/>
            <a:ext cx="5393400" cy="1976100"/>
          </a:xfrm>
          <a:prstGeom prst="rect">
            <a:avLst/>
          </a:prstGeom>
          <a:noFill/>
          <a:ln>
            <a:noFill/>
          </a:ln>
        </p:spPr>
        <p:txBody>
          <a:bodyPr anchorCtr="0" anchor="b" bIns="122025" lIns="122025" spcFirstLastPara="1" rIns="122025" wrap="square" tIns="122025">
            <a:norm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  <a:defRPr b="0" i="0" sz="5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70" name="Google Shape;170;g3fa1f53d6d9_0_337"/>
          <p:cNvSpPr txBox="1"/>
          <p:nvPr>
            <p:ph idx="1" type="body"/>
          </p:nvPr>
        </p:nvSpPr>
        <p:spPr>
          <a:xfrm>
            <a:off x="6585826" y="965520"/>
            <a:ext cx="5115600" cy="492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>
            <a:lvl1pPr indent="-297180" lvl="0" marL="457200" marR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7180" lvl="2" marL="1371600" marR="0" algn="l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algn="l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7180" lvl="4" marL="2286000" marR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7180" lvl="5" marL="2743200" marR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7180" lvl="6" marL="3200400" marR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71" name="Google Shape;171;g3fa1f53d6d9_0_337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вичайний 1" type="title">
  <p:cSld name="TITLE">
    <p:bg>
      <p:bgPr>
        <a:solidFill>
          <a:schemeClr val="lt1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g3fa94b25cc8_0_9"/>
          <p:cNvPicPr preferRelativeResize="0"/>
          <p:nvPr/>
        </p:nvPicPr>
        <p:blipFill rotWithShape="1">
          <a:blip r:embed="rId2">
            <a:alphaModFix/>
          </a:blip>
          <a:srcRect b="0" l="45887" r="0" t="93322"/>
          <a:stretch/>
        </p:blipFill>
        <p:spPr>
          <a:xfrm>
            <a:off x="6064908" y="6400800"/>
            <a:ext cx="6126828" cy="4568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g3fa94b25cc8_0_9"/>
          <p:cNvPicPr preferRelativeResize="0"/>
          <p:nvPr/>
        </p:nvPicPr>
        <p:blipFill rotWithShape="1">
          <a:blip r:embed="rId2">
            <a:alphaModFix/>
          </a:blip>
          <a:srcRect b="84967" l="0" r="82433" t="0"/>
          <a:stretch/>
        </p:blipFill>
        <p:spPr>
          <a:xfrm>
            <a:off x="0" y="0"/>
            <a:ext cx="1987917" cy="102996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g3fa94b25cc8_0_9"/>
          <p:cNvSpPr/>
          <p:nvPr/>
        </p:nvSpPr>
        <p:spPr>
          <a:xfrm>
            <a:off x="6175427" y="6502680"/>
            <a:ext cx="53028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8A999"/>
                </a:solidFill>
                <a:latin typeface="Arial"/>
                <a:ea typeface="Arial"/>
                <a:cs typeface="Arial"/>
                <a:sym typeface="Arial"/>
              </a:rPr>
              <a:t>Machine Learning for Bioinformatics · </a:t>
            </a:r>
            <a:r>
              <a:rPr lang="en-US" sz="1300">
                <a:solidFill>
                  <a:srgbClr val="18A999"/>
                </a:solidFill>
              </a:rPr>
              <a:t>Lecture 2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g3fa94b25cc8_0_9"/>
          <p:cNvSpPr txBox="1"/>
          <p:nvPr>
            <p:ph type="title"/>
          </p:nvPr>
        </p:nvSpPr>
        <p:spPr>
          <a:xfrm>
            <a:off x="415439" y="992880"/>
            <a:ext cx="11360400" cy="2736600"/>
          </a:xfrm>
          <a:prstGeom prst="rect">
            <a:avLst/>
          </a:prstGeom>
          <a:noFill/>
          <a:ln>
            <a:noFill/>
          </a:ln>
        </p:spPr>
        <p:txBody>
          <a:bodyPr anchorCtr="0" anchor="b" bIns="122025" lIns="122025" spcFirstLastPara="1" rIns="122025" wrap="square" tIns="122025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  <a:defRPr b="0" i="0" sz="6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78" name="Google Shape;178;g3fa94b25cc8_0_9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/34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9" name="Google Shape;179;g3fa94b25cc8_0_9"/>
          <p:cNvSpPr txBox="1"/>
          <p:nvPr>
            <p:ph idx="1" type="body"/>
          </p:nvPr>
        </p:nvSpPr>
        <p:spPr>
          <a:xfrm>
            <a:off x="609479" y="1604520"/>
            <a:ext cx="109725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68605" lvl="0" marL="4572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5275" lvl="1" marL="9144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Noto Sans Symbols"/>
              <a:buChar char="−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68605" lvl="2" marL="1371600" marR="0" rtl="0" algn="l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5275" lvl="3" marL="1828800" marR="0" rtl="0" algn="l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Noto Sans Symbols"/>
              <a:buChar char="−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85750" lvl="4" marL="22860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5750" lvl="5" marL="27432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85750" lvl="6" marL="32004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3_1" type="blank">
  <p:cSld name="BLANK">
    <p:bg>
      <p:bgPr>
        <a:solidFill>
          <a:schemeClr val="lt1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g3fa94b25cc8_0_16"/>
          <p:cNvPicPr preferRelativeResize="0"/>
          <p:nvPr/>
        </p:nvPicPr>
        <p:blipFill rotWithShape="1">
          <a:blip r:embed="rId2">
            <a:alphaModFix/>
          </a:blip>
          <a:srcRect b="0" l="45887" r="0" t="93322"/>
          <a:stretch/>
        </p:blipFill>
        <p:spPr>
          <a:xfrm>
            <a:off x="6064908" y="6400800"/>
            <a:ext cx="6126828" cy="4568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g3fa94b25cc8_0_16"/>
          <p:cNvPicPr preferRelativeResize="0"/>
          <p:nvPr/>
        </p:nvPicPr>
        <p:blipFill rotWithShape="1">
          <a:blip r:embed="rId2">
            <a:alphaModFix/>
          </a:blip>
          <a:srcRect b="84967" l="0" r="82433" t="0"/>
          <a:stretch/>
        </p:blipFill>
        <p:spPr>
          <a:xfrm>
            <a:off x="0" y="0"/>
            <a:ext cx="1987917" cy="102996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g3fa94b25cc8_0_16"/>
          <p:cNvSpPr/>
          <p:nvPr/>
        </p:nvSpPr>
        <p:spPr>
          <a:xfrm>
            <a:off x="6175427" y="6502680"/>
            <a:ext cx="53028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u="none" strike="noStrike">
                <a:solidFill>
                  <a:srgbClr val="18A999"/>
                </a:solidFill>
                <a:latin typeface="Arial"/>
                <a:ea typeface="Arial"/>
                <a:cs typeface="Arial"/>
                <a:sym typeface="Arial"/>
              </a:rPr>
              <a:t>Machine Learning for Bioinformatics · </a:t>
            </a:r>
            <a:r>
              <a:rPr lang="en-US" sz="1300">
                <a:solidFill>
                  <a:srgbClr val="18A999"/>
                </a:solidFill>
              </a:rPr>
              <a:t>Lecture 2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4" name="Google Shape;184;g3fa94b25cc8_0_16"/>
          <p:cNvPicPr preferRelativeResize="0"/>
          <p:nvPr/>
        </p:nvPicPr>
        <p:blipFill rotWithShape="1">
          <a:blip r:embed="rId3">
            <a:alphaModFix/>
          </a:blip>
          <a:srcRect b="833" l="85" r="78373" t="82673"/>
          <a:stretch/>
        </p:blipFill>
        <p:spPr>
          <a:xfrm>
            <a:off x="0" y="5727600"/>
            <a:ext cx="2437914" cy="11300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g3fa94b25cc8_0_16"/>
          <p:cNvPicPr preferRelativeResize="0"/>
          <p:nvPr/>
        </p:nvPicPr>
        <p:blipFill rotWithShape="1">
          <a:blip r:embed="rId4">
            <a:alphaModFix/>
          </a:blip>
          <a:srcRect b="32032" l="0" r="0" t="36478"/>
          <a:stretch/>
        </p:blipFill>
        <p:spPr>
          <a:xfrm>
            <a:off x="0" y="2502000"/>
            <a:ext cx="12190295" cy="2158559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g3fa94b25cc8_0_16"/>
          <p:cNvSpPr txBox="1"/>
          <p:nvPr>
            <p:ph type="title"/>
          </p:nvPr>
        </p:nvSpPr>
        <p:spPr>
          <a:xfrm>
            <a:off x="1928156" y="2752560"/>
            <a:ext cx="7871400" cy="163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87" name="Google Shape;187;g3fa94b25cc8_0_16"/>
          <p:cNvSpPr txBox="1"/>
          <p:nvPr>
            <p:ph idx="12" type="sldNum"/>
          </p:nvPr>
        </p:nvSpPr>
        <p:spPr>
          <a:xfrm>
            <a:off x="11409097" y="633312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2025" lIns="122025" spcFirstLastPara="1" rIns="122025" wrap="square" tIns="1220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" name="Google Shape;188;g3fa94b25cc8_0_16"/>
          <p:cNvSpPr txBox="1"/>
          <p:nvPr>
            <p:ph idx="1" type="body"/>
          </p:nvPr>
        </p:nvSpPr>
        <p:spPr>
          <a:xfrm>
            <a:off x="609479" y="1604520"/>
            <a:ext cx="109725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68605" lvl="0" marL="4572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5275" lvl="1" marL="9144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Noto Sans Symbols"/>
              <a:buChar char="−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68605" lvl="2" marL="1371600" marR="0" rtl="0" algn="l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5275" lvl="3" marL="1828800" marR="0" rtl="0" algn="l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Noto Sans Symbols"/>
              <a:buChar char="−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85750" lvl="4" marL="22860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5750" lvl="5" marL="27432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85750" lvl="6" marL="32004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_ONLY">
  <p:cSld name="CAPTION_ONLY">
    <p:bg>
      <p:bgPr>
        <a:solidFill>
          <a:schemeClr val="lt1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g3fa94b25cc8_0_25"/>
          <p:cNvPicPr preferRelativeResize="0"/>
          <p:nvPr/>
        </p:nvPicPr>
        <p:blipFill rotWithShape="1">
          <a:blip r:embed="rId2">
            <a:alphaModFix/>
          </a:blip>
          <a:srcRect b="0" l="45887" r="0" t="93322"/>
          <a:stretch/>
        </p:blipFill>
        <p:spPr>
          <a:xfrm>
            <a:off x="6064908" y="6400800"/>
            <a:ext cx="6126828" cy="4568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g3fa94b25cc8_0_25"/>
          <p:cNvPicPr preferRelativeResize="0"/>
          <p:nvPr/>
        </p:nvPicPr>
        <p:blipFill rotWithShape="1">
          <a:blip r:embed="rId2">
            <a:alphaModFix/>
          </a:blip>
          <a:srcRect b="84967" l="0" r="82433" t="0"/>
          <a:stretch/>
        </p:blipFill>
        <p:spPr>
          <a:xfrm>
            <a:off x="0" y="0"/>
            <a:ext cx="1987917" cy="102996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g3fa94b25cc8_0_25"/>
          <p:cNvSpPr/>
          <p:nvPr/>
        </p:nvSpPr>
        <p:spPr>
          <a:xfrm>
            <a:off x="6175427" y="6502680"/>
            <a:ext cx="53028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u="none" strike="noStrike">
                <a:solidFill>
                  <a:srgbClr val="18A999"/>
                </a:solidFill>
                <a:latin typeface="Arial"/>
                <a:ea typeface="Arial"/>
                <a:cs typeface="Arial"/>
                <a:sym typeface="Arial"/>
              </a:rPr>
              <a:t>Machine Learning for Bioinformatics · </a:t>
            </a:r>
            <a:r>
              <a:rPr lang="en-US" sz="1300">
                <a:solidFill>
                  <a:srgbClr val="18A999"/>
                </a:solidFill>
              </a:rPr>
              <a:t>Lecture 2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g3fa94b25cc8_0_25"/>
          <p:cNvSpPr txBox="1"/>
          <p:nvPr>
            <p:ph idx="1" type="body"/>
          </p:nvPr>
        </p:nvSpPr>
        <p:spPr>
          <a:xfrm>
            <a:off x="415439" y="5640840"/>
            <a:ext cx="7998000" cy="8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>
            <a:lvl1pPr indent="-297180" lvl="0" marL="4572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/>
        </p:txBody>
      </p:sp>
      <p:sp>
        <p:nvSpPr>
          <p:cNvPr id="194" name="Google Shape;194;g3fa94b25cc8_0_25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_NUMBER">
  <p:cSld name="BIG_NUMBER">
    <p:bg>
      <p:bgPr>
        <a:solidFill>
          <a:schemeClr val="lt1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g3fa94b25cc8_0_31"/>
          <p:cNvPicPr preferRelativeResize="0"/>
          <p:nvPr/>
        </p:nvPicPr>
        <p:blipFill rotWithShape="1">
          <a:blip r:embed="rId2">
            <a:alphaModFix/>
          </a:blip>
          <a:srcRect b="0" l="45887" r="0" t="93322"/>
          <a:stretch/>
        </p:blipFill>
        <p:spPr>
          <a:xfrm>
            <a:off x="6064908" y="6400800"/>
            <a:ext cx="6126828" cy="4568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g3fa94b25cc8_0_31"/>
          <p:cNvPicPr preferRelativeResize="0"/>
          <p:nvPr/>
        </p:nvPicPr>
        <p:blipFill rotWithShape="1">
          <a:blip r:embed="rId2">
            <a:alphaModFix/>
          </a:blip>
          <a:srcRect b="84967" l="0" r="82433" t="0"/>
          <a:stretch/>
        </p:blipFill>
        <p:spPr>
          <a:xfrm>
            <a:off x="0" y="0"/>
            <a:ext cx="1987917" cy="102996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g3fa94b25cc8_0_31"/>
          <p:cNvSpPr/>
          <p:nvPr/>
        </p:nvSpPr>
        <p:spPr>
          <a:xfrm>
            <a:off x="6175427" y="6502680"/>
            <a:ext cx="53028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u="none" strike="noStrike">
                <a:solidFill>
                  <a:srgbClr val="18A999"/>
                </a:solidFill>
                <a:latin typeface="Arial"/>
                <a:ea typeface="Arial"/>
                <a:cs typeface="Arial"/>
                <a:sym typeface="Arial"/>
              </a:rPr>
              <a:t>Machine Learning for Bioinformatics · </a:t>
            </a:r>
            <a:r>
              <a:rPr lang="en-US" sz="1300">
                <a:solidFill>
                  <a:srgbClr val="18A999"/>
                </a:solidFill>
              </a:rPr>
              <a:t>Lecture 2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g3fa94b25cc8_0_31"/>
          <p:cNvSpPr txBox="1"/>
          <p:nvPr>
            <p:ph hasCustomPrompt="1" type="title"/>
          </p:nvPr>
        </p:nvSpPr>
        <p:spPr>
          <a:xfrm>
            <a:off x="415439" y="1474920"/>
            <a:ext cx="11360400" cy="2617800"/>
          </a:xfrm>
          <a:prstGeom prst="rect">
            <a:avLst/>
          </a:prstGeom>
          <a:noFill/>
          <a:ln>
            <a:noFill/>
          </a:ln>
        </p:spPr>
        <p:txBody>
          <a:bodyPr anchorCtr="0" anchor="b" bIns="122025" lIns="122025" spcFirstLastPara="1" rIns="122025" wrap="square" tIns="12202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0"/>
              <a:buFont typeface="Arial"/>
              <a:buNone/>
              <a:defRPr b="0" i="0" sz="16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>
            <a:r>
              <a:t>xx%</a:t>
            </a:r>
          </a:p>
        </p:txBody>
      </p:sp>
      <p:sp>
        <p:nvSpPr>
          <p:cNvPr id="200" name="Google Shape;200;g3fa94b25cc8_0_31"/>
          <p:cNvSpPr txBox="1"/>
          <p:nvPr>
            <p:ph idx="1" type="body"/>
          </p:nvPr>
        </p:nvSpPr>
        <p:spPr>
          <a:xfrm>
            <a:off x="415439" y="4203000"/>
            <a:ext cx="11360400" cy="17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2025" lIns="122025" spcFirstLastPara="1" rIns="122025" wrap="square" tIns="122025">
            <a:normAutofit/>
          </a:bodyPr>
          <a:lstStyle>
            <a:lvl1pPr indent="-297180" lvl="0" marL="4572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7180" lvl="2" marL="1371600" marR="0" rtl="0" algn="l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7180" lvl="4" marL="22860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7180" lvl="5" marL="27432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7180" lvl="6" marL="32004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01" name="Google Shape;201;g3fa94b25cc8_0_31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mple-light-2">
  <p:cSld name="simple-light-2">
    <p:bg>
      <p:bgPr>
        <a:solidFill>
          <a:schemeClr val="lt1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g3fa94b25cc8_0_38"/>
          <p:cNvPicPr preferRelativeResize="0"/>
          <p:nvPr/>
        </p:nvPicPr>
        <p:blipFill rotWithShape="1">
          <a:blip r:embed="rId2">
            <a:alphaModFix/>
          </a:blip>
          <a:srcRect b="0" l="45887" r="0" t="93322"/>
          <a:stretch/>
        </p:blipFill>
        <p:spPr>
          <a:xfrm>
            <a:off x="6064908" y="6400800"/>
            <a:ext cx="6126828" cy="45684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g3fa94b25cc8_0_38"/>
          <p:cNvPicPr preferRelativeResize="0"/>
          <p:nvPr/>
        </p:nvPicPr>
        <p:blipFill rotWithShape="1">
          <a:blip r:embed="rId2">
            <a:alphaModFix/>
          </a:blip>
          <a:srcRect b="84967" l="0" r="82433" t="0"/>
          <a:stretch/>
        </p:blipFill>
        <p:spPr>
          <a:xfrm>
            <a:off x="0" y="0"/>
            <a:ext cx="1987917" cy="102996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g3fa94b25cc8_0_38"/>
          <p:cNvSpPr/>
          <p:nvPr/>
        </p:nvSpPr>
        <p:spPr>
          <a:xfrm>
            <a:off x="6175427" y="6502680"/>
            <a:ext cx="53028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u="none" strike="noStrike">
                <a:solidFill>
                  <a:srgbClr val="18A999"/>
                </a:solidFill>
                <a:latin typeface="Arial"/>
                <a:ea typeface="Arial"/>
                <a:cs typeface="Arial"/>
                <a:sym typeface="Arial"/>
              </a:rPr>
              <a:t>Machine Learning for Bioinformatics · </a:t>
            </a:r>
            <a:r>
              <a:rPr lang="en-US" sz="1300">
                <a:solidFill>
                  <a:srgbClr val="18A999"/>
                </a:solidFill>
              </a:rPr>
              <a:t>Lecture 2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g3fa94b25cc8_0_38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вичайний" type="obj">
  <p:cSld name="OBJECT">
    <p:bg>
      <p:bgPr>
        <a:solidFill>
          <a:schemeClr val="lt1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g3fa94b25cc8_0_43"/>
          <p:cNvPicPr preferRelativeResize="0"/>
          <p:nvPr/>
        </p:nvPicPr>
        <p:blipFill rotWithShape="1">
          <a:blip r:embed="rId2">
            <a:alphaModFix/>
          </a:blip>
          <a:srcRect b="0" l="45887" r="0" t="93322"/>
          <a:stretch/>
        </p:blipFill>
        <p:spPr>
          <a:xfrm>
            <a:off x="6064908" y="6400800"/>
            <a:ext cx="6126828" cy="45684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g3fa94b25cc8_0_43"/>
          <p:cNvPicPr preferRelativeResize="0"/>
          <p:nvPr/>
        </p:nvPicPr>
        <p:blipFill rotWithShape="1">
          <a:blip r:embed="rId2">
            <a:alphaModFix/>
          </a:blip>
          <a:srcRect b="84967" l="0" r="82433" t="0"/>
          <a:stretch/>
        </p:blipFill>
        <p:spPr>
          <a:xfrm>
            <a:off x="0" y="0"/>
            <a:ext cx="1987917" cy="102996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g3fa94b25cc8_0_43"/>
          <p:cNvSpPr/>
          <p:nvPr/>
        </p:nvSpPr>
        <p:spPr>
          <a:xfrm>
            <a:off x="6175427" y="6502680"/>
            <a:ext cx="53028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u="none" strike="noStrike">
                <a:solidFill>
                  <a:srgbClr val="18A999"/>
                </a:solidFill>
                <a:latin typeface="Arial"/>
                <a:ea typeface="Arial"/>
                <a:cs typeface="Arial"/>
                <a:sym typeface="Arial"/>
              </a:rPr>
              <a:t>Machine Learning for Bioinformatics · </a:t>
            </a:r>
            <a:r>
              <a:rPr lang="en-US" sz="1300">
                <a:solidFill>
                  <a:srgbClr val="18A999"/>
                </a:solidFill>
              </a:rPr>
              <a:t>Lecture 2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g3fa94b25cc8_0_43"/>
          <p:cNvSpPr txBox="1"/>
          <p:nvPr>
            <p:ph type="title"/>
          </p:nvPr>
        </p:nvSpPr>
        <p:spPr>
          <a:xfrm>
            <a:off x="838078" y="365040"/>
            <a:ext cx="10515300" cy="132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  <a:defRPr b="0" i="0" sz="3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12" name="Google Shape;212;g3fa94b25cc8_0_43"/>
          <p:cNvSpPr txBox="1"/>
          <p:nvPr>
            <p:ph idx="1" type="body"/>
          </p:nvPr>
        </p:nvSpPr>
        <p:spPr>
          <a:xfrm>
            <a:off x="838078" y="1825560"/>
            <a:ext cx="10515300" cy="43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97180" lvl="0" marL="4572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7180" lvl="2" marL="1371600" marR="0" rtl="0" algn="l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7180" lvl="4" marL="22860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7180" lvl="5" marL="27432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7180" lvl="6" marL="32004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13" name="Google Shape;213;g3fa94b25cc8_0_43"/>
          <p:cNvSpPr txBox="1"/>
          <p:nvPr>
            <p:ph idx="10" type="dt"/>
          </p:nvPr>
        </p:nvSpPr>
        <p:spPr>
          <a:xfrm>
            <a:off x="838078" y="6356520"/>
            <a:ext cx="27429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14" name="Google Shape;214;g3fa94b25cc8_0_43"/>
          <p:cNvSpPr txBox="1"/>
          <p:nvPr>
            <p:ph idx="11" type="ftr"/>
          </p:nvPr>
        </p:nvSpPr>
        <p:spPr>
          <a:xfrm>
            <a:off x="4038472" y="6356520"/>
            <a:ext cx="41145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15" name="Google Shape;215;g3fa94b25cc8_0_43"/>
          <p:cNvSpPr txBox="1"/>
          <p:nvPr>
            <p:ph idx="12" type="sldNum"/>
          </p:nvPr>
        </p:nvSpPr>
        <p:spPr>
          <a:xfrm>
            <a:off x="8610462" y="6356520"/>
            <a:ext cx="27429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Calibri"/>
              <a:buNone/>
              <a:defRPr b="0" sz="1200" u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Calibri"/>
              <a:buNone/>
              <a:defRPr b="0" sz="1200" u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Calibri"/>
              <a:buNone/>
              <a:defRPr b="0" sz="1200" u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Calibri"/>
              <a:buNone/>
              <a:defRPr b="0" sz="1200" u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Calibri"/>
              <a:buNone/>
              <a:defRPr b="0" sz="1200" u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Calibri"/>
              <a:buNone/>
              <a:defRPr b="0" sz="1200" u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Calibri"/>
              <a:buNone/>
              <a:defRPr b="0" sz="1200" u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Calibri"/>
              <a:buNone/>
              <a:defRPr b="0" sz="1200" u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Calibri"/>
              <a:buNone/>
              <a:defRPr b="0" sz="1200" u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вичайний 2">
  <p:cSld name="Звичайний 2">
    <p:bg>
      <p:bgPr>
        <a:solidFill>
          <a:schemeClr val="lt1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g3fa94b25cc8_0_52"/>
          <p:cNvPicPr preferRelativeResize="0"/>
          <p:nvPr/>
        </p:nvPicPr>
        <p:blipFill rotWithShape="1">
          <a:blip r:embed="rId2">
            <a:alphaModFix/>
          </a:blip>
          <a:srcRect b="0" l="45887" r="0" t="93322"/>
          <a:stretch/>
        </p:blipFill>
        <p:spPr>
          <a:xfrm>
            <a:off x="6064908" y="6400800"/>
            <a:ext cx="6126828" cy="45684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g3fa94b25cc8_0_52"/>
          <p:cNvPicPr preferRelativeResize="0"/>
          <p:nvPr/>
        </p:nvPicPr>
        <p:blipFill rotWithShape="1">
          <a:blip r:embed="rId2">
            <a:alphaModFix/>
          </a:blip>
          <a:srcRect b="84967" l="0" r="82433" t="0"/>
          <a:stretch/>
        </p:blipFill>
        <p:spPr>
          <a:xfrm>
            <a:off x="0" y="0"/>
            <a:ext cx="1987917" cy="102996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g3fa94b25cc8_0_52"/>
          <p:cNvSpPr/>
          <p:nvPr/>
        </p:nvSpPr>
        <p:spPr>
          <a:xfrm>
            <a:off x="6175427" y="6502680"/>
            <a:ext cx="53028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u="none" strike="noStrike">
                <a:solidFill>
                  <a:srgbClr val="18A999"/>
                </a:solidFill>
                <a:latin typeface="Arial"/>
                <a:ea typeface="Arial"/>
                <a:cs typeface="Arial"/>
                <a:sym typeface="Arial"/>
              </a:rPr>
              <a:t>Machine Learning for Bioinformatics · </a:t>
            </a:r>
            <a:r>
              <a:rPr lang="en-US" sz="1300">
                <a:solidFill>
                  <a:srgbClr val="18A999"/>
                </a:solidFill>
              </a:rPr>
              <a:t>Lecture 2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g3fa94b25cc8_0_52"/>
          <p:cNvSpPr txBox="1"/>
          <p:nvPr>
            <p:ph type="title"/>
          </p:nvPr>
        </p:nvSpPr>
        <p:spPr>
          <a:xfrm>
            <a:off x="415439" y="2867760"/>
            <a:ext cx="11360400" cy="11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21" name="Google Shape;221;g3fa94b25cc8_0_52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" type="tx">
  <p:cSld name="TITLE_AND_BODY">
    <p:bg>
      <p:bgPr>
        <a:solidFill>
          <a:schemeClr val="lt1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g3fa94b25cc8_0_58"/>
          <p:cNvPicPr preferRelativeResize="0"/>
          <p:nvPr/>
        </p:nvPicPr>
        <p:blipFill rotWithShape="1">
          <a:blip r:embed="rId2">
            <a:alphaModFix/>
          </a:blip>
          <a:srcRect b="0" l="45887" r="0" t="93322"/>
          <a:stretch/>
        </p:blipFill>
        <p:spPr>
          <a:xfrm>
            <a:off x="6064908" y="6400800"/>
            <a:ext cx="6126828" cy="45684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g3fa94b25cc8_0_58"/>
          <p:cNvPicPr preferRelativeResize="0"/>
          <p:nvPr/>
        </p:nvPicPr>
        <p:blipFill rotWithShape="1">
          <a:blip r:embed="rId2">
            <a:alphaModFix/>
          </a:blip>
          <a:srcRect b="84967" l="0" r="82433" t="0"/>
          <a:stretch/>
        </p:blipFill>
        <p:spPr>
          <a:xfrm>
            <a:off x="0" y="0"/>
            <a:ext cx="1987917" cy="102996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g3fa94b25cc8_0_58"/>
          <p:cNvSpPr/>
          <p:nvPr/>
        </p:nvSpPr>
        <p:spPr>
          <a:xfrm>
            <a:off x="6175427" y="6502680"/>
            <a:ext cx="53028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u="none" strike="noStrike">
                <a:solidFill>
                  <a:srgbClr val="18A999"/>
                </a:solidFill>
                <a:latin typeface="Arial"/>
                <a:ea typeface="Arial"/>
                <a:cs typeface="Arial"/>
                <a:sym typeface="Arial"/>
              </a:rPr>
              <a:t>Machine Learning for Bioinformatics · </a:t>
            </a:r>
            <a:r>
              <a:rPr lang="en-US" sz="1300">
                <a:solidFill>
                  <a:srgbClr val="18A999"/>
                </a:solidFill>
              </a:rPr>
              <a:t>Lecture 2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g3fa94b25cc8_0_58"/>
          <p:cNvSpPr txBox="1"/>
          <p:nvPr>
            <p:ph type="title"/>
          </p:nvPr>
        </p:nvSpPr>
        <p:spPr>
          <a:xfrm>
            <a:off x="415439" y="593280"/>
            <a:ext cx="11360400" cy="7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2025" lIns="122025" spcFirstLastPara="1" rIns="122025" wrap="square" tIns="122025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  <a:defRPr b="0" i="0" sz="3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27" name="Google Shape;227;g3fa94b25cc8_0_58"/>
          <p:cNvSpPr txBox="1"/>
          <p:nvPr>
            <p:ph idx="1" type="body"/>
          </p:nvPr>
        </p:nvSpPr>
        <p:spPr>
          <a:xfrm>
            <a:off x="415439" y="1536480"/>
            <a:ext cx="11360400" cy="45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2025" lIns="122025" spcFirstLastPara="1" rIns="122025" wrap="square" tIns="122025">
            <a:normAutofit/>
          </a:bodyPr>
          <a:lstStyle>
            <a:lvl1pPr indent="-297180" lvl="0" marL="4572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7180" lvl="2" marL="1371600" marR="0" rtl="0" algn="l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7180" lvl="4" marL="22860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7180" lvl="5" marL="27432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7180" lvl="6" marL="32004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28" name="Google Shape;228;g3fa94b25cc8_0_58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TWO_COLUMNS" type="twoObj">
  <p:cSld name="TWO_OBJECTS">
    <p:bg>
      <p:bgPr>
        <a:solidFill>
          <a:schemeClr val="lt1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g3fa94b25cc8_0_65"/>
          <p:cNvPicPr preferRelativeResize="0"/>
          <p:nvPr/>
        </p:nvPicPr>
        <p:blipFill rotWithShape="1">
          <a:blip r:embed="rId2">
            <a:alphaModFix/>
          </a:blip>
          <a:srcRect b="0" l="45887" r="0" t="93322"/>
          <a:stretch/>
        </p:blipFill>
        <p:spPr>
          <a:xfrm>
            <a:off x="6064908" y="6400800"/>
            <a:ext cx="6126828" cy="45684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g3fa94b25cc8_0_65"/>
          <p:cNvPicPr preferRelativeResize="0"/>
          <p:nvPr/>
        </p:nvPicPr>
        <p:blipFill rotWithShape="1">
          <a:blip r:embed="rId2">
            <a:alphaModFix/>
          </a:blip>
          <a:srcRect b="84967" l="0" r="82433" t="0"/>
          <a:stretch/>
        </p:blipFill>
        <p:spPr>
          <a:xfrm>
            <a:off x="0" y="0"/>
            <a:ext cx="1987917" cy="102996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g3fa94b25cc8_0_65"/>
          <p:cNvSpPr/>
          <p:nvPr/>
        </p:nvSpPr>
        <p:spPr>
          <a:xfrm>
            <a:off x="6175427" y="6502680"/>
            <a:ext cx="53028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u="none" strike="noStrike">
                <a:solidFill>
                  <a:srgbClr val="18A999"/>
                </a:solidFill>
                <a:latin typeface="Arial"/>
                <a:ea typeface="Arial"/>
                <a:cs typeface="Arial"/>
                <a:sym typeface="Arial"/>
              </a:rPr>
              <a:t>Machine Learning for Bioinformatics · </a:t>
            </a:r>
            <a:r>
              <a:rPr lang="en-US" sz="1300">
                <a:solidFill>
                  <a:srgbClr val="18A999"/>
                </a:solidFill>
              </a:rPr>
              <a:t>Lecture 2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g3fa94b25cc8_0_65"/>
          <p:cNvSpPr txBox="1"/>
          <p:nvPr>
            <p:ph type="title"/>
          </p:nvPr>
        </p:nvSpPr>
        <p:spPr>
          <a:xfrm>
            <a:off x="415439" y="593280"/>
            <a:ext cx="11360400" cy="7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2025" lIns="122025" spcFirstLastPara="1" rIns="122025" wrap="square" tIns="122025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  <a:defRPr b="0" i="0" sz="3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34" name="Google Shape;234;g3fa94b25cc8_0_65"/>
          <p:cNvSpPr txBox="1"/>
          <p:nvPr>
            <p:ph idx="1" type="body"/>
          </p:nvPr>
        </p:nvSpPr>
        <p:spPr>
          <a:xfrm>
            <a:off x="415439" y="1536480"/>
            <a:ext cx="5332800" cy="45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2025" lIns="122025" spcFirstLastPara="1" rIns="122025" wrap="square" tIns="122025">
            <a:normAutofit/>
          </a:bodyPr>
          <a:lstStyle>
            <a:lvl1pPr indent="-282893" lvl="0" marL="4572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855"/>
              <a:buFont typeface="Noto Sans Symbols"/>
              <a:buChar char="●"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9088" lvl="1" marL="9144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Noto Sans Symbols"/>
              <a:buChar char="−"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82893" lvl="2" marL="1371600" marR="0" rtl="0" algn="l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855"/>
              <a:buFont typeface="Noto Sans Symbols"/>
              <a:buChar char="●"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9088" lvl="3" marL="1828800" marR="0" rtl="0" algn="l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Noto Sans Symbols"/>
              <a:buChar char="−"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82892" lvl="4" marL="22860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55"/>
              <a:buFont typeface="Noto Sans Symbols"/>
              <a:buChar char="●"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2892" lvl="5" marL="27432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55"/>
              <a:buFont typeface="Noto Sans Symbols"/>
              <a:buChar char="●"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82892" lvl="6" marL="32004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55"/>
              <a:buFont typeface="Noto Sans Symbols"/>
              <a:buChar char="●"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35" name="Google Shape;235;g3fa94b25cc8_0_65"/>
          <p:cNvSpPr txBox="1"/>
          <p:nvPr>
            <p:ph idx="2" type="body"/>
          </p:nvPr>
        </p:nvSpPr>
        <p:spPr>
          <a:xfrm>
            <a:off x="6443267" y="1536480"/>
            <a:ext cx="5332800" cy="45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2025" lIns="122025" spcFirstLastPara="1" rIns="122025" wrap="square" tIns="122025">
            <a:normAutofit/>
          </a:bodyPr>
          <a:lstStyle>
            <a:lvl1pPr indent="-282893" lvl="0" marL="4572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855"/>
              <a:buFont typeface="Noto Sans Symbols"/>
              <a:buChar char="●"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9088" lvl="1" marL="9144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Noto Sans Symbols"/>
              <a:buChar char="−"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82893" lvl="2" marL="1371600" marR="0" rtl="0" algn="l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855"/>
              <a:buFont typeface="Noto Sans Symbols"/>
              <a:buChar char="●"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9088" lvl="3" marL="1828800" marR="0" rtl="0" algn="l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Noto Sans Symbols"/>
              <a:buChar char="−"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82892" lvl="4" marL="22860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55"/>
              <a:buFont typeface="Noto Sans Symbols"/>
              <a:buChar char="●"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2892" lvl="5" marL="27432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55"/>
              <a:buFont typeface="Noto Sans Symbols"/>
              <a:buChar char="●"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82892" lvl="6" marL="32004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55"/>
              <a:buFont typeface="Noto Sans Symbols"/>
              <a:buChar char="●"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36" name="Google Shape;236;g3fa94b25cc8_0_65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вичайний 3" type="titleOnly">
  <p:cSld name="TITLE_ONLY">
    <p:bg>
      <p:bgPr>
        <a:solidFill>
          <a:schemeClr val="lt1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g3fa94b25cc8_0_73"/>
          <p:cNvPicPr preferRelativeResize="0"/>
          <p:nvPr/>
        </p:nvPicPr>
        <p:blipFill rotWithShape="1">
          <a:blip r:embed="rId2">
            <a:alphaModFix/>
          </a:blip>
          <a:srcRect b="0" l="45887" r="0" t="93322"/>
          <a:stretch/>
        </p:blipFill>
        <p:spPr>
          <a:xfrm>
            <a:off x="6064908" y="6400800"/>
            <a:ext cx="6126828" cy="45684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g3fa94b25cc8_0_73"/>
          <p:cNvPicPr preferRelativeResize="0"/>
          <p:nvPr/>
        </p:nvPicPr>
        <p:blipFill rotWithShape="1">
          <a:blip r:embed="rId2">
            <a:alphaModFix/>
          </a:blip>
          <a:srcRect b="84967" l="0" r="82433" t="0"/>
          <a:stretch/>
        </p:blipFill>
        <p:spPr>
          <a:xfrm>
            <a:off x="0" y="0"/>
            <a:ext cx="1987917" cy="102996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g3fa94b25cc8_0_73"/>
          <p:cNvSpPr/>
          <p:nvPr/>
        </p:nvSpPr>
        <p:spPr>
          <a:xfrm>
            <a:off x="6175427" y="6502680"/>
            <a:ext cx="53028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u="none" strike="noStrike">
                <a:solidFill>
                  <a:srgbClr val="18A999"/>
                </a:solidFill>
                <a:latin typeface="Arial"/>
                <a:ea typeface="Arial"/>
                <a:cs typeface="Arial"/>
                <a:sym typeface="Arial"/>
              </a:rPr>
              <a:t>Machine Learning for Bioinformatics · </a:t>
            </a:r>
            <a:r>
              <a:rPr lang="en-US" sz="1300">
                <a:solidFill>
                  <a:srgbClr val="18A999"/>
                </a:solidFill>
              </a:rPr>
              <a:t>Lecture 2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g3fa94b25cc8_0_73"/>
          <p:cNvSpPr txBox="1"/>
          <p:nvPr>
            <p:ph type="title"/>
          </p:nvPr>
        </p:nvSpPr>
        <p:spPr>
          <a:xfrm>
            <a:off x="415439" y="593280"/>
            <a:ext cx="11360400" cy="7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2025" lIns="122025" spcFirstLastPara="1" rIns="122025" wrap="square" tIns="122025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  <a:defRPr b="0" i="0" sz="3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42" name="Google Shape;242;g3fa94b25cc8_0_73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_COLUMN_TEXT">
  <p:cSld name="ONE_COLUMN_TEXT">
    <p:bg>
      <p:bgPr>
        <a:solidFill>
          <a:schemeClr val="lt1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g3fa94b25cc8_0_79"/>
          <p:cNvPicPr preferRelativeResize="0"/>
          <p:nvPr/>
        </p:nvPicPr>
        <p:blipFill rotWithShape="1">
          <a:blip r:embed="rId2">
            <a:alphaModFix/>
          </a:blip>
          <a:srcRect b="0" l="45887" r="0" t="93322"/>
          <a:stretch/>
        </p:blipFill>
        <p:spPr>
          <a:xfrm>
            <a:off x="6064908" y="6400800"/>
            <a:ext cx="6126828" cy="45684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g3fa94b25cc8_0_79"/>
          <p:cNvPicPr preferRelativeResize="0"/>
          <p:nvPr/>
        </p:nvPicPr>
        <p:blipFill rotWithShape="1">
          <a:blip r:embed="rId2">
            <a:alphaModFix/>
          </a:blip>
          <a:srcRect b="84967" l="0" r="82433" t="0"/>
          <a:stretch/>
        </p:blipFill>
        <p:spPr>
          <a:xfrm>
            <a:off x="0" y="0"/>
            <a:ext cx="1987917" cy="102996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g3fa94b25cc8_0_79"/>
          <p:cNvSpPr/>
          <p:nvPr/>
        </p:nvSpPr>
        <p:spPr>
          <a:xfrm>
            <a:off x="6175427" y="6502680"/>
            <a:ext cx="53028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u="none" strike="noStrike">
                <a:solidFill>
                  <a:srgbClr val="18A999"/>
                </a:solidFill>
                <a:latin typeface="Arial"/>
                <a:ea typeface="Arial"/>
                <a:cs typeface="Arial"/>
                <a:sym typeface="Arial"/>
              </a:rPr>
              <a:t>Machine Learning for Bioinformatics · </a:t>
            </a:r>
            <a:r>
              <a:rPr lang="en-US" sz="1300">
                <a:solidFill>
                  <a:srgbClr val="18A999"/>
                </a:solidFill>
              </a:rPr>
              <a:t>Lecture 2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g3fa94b25cc8_0_79"/>
          <p:cNvSpPr txBox="1"/>
          <p:nvPr>
            <p:ph type="title"/>
          </p:nvPr>
        </p:nvSpPr>
        <p:spPr>
          <a:xfrm>
            <a:off x="415439" y="740880"/>
            <a:ext cx="3743700" cy="1007400"/>
          </a:xfrm>
          <a:prstGeom prst="rect">
            <a:avLst/>
          </a:prstGeom>
          <a:noFill/>
          <a:ln>
            <a:noFill/>
          </a:ln>
        </p:spPr>
        <p:txBody>
          <a:bodyPr anchorCtr="0" anchor="b" bIns="122025" lIns="122025" spcFirstLastPara="1" rIns="122025" wrap="square" tIns="122025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48" name="Google Shape;248;g3fa94b25cc8_0_79"/>
          <p:cNvSpPr txBox="1"/>
          <p:nvPr>
            <p:ph idx="1" type="body"/>
          </p:nvPr>
        </p:nvSpPr>
        <p:spPr>
          <a:xfrm>
            <a:off x="415439" y="1852920"/>
            <a:ext cx="3743700" cy="42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2025" lIns="122025" spcFirstLastPara="1" rIns="122025" wrap="square" tIns="122025">
            <a:normAutofit/>
          </a:bodyPr>
          <a:lstStyle>
            <a:lvl1pPr indent="-274320" lvl="0" marL="4572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720"/>
              <a:buFont typeface="Noto Sans Symbols"/>
              <a:buChar char="●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−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4320" lvl="2" marL="1371600" marR="0" rtl="0" algn="l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Noto Sans Symbols"/>
              <a:buChar char="●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−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4320" lvl="4" marL="22860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720"/>
              <a:buFont typeface="Noto Sans Symbols"/>
              <a:buChar char="●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74320" lvl="5" marL="27432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720"/>
              <a:buFont typeface="Noto Sans Symbols"/>
              <a:buChar char="●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4320" lvl="6" marL="32004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720"/>
              <a:buFont typeface="Noto Sans Symbols"/>
              <a:buChar char="●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49" name="Google Shape;249;g3fa94b25cc8_0_79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_POINT">
  <p:cSld name="MAIN_POINT">
    <p:bg>
      <p:bgPr>
        <a:solidFill>
          <a:schemeClr val="lt1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g3fa94b25cc8_0_86"/>
          <p:cNvPicPr preferRelativeResize="0"/>
          <p:nvPr/>
        </p:nvPicPr>
        <p:blipFill rotWithShape="1">
          <a:blip r:embed="rId2">
            <a:alphaModFix/>
          </a:blip>
          <a:srcRect b="0" l="45887" r="0" t="93322"/>
          <a:stretch/>
        </p:blipFill>
        <p:spPr>
          <a:xfrm>
            <a:off x="6064908" y="6400800"/>
            <a:ext cx="6126828" cy="45684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g3fa94b25cc8_0_86"/>
          <p:cNvPicPr preferRelativeResize="0"/>
          <p:nvPr/>
        </p:nvPicPr>
        <p:blipFill rotWithShape="1">
          <a:blip r:embed="rId2">
            <a:alphaModFix/>
          </a:blip>
          <a:srcRect b="84967" l="0" r="82433" t="0"/>
          <a:stretch/>
        </p:blipFill>
        <p:spPr>
          <a:xfrm>
            <a:off x="0" y="0"/>
            <a:ext cx="1987917" cy="102996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g3fa94b25cc8_0_86"/>
          <p:cNvSpPr/>
          <p:nvPr/>
        </p:nvSpPr>
        <p:spPr>
          <a:xfrm>
            <a:off x="6175427" y="6502680"/>
            <a:ext cx="53028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u="none" strike="noStrike">
                <a:solidFill>
                  <a:srgbClr val="18A999"/>
                </a:solidFill>
                <a:latin typeface="Arial"/>
                <a:ea typeface="Arial"/>
                <a:cs typeface="Arial"/>
                <a:sym typeface="Arial"/>
              </a:rPr>
              <a:t>Machine Learning for Bioinformatics · </a:t>
            </a:r>
            <a:r>
              <a:rPr lang="en-US" sz="1300">
                <a:solidFill>
                  <a:srgbClr val="18A999"/>
                </a:solidFill>
              </a:rPr>
              <a:t>Lecture 2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g3fa94b25cc8_0_86"/>
          <p:cNvSpPr txBox="1"/>
          <p:nvPr>
            <p:ph type="title"/>
          </p:nvPr>
        </p:nvSpPr>
        <p:spPr>
          <a:xfrm>
            <a:off x="653759" y="600120"/>
            <a:ext cx="8490000" cy="54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  <a:defRPr b="0" i="0" sz="6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55" name="Google Shape;255;g3fa94b25cc8_0_86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TITLE_AND_DESCRIPTION">
  <p:cSld name="SECTION_TITLE_AND_DESCRIPTION">
    <p:bg>
      <p:bgPr>
        <a:solidFill>
          <a:schemeClr val="lt1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g3fa94b25cc8_0_92"/>
          <p:cNvPicPr preferRelativeResize="0"/>
          <p:nvPr/>
        </p:nvPicPr>
        <p:blipFill rotWithShape="1">
          <a:blip r:embed="rId2">
            <a:alphaModFix/>
          </a:blip>
          <a:srcRect b="0" l="45887" r="0" t="93322"/>
          <a:stretch/>
        </p:blipFill>
        <p:spPr>
          <a:xfrm>
            <a:off x="6064908" y="6400800"/>
            <a:ext cx="6126828" cy="45684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g3fa94b25cc8_0_92"/>
          <p:cNvPicPr preferRelativeResize="0"/>
          <p:nvPr/>
        </p:nvPicPr>
        <p:blipFill rotWithShape="1">
          <a:blip r:embed="rId2">
            <a:alphaModFix/>
          </a:blip>
          <a:srcRect b="84967" l="0" r="82433" t="0"/>
          <a:stretch/>
        </p:blipFill>
        <p:spPr>
          <a:xfrm>
            <a:off x="0" y="0"/>
            <a:ext cx="1987917" cy="102996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g3fa94b25cc8_0_92"/>
          <p:cNvSpPr/>
          <p:nvPr/>
        </p:nvSpPr>
        <p:spPr>
          <a:xfrm>
            <a:off x="6175427" y="6502680"/>
            <a:ext cx="53028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u="none" strike="noStrike">
                <a:solidFill>
                  <a:srgbClr val="18A999"/>
                </a:solidFill>
                <a:latin typeface="Arial"/>
                <a:ea typeface="Arial"/>
                <a:cs typeface="Arial"/>
                <a:sym typeface="Arial"/>
              </a:rPr>
              <a:t>Machine Learning for Bioinformatics · </a:t>
            </a:r>
            <a:r>
              <a:rPr lang="en-US" sz="1300">
                <a:solidFill>
                  <a:srgbClr val="18A999"/>
                </a:solidFill>
              </a:rPr>
              <a:t>Lecture 2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g3fa94b25cc8_0_92"/>
          <p:cNvSpPr/>
          <p:nvPr/>
        </p:nvSpPr>
        <p:spPr>
          <a:xfrm>
            <a:off x="6095868" y="0"/>
            <a:ext cx="6095400" cy="6857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2025" lIns="122025" spcFirstLastPara="1" rIns="122025" wrap="square" tIns="1220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g3fa94b25cc8_0_92"/>
          <p:cNvSpPr txBox="1"/>
          <p:nvPr>
            <p:ph type="title"/>
          </p:nvPr>
        </p:nvSpPr>
        <p:spPr>
          <a:xfrm>
            <a:off x="353879" y="1644120"/>
            <a:ext cx="5393400" cy="1976100"/>
          </a:xfrm>
          <a:prstGeom prst="rect">
            <a:avLst/>
          </a:prstGeom>
          <a:noFill/>
          <a:ln>
            <a:noFill/>
          </a:ln>
        </p:spPr>
        <p:txBody>
          <a:bodyPr anchorCtr="0" anchor="b" bIns="122025" lIns="122025" spcFirstLastPara="1" rIns="122025" wrap="square" tIns="122025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  <a:defRPr b="0" i="0" sz="5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62" name="Google Shape;262;g3fa94b25cc8_0_92"/>
          <p:cNvSpPr txBox="1"/>
          <p:nvPr>
            <p:ph idx="1" type="body"/>
          </p:nvPr>
        </p:nvSpPr>
        <p:spPr>
          <a:xfrm>
            <a:off x="6585826" y="965520"/>
            <a:ext cx="5115600" cy="492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>
            <a:lvl1pPr indent="-297180" lvl="0" marL="4572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7180" lvl="2" marL="1371600" marR="0" rtl="0" algn="l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7180" lvl="4" marL="22860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7180" lvl="5" marL="27432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7180" lvl="6" marL="32004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63" name="Google Shape;263;g3fa94b25cc8_0_92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3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7.xml"/><Relationship Id="rId1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4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4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4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4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44.png"/><Relationship Id="rId5" Type="http://schemas.openxmlformats.org/officeDocument/2006/relationships/image" Target="../media/image18.png"/><Relationship Id="rId6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5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45.png"/><Relationship Id="rId5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45.png"/><Relationship Id="rId5" Type="http://schemas.openxmlformats.org/officeDocument/2006/relationships/image" Target="../media/image12.png"/><Relationship Id="rId6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13.png"/><Relationship Id="rId5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2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1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2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4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2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4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Relationship Id="rId4" Type="http://schemas.openxmlformats.org/officeDocument/2006/relationships/image" Target="../media/image2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Relationship Id="rId4" Type="http://schemas.openxmlformats.org/officeDocument/2006/relationships/image" Target="../media/image2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Relationship Id="rId4" Type="http://schemas.openxmlformats.org/officeDocument/2006/relationships/image" Target="../media/image3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Relationship Id="rId4" Type="http://schemas.openxmlformats.org/officeDocument/2006/relationships/image" Target="../media/image3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Relationship Id="rId4" Type="http://schemas.openxmlformats.org/officeDocument/2006/relationships/image" Target="../media/image3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png"/><Relationship Id="rId4" Type="http://schemas.openxmlformats.org/officeDocument/2006/relationships/image" Target="../media/image3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png"/><Relationship Id="rId4" Type="http://schemas.openxmlformats.org/officeDocument/2006/relationships/image" Target="../media/image3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png"/><Relationship Id="rId4" Type="http://schemas.openxmlformats.org/officeDocument/2006/relationships/image" Target="../media/image34.png"/><Relationship Id="rId5" Type="http://schemas.openxmlformats.org/officeDocument/2006/relationships/image" Target="../media/image39.png"/><Relationship Id="rId6" Type="http://schemas.openxmlformats.org/officeDocument/2006/relationships/image" Target="../media/image43.png"/><Relationship Id="rId7" Type="http://schemas.openxmlformats.org/officeDocument/2006/relationships/image" Target="../media/image38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png"/><Relationship Id="rId4" Type="http://schemas.openxmlformats.org/officeDocument/2006/relationships/image" Target="../media/image40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g3fa1f53d6d9_0_0"/>
          <p:cNvPicPr preferRelativeResize="0"/>
          <p:nvPr/>
        </p:nvPicPr>
        <p:blipFill rotWithShape="1">
          <a:blip r:embed="rId3">
            <a:alphaModFix/>
          </a:blip>
          <a:srcRect b="0" l="0" r="79008" t="80962"/>
          <a:stretch/>
        </p:blipFill>
        <p:spPr>
          <a:xfrm>
            <a:off x="-18000" y="5553000"/>
            <a:ext cx="2375634" cy="130464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g3fa1f53d6d9_0_0"/>
          <p:cNvPicPr preferRelativeResize="0"/>
          <p:nvPr/>
        </p:nvPicPr>
        <p:blipFill rotWithShape="1">
          <a:blip r:embed="rId4">
            <a:alphaModFix/>
          </a:blip>
          <a:srcRect b="28805" l="0" r="0" t="37794"/>
          <a:stretch/>
        </p:blipFill>
        <p:spPr>
          <a:xfrm>
            <a:off x="0" y="2592360"/>
            <a:ext cx="12191734" cy="2289959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g3fa1f53d6d9_0_0"/>
          <p:cNvSpPr/>
          <p:nvPr/>
        </p:nvSpPr>
        <p:spPr>
          <a:xfrm>
            <a:off x="68400" y="2644560"/>
            <a:ext cx="49494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800">
                <a:solidFill>
                  <a:srgbClr val="005F89"/>
                </a:solidFill>
              </a:rPr>
              <a:t>From Statistical Relationships</a:t>
            </a:r>
            <a:endParaRPr b="1" sz="3800">
              <a:solidFill>
                <a:srgbClr val="005F89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-US" sz="3800">
                <a:solidFill>
                  <a:srgbClr val="005F89"/>
                </a:solidFill>
              </a:rPr>
              <a:t>to Predictive Models</a:t>
            </a:r>
            <a:endParaRPr b="1" sz="3800">
              <a:solidFill>
                <a:srgbClr val="005F89"/>
              </a:solidFill>
            </a:endParaRPr>
          </a:p>
        </p:txBody>
      </p:sp>
      <p:sp>
        <p:nvSpPr>
          <p:cNvPr id="271" name="Google Shape;271;g3fa1f53d6d9_0_0"/>
          <p:cNvSpPr/>
          <p:nvPr/>
        </p:nvSpPr>
        <p:spPr>
          <a:xfrm>
            <a:off x="5752076" y="3023650"/>
            <a:ext cx="5021100" cy="10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5F89"/>
                </a:solidFill>
              </a:rPr>
              <a:t>Correlation · Linear regression · Assumptions · Loss · Evaluation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g3fa1f53d6d9_0_0"/>
          <p:cNvSpPr txBox="1"/>
          <p:nvPr>
            <p:ph idx="12" type="sldNum"/>
          </p:nvPr>
        </p:nvSpPr>
        <p:spPr>
          <a:xfrm>
            <a:off x="10058137" y="64925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7" name="Google Shape;277;g3fa1f53d6d9_0_244"/>
          <p:cNvPicPr preferRelativeResize="0"/>
          <p:nvPr/>
        </p:nvPicPr>
        <p:blipFill rotWithShape="1">
          <a:blip r:embed="rId3">
            <a:alphaModFix/>
          </a:blip>
          <a:srcRect b="84967" l="0" r="82433" t="0"/>
          <a:stretch/>
        </p:blipFill>
        <p:spPr>
          <a:xfrm>
            <a:off x="0" y="0"/>
            <a:ext cx="1987917" cy="102996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g3fa1f53d6d9_0_244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/33</a:t>
            </a:r>
            <a:endParaRPr b="0" sz="1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9" name="Google Shape;279;g3fa1f53d6d9_0_244"/>
          <p:cNvSpPr txBox="1"/>
          <p:nvPr/>
        </p:nvSpPr>
        <p:spPr>
          <a:xfrm>
            <a:off x="1915300" y="475850"/>
            <a:ext cx="593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2400">
                <a:solidFill>
                  <a:srgbClr val="143552"/>
                </a:solidFill>
              </a:rPr>
              <a:t>What's for today</a:t>
            </a:r>
            <a:endParaRPr/>
          </a:p>
        </p:txBody>
      </p:sp>
      <p:sp>
        <p:nvSpPr>
          <p:cNvPr id="280" name="Google Shape;280;g3fa1f53d6d9_0_244"/>
          <p:cNvSpPr/>
          <p:nvPr/>
        </p:nvSpPr>
        <p:spPr>
          <a:xfrm>
            <a:off x="1140180" y="2156515"/>
            <a:ext cx="1553700" cy="1416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g3fa1f53d6d9_0_244"/>
          <p:cNvSpPr/>
          <p:nvPr/>
        </p:nvSpPr>
        <p:spPr>
          <a:xfrm>
            <a:off x="1231620" y="2385115"/>
            <a:ext cx="13710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2F6BFF"/>
                </a:solidFill>
              </a:rPr>
              <a:t>      </a:t>
            </a:r>
            <a:r>
              <a:rPr b="1" lang="en-US" sz="1900" u="none" strike="noStrike">
                <a:solidFill>
                  <a:srgbClr val="2F6BFF"/>
                </a:solidFill>
                <a:latin typeface="Arial"/>
                <a:ea typeface="Arial"/>
                <a:cs typeface="Arial"/>
                <a:sym typeface="Arial"/>
              </a:rPr>
              <a:t>Inspect</a:t>
            </a:r>
            <a:endParaRPr b="0" sz="1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g3fa1f53d6d9_0_244"/>
          <p:cNvSpPr/>
          <p:nvPr/>
        </p:nvSpPr>
        <p:spPr>
          <a:xfrm>
            <a:off x="1249980" y="2842315"/>
            <a:ext cx="13341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rgbClr val="5E6C84"/>
                </a:solidFill>
              </a:rPr>
              <a:t>Data preparation</a:t>
            </a:r>
            <a:endParaRPr b="0" sz="15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g3fa1f53d6d9_0_244"/>
          <p:cNvSpPr/>
          <p:nvPr/>
        </p:nvSpPr>
        <p:spPr>
          <a:xfrm>
            <a:off x="3014700" y="2156515"/>
            <a:ext cx="1553700" cy="1416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18A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g3fa1f53d6d9_0_244"/>
          <p:cNvSpPr/>
          <p:nvPr/>
        </p:nvSpPr>
        <p:spPr>
          <a:xfrm>
            <a:off x="3106140" y="2385115"/>
            <a:ext cx="13710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18A999"/>
                </a:solidFill>
              </a:rPr>
              <a:t>Statistics</a:t>
            </a:r>
            <a:endParaRPr b="0" sz="1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g3fa1f53d6d9_0_244"/>
          <p:cNvSpPr/>
          <p:nvPr/>
        </p:nvSpPr>
        <p:spPr>
          <a:xfrm>
            <a:off x="3124500" y="2842315"/>
            <a:ext cx="13341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rgbClr val="5E6C84"/>
                </a:solidFill>
              </a:rPr>
              <a:t>          Correlation</a:t>
            </a:r>
            <a:endParaRPr b="0" sz="15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g3fa1f53d6d9_0_244"/>
          <p:cNvSpPr/>
          <p:nvPr/>
        </p:nvSpPr>
        <p:spPr>
          <a:xfrm>
            <a:off x="4779788" y="2156525"/>
            <a:ext cx="1775700" cy="1416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7C5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g3fa1f53d6d9_0_244"/>
          <p:cNvSpPr/>
          <p:nvPr/>
        </p:nvSpPr>
        <p:spPr>
          <a:xfrm>
            <a:off x="4980660" y="2385115"/>
            <a:ext cx="13710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7C5CFC"/>
                </a:solidFill>
              </a:rPr>
              <a:t>Model fit</a:t>
            </a:r>
            <a:endParaRPr b="0" sz="1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g3fa1f53d6d9_0_244"/>
          <p:cNvSpPr/>
          <p:nvPr/>
        </p:nvSpPr>
        <p:spPr>
          <a:xfrm>
            <a:off x="4999025" y="2842325"/>
            <a:ext cx="13710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rgbClr val="5E6C84"/>
                </a:solidFill>
              </a:rPr>
              <a:t>Simple/multiple</a:t>
            </a:r>
            <a:endParaRPr b="0" sz="15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g3fa1f53d6d9_0_244"/>
          <p:cNvSpPr/>
          <p:nvPr/>
        </p:nvSpPr>
        <p:spPr>
          <a:xfrm>
            <a:off x="6763740" y="2156515"/>
            <a:ext cx="1553700" cy="1416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g3fa1f53d6d9_0_244"/>
          <p:cNvSpPr/>
          <p:nvPr/>
        </p:nvSpPr>
        <p:spPr>
          <a:xfrm>
            <a:off x="6855180" y="2385115"/>
            <a:ext cx="13710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F59E0B"/>
                </a:solidFill>
              </a:rPr>
              <a:t>Diagnose</a:t>
            </a:r>
            <a:endParaRPr b="0" sz="1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g3fa1f53d6d9_0_244"/>
          <p:cNvSpPr/>
          <p:nvPr/>
        </p:nvSpPr>
        <p:spPr>
          <a:xfrm>
            <a:off x="6873540" y="2842315"/>
            <a:ext cx="13341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20">
                <a:solidFill>
                  <a:srgbClr val="5E6C84"/>
                </a:solidFill>
              </a:rPr>
              <a:t>Assumptions</a:t>
            </a:r>
            <a:endParaRPr b="0" sz="152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g3fa1f53d6d9_0_244"/>
          <p:cNvSpPr/>
          <p:nvPr/>
        </p:nvSpPr>
        <p:spPr>
          <a:xfrm>
            <a:off x="8638260" y="2156515"/>
            <a:ext cx="1553700" cy="1416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E052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g3fa1f53d6d9_0_244"/>
          <p:cNvSpPr/>
          <p:nvPr/>
        </p:nvSpPr>
        <p:spPr>
          <a:xfrm>
            <a:off x="8729700" y="2385115"/>
            <a:ext cx="13710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E05260"/>
                </a:solidFill>
              </a:rPr>
              <a:t>Evaluate</a:t>
            </a:r>
            <a:endParaRPr b="0" sz="1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g3fa1f53d6d9_0_244"/>
          <p:cNvSpPr/>
          <p:nvPr/>
        </p:nvSpPr>
        <p:spPr>
          <a:xfrm>
            <a:off x="8748060" y="2842315"/>
            <a:ext cx="13341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rgbClr val="5E6C84"/>
                </a:solidFill>
              </a:rPr>
              <a:t>Metrics</a:t>
            </a:r>
            <a:endParaRPr b="0" sz="15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fa35a6d944_0_26"/>
          <p:cNvSpPr txBox="1"/>
          <p:nvPr>
            <p:ph type="title"/>
          </p:nvPr>
        </p:nvSpPr>
        <p:spPr>
          <a:xfrm>
            <a:off x="889198" y="2752560"/>
            <a:ext cx="8910300" cy="163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200">
                <a:solidFill>
                  <a:srgbClr val="1BA096"/>
                </a:solidFill>
              </a:rPr>
              <a:t>1. From variation to relationships</a:t>
            </a:r>
            <a:endParaRPr b="0" sz="2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F89"/>
              </a:buClr>
              <a:buSzPct val="100000"/>
              <a:buFont typeface="Arial"/>
              <a:buNone/>
            </a:pPr>
            <a:r>
              <a:t/>
            </a:r>
            <a:endParaRPr sz="2000">
              <a:solidFill>
                <a:srgbClr val="005F89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F89"/>
              </a:buClr>
              <a:buSzPct val="100000"/>
              <a:buFont typeface="Arial"/>
              <a:buNone/>
            </a:pPr>
            <a:r>
              <a:t/>
            </a:r>
            <a:endParaRPr sz="2000">
              <a:solidFill>
                <a:srgbClr val="005F89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g3fa35a6d944_0_26"/>
          <p:cNvSpPr txBox="1"/>
          <p:nvPr>
            <p:ph idx="12" type="sldNum"/>
          </p:nvPr>
        </p:nvSpPr>
        <p:spPr>
          <a:xfrm>
            <a:off x="11409073" y="633312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2025" lIns="122025" spcFirstLastPara="1" rIns="122025" wrap="square" tIns="1220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01" name="Google Shape;301;g3fa35a6d944_0_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5900" y="1672621"/>
            <a:ext cx="4704576" cy="3512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g3fa35a6d944_0_0"/>
          <p:cNvPicPr preferRelativeResize="0"/>
          <p:nvPr/>
        </p:nvPicPr>
        <p:blipFill rotWithShape="1">
          <a:blip r:embed="rId3">
            <a:alphaModFix/>
          </a:blip>
          <a:srcRect b="84967" l="0" r="82433" t="0"/>
          <a:stretch/>
        </p:blipFill>
        <p:spPr>
          <a:xfrm>
            <a:off x="0" y="0"/>
            <a:ext cx="1987917" cy="102996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g3fa35a6d944_0_0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/33</a:t>
            </a:r>
            <a:endParaRPr b="0" sz="1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8" name="Google Shape;308;g3fa35a6d944_0_0"/>
          <p:cNvSpPr txBox="1"/>
          <p:nvPr/>
        </p:nvSpPr>
        <p:spPr>
          <a:xfrm>
            <a:off x="1820350" y="427747"/>
            <a:ext cx="1051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43552"/>
                </a:solidFill>
              </a:rPr>
              <a:t>First step - EDA</a:t>
            </a:r>
            <a:endParaRPr/>
          </a:p>
        </p:txBody>
      </p:sp>
      <p:sp>
        <p:nvSpPr>
          <p:cNvPr id="309" name="Google Shape;309;g3fa35a6d944_0_0"/>
          <p:cNvSpPr txBox="1"/>
          <p:nvPr/>
        </p:nvSpPr>
        <p:spPr>
          <a:xfrm>
            <a:off x="1230810" y="1784762"/>
            <a:ext cx="2834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B6CB0"/>
                </a:solidFill>
                <a:latin typeface="Arial"/>
                <a:ea typeface="Arial"/>
                <a:cs typeface="Arial"/>
                <a:sym typeface="Arial"/>
              </a:rPr>
              <a:t>Center</a:t>
            </a:r>
            <a:endParaRPr sz="2000"/>
          </a:p>
        </p:txBody>
      </p:sp>
      <p:sp>
        <p:nvSpPr>
          <p:cNvPr id="310" name="Google Shape;310;g3fa35a6d944_0_0"/>
          <p:cNvSpPr txBox="1"/>
          <p:nvPr/>
        </p:nvSpPr>
        <p:spPr>
          <a:xfrm>
            <a:off x="1230810" y="2214530"/>
            <a:ext cx="2834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  <a:t>Mean</a:t>
            </a:r>
            <a:br>
              <a:rPr b="0" i="0" lang="en-US" sz="18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  <a:t>Median</a:t>
            </a:r>
            <a:endParaRPr b="0" i="0" sz="1800" u="none" cap="none" strike="noStrike">
              <a:solidFill>
                <a:srgbClr val="232A3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32A31"/>
                </a:solidFill>
              </a:rPr>
              <a:t>Mode</a:t>
            </a:r>
            <a:endParaRPr sz="1800">
              <a:solidFill>
                <a:srgbClr val="232A31"/>
              </a:solidFill>
            </a:endParaRPr>
          </a:p>
        </p:txBody>
      </p:sp>
      <p:sp>
        <p:nvSpPr>
          <p:cNvPr id="311" name="Google Shape;311;g3fa35a6d944_0_0"/>
          <p:cNvSpPr txBox="1"/>
          <p:nvPr/>
        </p:nvSpPr>
        <p:spPr>
          <a:xfrm>
            <a:off x="4842690" y="1784762"/>
            <a:ext cx="2834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BA096"/>
                </a:solidFill>
                <a:latin typeface="Arial"/>
                <a:ea typeface="Arial"/>
                <a:cs typeface="Arial"/>
                <a:sym typeface="Arial"/>
              </a:rPr>
              <a:t>Spread</a:t>
            </a:r>
            <a:endParaRPr sz="1800"/>
          </a:p>
        </p:txBody>
      </p:sp>
      <p:sp>
        <p:nvSpPr>
          <p:cNvPr id="312" name="Google Shape;312;g3fa35a6d944_0_0"/>
          <p:cNvSpPr txBox="1"/>
          <p:nvPr/>
        </p:nvSpPr>
        <p:spPr>
          <a:xfrm>
            <a:off x="4842690" y="2214530"/>
            <a:ext cx="28347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  <a:t>Variance</a:t>
            </a:r>
            <a:endParaRPr sz="1600">
              <a:solidFill>
                <a:srgbClr val="232A3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32A31"/>
                </a:solidFill>
              </a:rPr>
              <a:t>SD</a:t>
            </a:r>
            <a:endParaRPr sz="1600">
              <a:solidFill>
                <a:srgbClr val="232A3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32A31"/>
                </a:solidFill>
              </a:rPr>
              <a:t>SE</a:t>
            </a:r>
            <a:br>
              <a:rPr b="0" i="0" lang="en-US" sz="16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  <a:t>IQR</a:t>
            </a:r>
            <a:endParaRPr sz="1800"/>
          </a:p>
        </p:txBody>
      </p:sp>
      <p:sp>
        <p:nvSpPr>
          <p:cNvPr id="313" name="Google Shape;313;g3fa35a6d944_0_0"/>
          <p:cNvSpPr txBox="1"/>
          <p:nvPr/>
        </p:nvSpPr>
        <p:spPr>
          <a:xfrm>
            <a:off x="8454570" y="1784762"/>
            <a:ext cx="2834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F29923"/>
                </a:solidFill>
                <a:latin typeface="Arial"/>
                <a:ea typeface="Arial"/>
                <a:cs typeface="Arial"/>
                <a:sym typeface="Arial"/>
              </a:rPr>
              <a:t>Shape</a:t>
            </a:r>
            <a:endParaRPr sz="1800"/>
          </a:p>
        </p:txBody>
      </p:sp>
      <p:sp>
        <p:nvSpPr>
          <p:cNvPr id="314" name="Google Shape;314;g3fa35a6d944_0_0"/>
          <p:cNvSpPr txBox="1"/>
          <p:nvPr/>
        </p:nvSpPr>
        <p:spPr>
          <a:xfrm>
            <a:off x="8454570" y="2214530"/>
            <a:ext cx="28347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  <a:t>Symmetry</a:t>
            </a:r>
            <a:r>
              <a:rPr lang="en-US" sz="1600">
                <a:solidFill>
                  <a:srgbClr val="232A31"/>
                </a:solidFill>
              </a:rPr>
              <a:t> - </a:t>
            </a:r>
            <a:r>
              <a:rPr b="0" i="0" lang="en-US" sz="16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  <a:t>skew</a:t>
            </a:r>
            <a:br>
              <a:rPr b="0" i="0" lang="en-US" sz="16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  <a:t>Multimodality</a:t>
            </a:r>
            <a:endParaRPr sz="1600">
              <a:solidFill>
                <a:srgbClr val="232A3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  <a:t>outliers</a:t>
            </a:r>
            <a:endParaRPr sz="1800"/>
          </a:p>
        </p:txBody>
      </p:sp>
      <p:pic>
        <p:nvPicPr>
          <p:cNvPr id="315" name="Google Shape;315;g3fa35a6d944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534225"/>
            <a:ext cx="4060250" cy="203012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EE4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</p:pic>
      <p:pic>
        <p:nvPicPr>
          <p:cNvPr id="316" name="Google Shape;316;g3fa35a6d944_0_0"/>
          <p:cNvPicPr preferRelativeResize="0"/>
          <p:nvPr/>
        </p:nvPicPr>
        <p:blipFill rotWithShape="1">
          <a:blip r:embed="rId5">
            <a:alphaModFix/>
          </a:blip>
          <a:srcRect b="7993" l="0" r="0" t="24444"/>
          <a:stretch/>
        </p:blipFill>
        <p:spPr>
          <a:xfrm>
            <a:off x="3959075" y="3534225"/>
            <a:ext cx="4601925" cy="217662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EE4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</p:pic>
      <p:pic>
        <p:nvPicPr>
          <p:cNvPr id="317" name="Google Shape;317;g3fa35a6d944_0_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019325" y="3534225"/>
            <a:ext cx="4142726" cy="23829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2" name="Google Shape;322;g3fa35a6d944_0_161"/>
          <p:cNvPicPr preferRelativeResize="0"/>
          <p:nvPr/>
        </p:nvPicPr>
        <p:blipFill rotWithShape="1">
          <a:blip r:embed="rId3">
            <a:alphaModFix/>
          </a:blip>
          <a:srcRect b="84967" l="0" r="82433" t="0"/>
          <a:stretch/>
        </p:blipFill>
        <p:spPr>
          <a:xfrm>
            <a:off x="0" y="0"/>
            <a:ext cx="1987917" cy="1029960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g3fa35a6d944_0_161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/33</a:t>
            </a:r>
            <a:endParaRPr b="0" sz="1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4" name="Google Shape;324;g3fa35a6d944_0_161"/>
          <p:cNvSpPr txBox="1"/>
          <p:nvPr/>
        </p:nvSpPr>
        <p:spPr>
          <a:xfrm>
            <a:off x="1756050" y="210697"/>
            <a:ext cx="1051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43552"/>
                </a:solidFill>
              </a:rPr>
              <a:t>Visualizations</a:t>
            </a:r>
            <a:r>
              <a:rPr b="1" lang="en-US" sz="2400">
                <a:solidFill>
                  <a:srgbClr val="143552"/>
                </a:solidFill>
              </a:rPr>
              <a:t> still </a:t>
            </a:r>
            <a:r>
              <a:rPr b="1" lang="en-US" sz="2400">
                <a:solidFill>
                  <a:srgbClr val="143552"/>
                </a:solidFill>
              </a:rPr>
              <a:t>useful</a:t>
            </a:r>
            <a:endParaRPr/>
          </a:p>
        </p:txBody>
      </p:sp>
      <p:pic>
        <p:nvPicPr>
          <p:cNvPr id="325" name="Google Shape;325;g3fa35a6d944_0_1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76117" y="748022"/>
            <a:ext cx="6715402" cy="57546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fa35a6d944_0_180"/>
          <p:cNvSpPr txBox="1"/>
          <p:nvPr>
            <p:ph type="title"/>
          </p:nvPr>
        </p:nvSpPr>
        <p:spPr>
          <a:xfrm>
            <a:off x="889198" y="2752560"/>
            <a:ext cx="8910300" cy="163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2200">
                <a:solidFill>
                  <a:srgbClr val="1BA096"/>
                </a:solidFill>
              </a:rPr>
              <a:t>2. Correlation and confounding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2200">
              <a:solidFill>
                <a:srgbClr val="1BA09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5F89"/>
              </a:buClr>
              <a:buSzPct val="100000"/>
              <a:buFont typeface="Arial"/>
              <a:buNone/>
            </a:pPr>
            <a:r>
              <a:rPr lang="en-US" sz="2000">
                <a:solidFill>
                  <a:srgbClr val="005F89"/>
                </a:solidFill>
              </a:rPr>
              <a:t>Quantifying association and why it might be useless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F89"/>
              </a:buClr>
              <a:buSzPct val="111111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g3fa35a6d944_0_180"/>
          <p:cNvSpPr txBox="1"/>
          <p:nvPr>
            <p:ph idx="12" type="sldNum"/>
          </p:nvPr>
        </p:nvSpPr>
        <p:spPr>
          <a:xfrm>
            <a:off x="11409073" y="633312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2025" lIns="122025" spcFirstLastPara="1" rIns="122025" wrap="square" tIns="1220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32" name="Google Shape;332;g3fa35a6d944_0_1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84654" y="1727709"/>
            <a:ext cx="3407324" cy="3402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Google Shape;337;g3fa35a6d944_0_1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825" y="2980125"/>
            <a:ext cx="8190199" cy="352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g3fa35a6d944_0_185"/>
          <p:cNvPicPr preferRelativeResize="0"/>
          <p:nvPr/>
        </p:nvPicPr>
        <p:blipFill rotWithShape="1">
          <a:blip r:embed="rId4">
            <a:alphaModFix/>
          </a:blip>
          <a:srcRect b="84967" l="0" r="82433" t="0"/>
          <a:stretch/>
        </p:blipFill>
        <p:spPr>
          <a:xfrm>
            <a:off x="0" y="0"/>
            <a:ext cx="1987917" cy="102996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g3fa35a6d944_0_185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/33</a:t>
            </a:r>
            <a:endParaRPr b="0" sz="1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0" name="Google Shape;340;g3fa35a6d944_0_185"/>
          <p:cNvSpPr txBox="1"/>
          <p:nvPr/>
        </p:nvSpPr>
        <p:spPr>
          <a:xfrm>
            <a:off x="2144550" y="347475"/>
            <a:ext cx="928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43552"/>
                </a:solidFill>
                <a:latin typeface="Arial"/>
                <a:ea typeface="Arial"/>
                <a:cs typeface="Arial"/>
                <a:sym typeface="Arial"/>
              </a:rPr>
              <a:t>Covariance asks whether two variables move together</a:t>
            </a:r>
            <a:endParaRPr/>
          </a:p>
        </p:txBody>
      </p:sp>
      <p:sp>
        <p:nvSpPr>
          <p:cNvPr id="341" name="Google Shape;341;g3fa35a6d944_0_185"/>
          <p:cNvSpPr txBox="1"/>
          <p:nvPr/>
        </p:nvSpPr>
        <p:spPr>
          <a:xfrm>
            <a:off x="960120" y="1581912"/>
            <a:ext cx="30174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BA096"/>
                </a:solidFill>
              </a:rPr>
              <a:t>Cov &gt; 0</a:t>
            </a:r>
            <a:endParaRPr sz="2100"/>
          </a:p>
        </p:txBody>
      </p:sp>
      <p:sp>
        <p:nvSpPr>
          <p:cNvPr id="342" name="Google Shape;342;g3fa35a6d944_0_185"/>
          <p:cNvSpPr txBox="1"/>
          <p:nvPr/>
        </p:nvSpPr>
        <p:spPr>
          <a:xfrm>
            <a:off x="960120" y="2011680"/>
            <a:ext cx="3017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  <a:t>Large X tends to occur with large Y.</a:t>
            </a:r>
            <a:endParaRPr sz="2100"/>
          </a:p>
        </p:txBody>
      </p:sp>
      <p:sp>
        <p:nvSpPr>
          <p:cNvPr id="343" name="Google Shape;343;g3fa35a6d944_0_185"/>
          <p:cNvSpPr txBox="1"/>
          <p:nvPr/>
        </p:nvSpPr>
        <p:spPr>
          <a:xfrm>
            <a:off x="4572000" y="1581912"/>
            <a:ext cx="30174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2B6CB0"/>
                </a:solidFill>
              </a:rPr>
              <a:t>Cov ~ 0</a:t>
            </a:r>
            <a:endParaRPr sz="2100"/>
          </a:p>
        </p:txBody>
      </p:sp>
      <p:sp>
        <p:nvSpPr>
          <p:cNvPr id="344" name="Google Shape;344;g3fa35a6d944_0_185"/>
          <p:cNvSpPr txBox="1"/>
          <p:nvPr/>
        </p:nvSpPr>
        <p:spPr>
          <a:xfrm>
            <a:off x="4572000" y="2011680"/>
            <a:ext cx="3017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  <a:t>No consistent linear co-movement.</a:t>
            </a:r>
            <a:endParaRPr sz="2100"/>
          </a:p>
        </p:txBody>
      </p:sp>
      <p:sp>
        <p:nvSpPr>
          <p:cNvPr id="345" name="Google Shape;345;g3fa35a6d944_0_185"/>
          <p:cNvSpPr txBox="1"/>
          <p:nvPr/>
        </p:nvSpPr>
        <p:spPr>
          <a:xfrm>
            <a:off x="8183880" y="1581912"/>
            <a:ext cx="30174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F29923"/>
                </a:solidFill>
              </a:rPr>
              <a:t>Cov &lt; 0</a:t>
            </a:r>
            <a:endParaRPr sz="2100"/>
          </a:p>
        </p:txBody>
      </p:sp>
      <p:sp>
        <p:nvSpPr>
          <p:cNvPr id="346" name="Google Shape;346;g3fa35a6d944_0_185"/>
          <p:cNvSpPr txBox="1"/>
          <p:nvPr/>
        </p:nvSpPr>
        <p:spPr>
          <a:xfrm>
            <a:off x="8183880" y="2011680"/>
            <a:ext cx="3017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  <a:t>Large X tends to occur with small Y.</a:t>
            </a:r>
            <a:endParaRPr sz="2100"/>
          </a:p>
        </p:txBody>
      </p:sp>
      <p:pic>
        <p:nvPicPr>
          <p:cNvPr id="347" name="Google Shape;347;g3fa35a6d944_0_18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98275" y="4128470"/>
            <a:ext cx="4619625" cy="123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2" name="Google Shape;352;g3fa35a6d944_0_229"/>
          <p:cNvPicPr preferRelativeResize="0"/>
          <p:nvPr/>
        </p:nvPicPr>
        <p:blipFill rotWithShape="1">
          <a:blip r:embed="rId3">
            <a:alphaModFix/>
          </a:blip>
          <a:srcRect b="84967" l="0" r="82433" t="0"/>
          <a:stretch/>
        </p:blipFill>
        <p:spPr>
          <a:xfrm>
            <a:off x="0" y="0"/>
            <a:ext cx="1987917" cy="1029960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g3fa35a6d944_0_229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/33</a:t>
            </a:r>
            <a:endParaRPr b="0" sz="1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4" name="Google Shape;354;g3fa35a6d944_0_229"/>
          <p:cNvSpPr txBox="1"/>
          <p:nvPr/>
        </p:nvSpPr>
        <p:spPr>
          <a:xfrm>
            <a:off x="1777575" y="347475"/>
            <a:ext cx="965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43552"/>
                </a:solidFill>
              </a:rPr>
              <a:t>Correlation</a:t>
            </a:r>
            <a:r>
              <a:rPr b="1" i="0" lang="en-US" sz="2400" u="none" cap="none" strike="noStrike">
                <a:solidFill>
                  <a:srgbClr val="14355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US" sz="2400">
                <a:solidFill>
                  <a:srgbClr val="143552"/>
                </a:solidFill>
              </a:rPr>
              <a:t>- standardized covariance</a:t>
            </a:r>
            <a:endParaRPr/>
          </a:p>
        </p:txBody>
      </p:sp>
      <p:sp>
        <p:nvSpPr>
          <p:cNvPr id="355" name="Google Shape;355;g3fa35a6d944_0_229"/>
          <p:cNvSpPr txBox="1"/>
          <p:nvPr/>
        </p:nvSpPr>
        <p:spPr>
          <a:xfrm>
            <a:off x="1249602" y="1062220"/>
            <a:ext cx="4297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2B6CB0"/>
                </a:solidFill>
                <a:latin typeface="Arial"/>
                <a:ea typeface="Arial"/>
                <a:cs typeface="Arial"/>
                <a:sym typeface="Arial"/>
              </a:rPr>
              <a:t>Pearson correlation</a:t>
            </a:r>
            <a:endParaRPr sz="1800"/>
          </a:p>
        </p:txBody>
      </p:sp>
      <p:sp>
        <p:nvSpPr>
          <p:cNvPr id="356" name="Google Shape;356;g3fa35a6d944_0_229"/>
          <p:cNvSpPr txBox="1"/>
          <p:nvPr/>
        </p:nvSpPr>
        <p:spPr>
          <a:xfrm>
            <a:off x="1249602" y="1491988"/>
            <a:ext cx="4297800" cy="18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  <a:t>Works on measured values.</a:t>
            </a:r>
            <a:br>
              <a:rPr b="0" i="0" lang="en-US" sz="16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6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  <a:t>Best interpreted as strength of a linear relationship.</a:t>
            </a:r>
            <a:br>
              <a:rPr b="0" i="0" lang="en-US" sz="16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6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  <a:t>Can be strongly affected by extreme observations.</a:t>
            </a:r>
            <a:endParaRPr sz="1800"/>
          </a:p>
        </p:txBody>
      </p:sp>
      <p:sp>
        <p:nvSpPr>
          <p:cNvPr id="357" name="Google Shape;357;g3fa35a6d944_0_229"/>
          <p:cNvSpPr txBox="1"/>
          <p:nvPr/>
        </p:nvSpPr>
        <p:spPr>
          <a:xfrm>
            <a:off x="6644563" y="1062220"/>
            <a:ext cx="4297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BA096"/>
                </a:solidFill>
                <a:latin typeface="Arial"/>
                <a:ea typeface="Arial"/>
                <a:cs typeface="Arial"/>
                <a:sym typeface="Arial"/>
              </a:rPr>
              <a:t>Spearman correlation</a:t>
            </a:r>
            <a:endParaRPr sz="1800"/>
          </a:p>
        </p:txBody>
      </p:sp>
      <p:sp>
        <p:nvSpPr>
          <p:cNvPr id="358" name="Google Shape;358;g3fa35a6d944_0_229"/>
          <p:cNvSpPr txBox="1"/>
          <p:nvPr/>
        </p:nvSpPr>
        <p:spPr>
          <a:xfrm>
            <a:off x="6644563" y="1491988"/>
            <a:ext cx="42978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  <a:t>Works on ranks.</a:t>
            </a:r>
            <a:br>
              <a:rPr b="0" i="0" lang="en-US" sz="16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6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  <a:t>Measures monotonic association.</a:t>
            </a:r>
            <a:br>
              <a:rPr b="0" i="0" lang="en-US" sz="16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6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  <a:t>Useful when the relationship is ordered but not linear.</a:t>
            </a:r>
            <a:endParaRPr sz="1800"/>
          </a:p>
        </p:txBody>
      </p:sp>
      <p:pic>
        <p:nvPicPr>
          <p:cNvPr id="359" name="Google Shape;359;g3fa35a6d944_0_2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2174987" y="2450824"/>
            <a:ext cx="2278975" cy="405822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EE4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</p:pic>
      <p:pic>
        <p:nvPicPr>
          <p:cNvPr id="360" name="Google Shape;360;g3fa35a6d944_0_2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24949" y="3179875"/>
            <a:ext cx="3918751" cy="2696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EE4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5" name="Google Shape;365;g32f1a03d0f3b0ff4_0"/>
          <p:cNvPicPr preferRelativeResize="0"/>
          <p:nvPr/>
        </p:nvPicPr>
        <p:blipFill rotWithShape="1">
          <a:blip r:embed="rId3">
            <a:alphaModFix/>
          </a:blip>
          <a:srcRect b="84967" l="0" r="82433" t="0"/>
          <a:stretch/>
        </p:blipFill>
        <p:spPr>
          <a:xfrm>
            <a:off x="0" y="0"/>
            <a:ext cx="1987917" cy="102996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g32f1a03d0f3b0ff4_0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/33</a:t>
            </a:r>
            <a:endParaRPr b="0" sz="1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7" name="Google Shape;367;g32f1a03d0f3b0ff4_0"/>
          <p:cNvSpPr txBox="1"/>
          <p:nvPr/>
        </p:nvSpPr>
        <p:spPr>
          <a:xfrm>
            <a:off x="1777575" y="347475"/>
            <a:ext cx="965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43552"/>
                </a:solidFill>
              </a:rPr>
              <a:t>Correlation</a:t>
            </a:r>
            <a:r>
              <a:rPr b="1" i="0" lang="en-US" sz="2400" u="none" cap="none" strike="noStrike">
                <a:solidFill>
                  <a:srgbClr val="14355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US" sz="2400">
                <a:solidFill>
                  <a:srgbClr val="143552"/>
                </a:solidFill>
              </a:rPr>
              <a:t>- standardized covariance</a:t>
            </a:r>
            <a:endParaRPr/>
          </a:p>
        </p:txBody>
      </p:sp>
      <p:sp>
        <p:nvSpPr>
          <p:cNvPr id="368" name="Google Shape;368;g32f1a03d0f3b0ff4_0"/>
          <p:cNvSpPr txBox="1"/>
          <p:nvPr/>
        </p:nvSpPr>
        <p:spPr>
          <a:xfrm>
            <a:off x="1249602" y="1062220"/>
            <a:ext cx="4297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2B6CB0"/>
                </a:solidFill>
                <a:latin typeface="Arial"/>
                <a:ea typeface="Arial"/>
                <a:cs typeface="Arial"/>
                <a:sym typeface="Arial"/>
              </a:rPr>
              <a:t>Pearson correlation</a:t>
            </a:r>
            <a:endParaRPr sz="1800"/>
          </a:p>
        </p:txBody>
      </p:sp>
      <p:sp>
        <p:nvSpPr>
          <p:cNvPr id="369" name="Google Shape;369;g32f1a03d0f3b0ff4_0"/>
          <p:cNvSpPr txBox="1"/>
          <p:nvPr/>
        </p:nvSpPr>
        <p:spPr>
          <a:xfrm>
            <a:off x="1249602" y="1491988"/>
            <a:ext cx="4297800" cy="18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  <a:t>Works on measured values.</a:t>
            </a:r>
            <a:br>
              <a:rPr b="0" i="0" lang="en-US" sz="16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6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  <a:t>Best interpreted as strength of a linear relationship.</a:t>
            </a:r>
            <a:br>
              <a:rPr b="0" i="0" lang="en-US" sz="16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6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  <a:t>Can be strongly affected by extreme observations.</a:t>
            </a:r>
            <a:endParaRPr sz="1800"/>
          </a:p>
        </p:txBody>
      </p:sp>
      <p:sp>
        <p:nvSpPr>
          <p:cNvPr id="370" name="Google Shape;370;g32f1a03d0f3b0ff4_0"/>
          <p:cNvSpPr txBox="1"/>
          <p:nvPr/>
        </p:nvSpPr>
        <p:spPr>
          <a:xfrm>
            <a:off x="6644563" y="1062220"/>
            <a:ext cx="4297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BA096"/>
                </a:solidFill>
                <a:latin typeface="Arial"/>
                <a:ea typeface="Arial"/>
                <a:cs typeface="Arial"/>
                <a:sym typeface="Arial"/>
              </a:rPr>
              <a:t>Spearman correlation</a:t>
            </a:r>
            <a:endParaRPr sz="1800"/>
          </a:p>
        </p:txBody>
      </p:sp>
      <p:sp>
        <p:nvSpPr>
          <p:cNvPr id="371" name="Google Shape;371;g32f1a03d0f3b0ff4_0"/>
          <p:cNvSpPr txBox="1"/>
          <p:nvPr/>
        </p:nvSpPr>
        <p:spPr>
          <a:xfrm>
            <a:off x="6644563" y="1491988"/>
            <a:ext cx="42978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  <a:t>Works on ranks.</a:t>
            </a:r>
            <a:br>
              <a:rPr b="0" i="0" lang="en-US" sz="16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6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  <a:t>Measures monotonic association.</a:t>
            </a:r>
            <a:br>
              <a:rPr b="0" i="0" lang="en-US" sz="16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6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  <a:t>Useful when the relationship is ordered but not linear.</a:t>
            </a:r>
            <a:endParaRPr sz="1800"/>
          </a:p>
        </p:txBody>
      </p:sp>
      <p:pic>
        <p:nvPicPr>
          <p:cNvPr id="372" name="Google Shape;372;g32f1a03d0f3b0ff4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2174987" y="2450824"/>
            <a:ext cx="2278975" cy="405822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EE4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</p:pic>
      <p:pic>
        <p:nvPicPr>
          <p:cNvPr id="373" name="Google Shape;373;g32f1a03d0f3b0ff4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24949" y="3179875"/>
            <a:ext cx="3918751" cy="2696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EE4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</p:pic>
      <p:pic>
        <p:nvPicPr>
          <p:cNvPr id="374" name="Google Shape;374;g32f1a03d0f3b0ff4_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70986" y="-12"/>
            <a:ext cx="5489453" cy="6858001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EE4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" name="Google Shape;379;g3fa35a6d944_0_257"/>
          <p:cNvPicPr preferRelativeResize="0"/>
          <p:nvPr/>
        </p:nvPicPr>
        <p:blipFill rotWithShape="1">
          <a:blip r:embed="rId3">
            <a:alphaModFix/>
          </a:blip>
          <a:srcRect b="84967" l="0" r="82433" t="0"/>
          <a:stretch/>
        </p:blipFill>
        <p:spPr>
          <a:xfrm>
            <a:off x="0" y="0"/>
            <a:ext cx="1987917" cy="1029960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g3fa35a6d944_0_257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/33</a:t>
            </a:r>
            <a:endParaRPr b="0" sz="1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1" name="Google Shape;381;g3fa35a6d944_0_257"/>
          <p:cNvSpPr txBox="1"/>
          <p:nvPr/>
        </p:nvSpPr>
        <p:spPr>
          <a:xfrm>
            <a:off x="1889675" y="347475"/>
            <a:ext cx="954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43552"/>
                </a:solidFill>
                <a:latin typeface="Arial"/>
                <a:ea typeface="Arial"/>
                <a:cs typeface="Arial"/>
                <a:sym typeface="Arial"/>
              </a:rPr>
              <a:t>Correlation is not causation </a:t>
            </a:r>
            <a:r>
              <a:rPr b="1" lang="en-US" sz="2400">
                <a:solidFill>
                  <a:srgbClr val="143552"/>
                </a:solidFill>
              </a:rPr>
              <a:t>- check for confounders</a:t>
            </a:r>
            <a:endParaRPr/>
          </a:p>
        </p:txBody>
      </p:sp>
      <p:pic>
        <p:nvPicPr>
          <p:cNvPr id="382" name="Google Shape;382;g3fa35a6d944_0_2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6575" y="1078467"/>
            <a:ext cx="4045429" cy="5702808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g3fa35a6d944_0_2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76804" y="1917025"/>
            <a:ext cx="7315169" cy="33039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fa35a6d944_0_298"/>
          <p:cNvSpPr txBox="1"/>
          <p:nvPr>
            <p:ph type="title"/>
          </p:nvPr>
        </p:nvSpPr>
        <p:spPr>
          <a:xfrm>
            <a:off x="889198" y="2752560"/>
            <a:ext cx="8910300" cy="163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200">
                <a:solidFill>
                  <a:srgbClr val="1BA096"/>
                </a:solidFill>
              </a:rPr>
              <a:t>3. Linear regression and residuals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2200">
              <a:solidFill>
                <a:srgbClr val="1BA09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5F89"/>
              </a:buClr>
              <a:buSzPct val="100000"/>
              <a:buFont typeface="Arial"/>
              <a:buNone/>
            </a:pPr>
            <a:r>
              <a:rPr lang="en-US" sz="2000">
                <a:solidFill>
                  <a:srgbClr val="005F89"/>
                </a:solidFill>
              </a:rPr>
              <a:t>Residuals are actually useful.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F89"/>
              </a:buClr>
              <a:buSzPct val="111111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g3fa35a6d944_0_298"/>
          <p:cNvSpPr txBox="1"/>
          <p:nvPr>
            <p:ph idx="12" type="sldNum"/>
          </p:nvPr>
        </p:nvSpPr>
        <p:spPr>
          <a:xfrm>
            <a:off x="11409073" y="633312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2025" lIns="122025" spcFirstLastPara="1" rIns="122025" wrap="square" tIns="1220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90" name="Google Shape;390;g3fa35a6d944_0_2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36525" y="2344975"/>
            <a:ext cx="4355445" cy="2447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5" name="Google Shape;395;g3fa35a6d944_0_275"/>
          <p:cNvPicPr preferRelativeResize="0"/>
          <p:nvPr/>
        </p:nvPicPr>
        <p:blipFill rotWithShape="1">
          <a:blip r:embed="rId3">
            <a:alphaModFix/>
          </a:blip>
          <a:srcRect b="84967" l="0" r="82433" t="0"/>
          <a:stretch/>
        </p:blipFill>
        <p:spPr>
          <a:xfrm>
            <a:off x="0" y="0"/>
            <a:ext cx="1987917" cy="1029960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g3fa35a6d944_0_275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/33</a:t>
            </a:r>
            <a:endParaRPr b="0" sz="1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7" name="Google Shape;397;g3fa35a6d944_0_275"/>
          <p:cNvSpPr txBox="1"/>
          <p:nvPr/>
        </p:nvSpPr>
        <p:spPr>
          <a:xfrm>
            <a:off x="1800500" y="347475"/>
            <a:ext cx="9629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43552"/>
                </a:solidFill>
                <a:latin typeface="Arial"/>
                <a:ea typeface="Arial"/>
                <a:cs typeface="Arial"/>
                <a:sym typeface="Arial"/>
              </a:rPr>
              <a:t>Regression turns a relationship into a predictive function</a:t>
            </a:r>
            <a:endParaRPr sz="1700"/>
          </a:p>
        </p:txBody>
      </p:sp>
      <p:sp>
        <p:nvSpPr>
          <p:cNvPr id="398" name="Google Shape;398;g3fa35a6d944_0_275"/>
          <p:cNvSpPr txBox="1"/>
          <p:nvPr/>
        </p:nvSpPr>
        <p:spPr>
          <a:xfrm>
            <a:off x="3794760" y="1280160"/>
            <a:ext cx="44805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143552"/>
                </a:solidFill>
                <a:latin typeface="Arial"/>
                <a:ea typeface="Arial"/>
                <a:cs typeface="Arial"/>
                <a:sym typeface="Arial"/>
              </a:rPr>
              <a:t>ŷ = β₀ + β₁x + ε </a:t>
            </a:r>
            <a:endParaRPr sz="1700"/>
          </a:p>
        </p:txBody>
      </p:sp>
      <p:sp>
        <p:nvSpPr>
          <p:cNvPr id="399" name="Google Shape;399;g3fa35a6d944_0_275"/>
          <p:cNvSpPr txBox="1"/>
          <p:nvPr/>
        </p:nvSpPr>
        <p:spPr>
          <a:xfrm>
            <a:off x="726635" y="2052720"/>
            <a:ext cx="1965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B6CB0"/>
                </a:solidFill>
                <a:latin typeface="Arial"/>
                <a:ea typeface="Arial"/>
                <a:cs typeface="Arial"/>
                <a:sym typeface="Arial"/>
              </a:rPr>
              <a:t>β₀</a:t>
            </a:r>
            <a:endParaRPr sz="2000"/>
          </a:p>
        </p:txBody>
      </p:sp>
      <p:sp>
        <p:nvSpPr>
          <p:cNvPr id="400" name="Google Shape;400;g3fa35a6d944_0_275"/>
          <p:cNvSpPr txBox="1"/>
          <p:nvPr/>
        </p:nvSpPr>
        <p:spPr>
          <a:xfrm>
            <a:off x="726635" y="2482488"/>
            <a:ext cx="1965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  <a:t>Intercept: predicted y when x = 0.</a:t>
            </a:r>
            <a:endParaRPr sz="2000"/>
          </a:p>
        </p:txBody>
      </p:sp>
      <p:sp>
        <p:nvSpPr>
          <p:cNvPr id="401" name="Google Shape;401;g3fa35a6d944_0_275"/>
          <p:cNvSpPr txBox="1"/>
          <p:nvPr/>
        </p:nvSpPr>
        <p:spPr>
          <a:xfrm>
            <a:off x="2775715" y="2036607"/>
            <a:ext cx="1965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BA096"/>
                </a:solidFill>
                <a:latin typeface="Arial"/>
                <a:ea typeface="Arial"/>
                <a:cs typeface="Arial"/>
                <a:sym typeface="Arial"/>
              </a:rPr>
              <a:t>β₁</a:t>
            </a:r>
            <a:endParaRPr sz="2000"/>
          </a:p>
        </p:txBody>
      </p:sp>
      <p:sp>
        <p:nvSpPr>
          <p:cNvPr id="402" name="Google Shape;402;g3fa35a6d944_0_275"/>
          <p:cNvSpPr txBox="1"/>
          <p:nvPr/>
        </p:nvSpPr>
        <p:spPr>
          <a:xfrm>
            <a:off x="2775715" y="2466375"/>
            <a:ext cx="1965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  <a:t>Slope: expected change in y per unit x.</a:t>
            </a:r>
            <a:endParaRPr sz="2000"/>
          </a:p>
        </p:txBody>
      </p:sp>
      <p:sp>
        <p:nvSpPr>
          <p:cNvPr id="403" name="Google Shape;403;g3fa35a6d944_0_275"/>
          <p:cNvSpPr txBox="1"/>
          <p:nvPr/>
        </p:nvSpPr>
        <p:spPr>
          <a:xfrm>
            <a:off x="4887145" y="2052720"/>
            <a:ext cx="1965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29923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sz="2000"/>
          </a:p>
        </p:txBody>
      </p:sp>
      <p:sp>
        <p:nvSpPr>
          <p:cNvPr id="404" name="Google Shape;404;g3fa35a6d944_0_275"/>
          <p:cNvSpPr txBox="1"/>
          <p:nvPr/>
        </p:nvSpPr>
        <p:spPr>
          <a:xfrm>
            <a:off x="4887145" y="2482488"/>
            <a:ext cx="1965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  <a:t>Input / predictor.</a:t>
            </a:r>
            <a:endParaRPr sz="2000"/>
          </a:p>
        </p:txBody>
      </p:sp>
      <p:sp>
        <p:nvSpPr>
          <p:cNvPr id="405" name="Google Shape;405;g3fa35a6d944_0_275"/>
          <p:cNvSpPr txBox="1"/>
          <p:nvPr/>
        </p:nvSpPr>
        <p:spPr>
          <a:xfrm>
            <a:off x="7060950" y="2052720"/>
            <a:ext cx="1965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7E57C2"/>
                </a:solidFill>
                <a:latin typeface="Arial"/>
                <a:ea typeface="Arial"/>
                <a:cs typeface="Arial"/>
                <a:sym typeface="Arial"/>
              </a:rPr>
              <a:t>ŷ</a:t>
            </a:r>
            <a:endParaRPr sz="2000"/>
          </a:p>
        </p:txBody>
      </p:sp>
      <p:sp>
        <p:nvSpPr>
          <p:cNvPr id="406" name="Google Shape;406;g3fa35a6d944_0_275"/>
          <p:cNvSpPr txBox="1"/>
          <p:nvPr/>
        </p:nvSpPr>
        <p:spPr>
          <a:xfrm>
            <a:off x="7060950" y="2482488"/>
            <a:ext cx="1965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  <a:t>Model prediction.</a:t>
            </a:r>
            <a:endParaRPr sz="2000"/>
          </a:p>
        </p:txBody>
      </p:sp>
      <p:sp>
        <p:nvSpPr>
          <p:cNvPr id="407" name="Google Shape;407;g3fa35a6d944_0_275"/>
          <p:cNvSpPr txBox="1"/>
          <p:nvPr/>
        </p:nvSpPr>
        <p:spPr>
          <a:xfrm>
            <a:off x="9298575" y="1974963"/>
            <a:ext cx="24438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D24E4E"/>
                </a:solidFill>
              </a:rPr>
              <a:t>ε </a:t>
            </a:r>
            <a:endParaRPr b="1" sz="2300">
              <a:solidFill>
                <a:srgbClr val="D24E4E"/>
              </a:solidFill>
            </a:endParaRPr>
          </a:p>
        </p:txBody>
      </p:sp>
      <p:sp>
        <p:nvSpPr>
          <p:cNvPr id="408" name="Google Shape;408;g3fa35a6d944_0_275"/>
          <p:cNvSpPr txBox="1"/>
          <p:nvPr/>
        </p:nvSpPr>
        <p:spPr>
          <a:xfrm>
            <a:off x="9114225" y="2443938"/>
            <a:ext cx="2381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/>
              <a:t>Technical variation</a:t>
            </a:r>
            <a:endParaRPr sz="1700"/>
          </a:p>
        </p:txBody>
      </p:sp>
      <p:pic>
        <p:nvPicPr>
          <p:cNvPr id="409" name="Google Shape;409;g3fa35a6d944_0_2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87975" y="3030698"/>
            <a:ext cx="5654750" cy="3471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4" name="Google Shape;414;g3fa35a6d944_0_283"/>
          <p:cNvPicPr preferRelativeResize="0"/>
          <p:nvPr/>
        </p:nvPicPr>
        <p:blipFill rotWithShape="1">
          <a:blip r:embed="rId3">
            <a:alphaModFix/>
          </a:blip>
          <a:srcRect b="84967" l="0" r="82433" t="0"/>
          <a:stretch/>
        </p:blipFill>
        <p:spPr>
          <a:xfrm>
            <a:off x="0" y="0"/>
            <a:ext cx="1987917" cy="1029960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g3fa35a6d944_0_283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/33</a:t>
            </a:r>
            <a:endParaRPr b="0" sz="1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16" name="Google Shape;416;g3fa35a6d944_0_283"/>
          <p:cNvPicPr preferRelativeResize="0"/>
          <p:nvPr/>
        </p:nvPicPr>
        <p:blipFill rotWithShape="1">
          <a:blip r:embed="rId4">
            <a:alphaModFix/>
          </a:blip>
          <a:srcRect b="3549" l="0" r="0" t="0"/>
          <a:stretch/>
        </p:blipFill>
        <p:spPr>
          <a:xfrm>
            <a:off x="101875" y="1194550"/>
            <a:ext cx="7865874" cy="5177150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g3fa35a6d944_0_283"/>
          <p:cNvSpPr txBox="1"/>
          <p:nvPr/>
        </p:nvSpPr>
        <p:spPr>
          <a:xfrm>
            <a:off x="7967745" y="2129726"/>
            <a:ext cx="4023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BA096"/>
                </a:solidFill>
                <a:latin typeface="Arial"/>
                <a:ea typeface="Arial"/>
                <a:cs typeface="Arial"/>
                <a:sym typeface="Arial"/>
              </a:rPr>
              <a:t>Biological interpretation</a:t>
            </a:r>
            <a:endParaRPr sz="1800"/>
          </a:p>
        </p:txBody>
      </p:sp>
      <p:sp>
        <p:nvSpPr>
          <p:cNvPr id="418" name="Google Shape;418;g3fa35a6d944_0_283"/>
          <p:cNvSpPr txBox="1"/>
          <p:nvPr/>
        </p:nvSpPr>
        <p:spPr>
          <a:xfrm>
            <a:off x="7967745" y="2559495"/>
            <a:ext cx="40233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  <a:t>If x is </a:t>
            </a:r>
            <a:r>
              <a:rPr lang="en-US" sz="1600">
                <a:solidFill>
                  <a:srgbClr val="232A31"/>
                </a:solidFill>
              </a:rPr>
              <a:t>pulse</a:t>
            </a:r>
            <a:r>
              <a:rPr b="0" i="0" lang="en-US" sz="16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  <a:t> and y is </a:t>
            </a:r>
            <a:r>
              <a:rPr lang="en-US" sz="1600">
                <a:solidFill>
                  <a:srgbClr val="232A31"/>
                </a:solidFill>
              </a:rPr>
              <a:t>energy consumption</a:t>
            </a:r>
            <a:r>
              <a:rPr b="0" i="0" lang="en-US" sz="16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  <a:t>, β₁ estimates the expected change in </a:t>
            </a:r>
            <a:r>
              <a:rPr lang="en-US" sz="1600">
                <a:solidFill>
                  <a:srgbClr val="232A31"/>
                </a:solidFill>
              </a:rPr>
              <a:t>energy consumption</a:t>
            </a:r>
            <a:r>
              <a:rPr b="0" i="0" lang="en-US" sz="16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  <a:t> for one unit increase in </a:t>
            </a:r>
            <a:r>
              <a:rPr lang="en-US" sz="1600">
                <a:solidFill>
                  <a:srgbClr val="232A31"/>
                </a:solidFill>
              </a:rPr>
              <a:t>pulse </a:t>
            </a:r>
            <a:r>
              <a:rPr b="0" i="0" lang="en-US" sz="16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  <a:t>— under the linear model.</a:t>
            </a:r>
            <a:endParaRPr sz="1800"/>
          </a:p>
        </p:txBody>
      </p:sp>
      <p:sp>
        <p:nvSpPr>
          <p:cNvPr id="419" name="Google Shape;419;g3fa35a6d944_0_283"/>
          <p:cNvSpPr txBox="1"/>
          <p:nvPr/>
        </p:nvSpPr>
        <p:spPr>
          <a:xfrm>
            <a:off x="1763050" y="393347"/>
            <a:ext cx="1051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43552"/>
                </a:solidFill>
                <a:latin typeface="Arial"/>
                <a:ea typeface="Arial"/>
                <a:cs typeface="Arial"/>
                <a:sym typeface="Arial"/>
              </a:rPr>
              <a:t>The slope is an effect on the scale of the model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4" name="Google Shape;424;g3fa35a6d944_0_288"/>
          <p:cNvPicPr preferRelativeResize="0"/>
          <p:nvPr/>
        </p:nvPicPr>
        <p:blipFill rotWithShape="1">
          <a:blip r:embed="rId3">
            <a:alphaModFix/>
          </a:blip>
          <a:srcRect b="84967" l="0" r="82433" t="0"/>
          <a:stretch/>
        </p:blipFill>
        <p:spPr>
          <a:xfrm>
            <a:off x="0" y="0"/>
            <a:ext cx="1987917" cy="1029960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g3fa35a6d944_0_288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/33</a:t>
            </a:r>
            <a:endParaRPr b="0" sz="1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26" name="Google Shape;426;g3fa35a6d944_0_28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6525" y="1767246"/>
            <a:ext cx="7788226" cy="4422950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g3fa35a6d944_0_288"/>
          <p:cNvSpPr txBox="1"/>
          <p:nvPr/>
        </p:nvSpPr>
        <p:spPr>
          <a:xfrm>
            <a:off x="1926650" y="347475"/>
            <a:ext cx="9503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43552"/>
                </a:solidFill>
                <a:latin typeface="Arial"/>
                <a:ea typeface="Arial"/>
                <a:cs typeface="Arial"/>
                <a:sym typeface="Arial"/>
              </a:rPr>
              <a:t>Residuals are what the model fails to explain</a:t>
            </a:r>
            <a:endParaRPr/>
          </a:p>
        </p:txBody>
      </p:sp>
      <p:sp>
        <p:nvSpPr>
          <p:cNvPr id="428" name="Google Shape;428;g3fa35a6d944_0_288"/>
          <p:cNvSpPr txBox="1"/>
          <p:nvPr/>
        </p:nvSpPr>
        <p:spPr>
          <a:xfrm>
            <a:off x="1987915" y="1026608"/>
            <a:ext cx="4206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143552"/>
                </a:solidFill>
                <a:latin typeface="Arial"/>
                <a:ea typeface="Arial"/>
                <a:cs typeface="Arial"/>
                <a:sym typeface="Arial"/>
              </a:rPr>
              <a:t>eᵢ = yᵢ − ŷᵢ</a:t>
            </a:r>
            <a:endParaRPr sz="1800"/>
          </a:p>
        </p:txBody>
      </p:sp>
      <p:sp>
        <p:nvSpPr>
          <p:cNvPr id="429" name="Google Shape;429;g3fa35a6d944_0_288"/>
          <p:cNvSpPr/>
          <p:nvPr/>
        </p:nvSpPr>
        <p:spPr>
          <a:xfrm>
            <a:off x="6401800" y="1916875"/>
            <a:ext cx="4114800" cy="1093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EE4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g3fa35a6d944_0_288"/>
          <p:cNvSpPr txBox="1"/>
          <p:nvPr/>
        </p:nvSpPr>
        <p:spPr>
          <a:xfrm>
            <a:off x="6538960" y="2014997"/>
            <a:ext cx="3840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29923"/>
                </a:solidFill>
                <a:latin typeface="Arial"/>
                <a:ea typeface="Arial"/>
                <a:cs typeface="Arial"/>
                <a:sym typeface="Arial"/>
              </a:rPr>
              <a:t>Why residuals matter</a:t>
            </a:r>
            <a:endParaRPr sz="1600"/>
          </a:p>
        </p:txBody>
      </p:sp>
      <p:sp>
        <p:nvSpPr>
          <p:cNvPr id="431" name="Google Shape;431;g3fa35a6d944_0_288"/>
          <p:cNvSpPr txBox="1"/>
          <p:nvPr/>
        </p:nvSpPr>
        <p:spPr>
          <a:xfrm>
            <a:off x="6538950" y="2271200"/>
            <a:ext cx="3840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  <a:t>Residuals reveal systematic errors, changing variance, outliers and missing structure. They are central to regression diagnostics.</a:t>
            </a:r>
            <a:endParaRPr sz="16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fa35a6d944_0_339"/>
          <p:cNvSpPr txBox="1"/>
          <p:nvPr>
            <p:ph type="title"/>
          </p:nvPr>
        </p:nvSpPr>
        <p:spPr>
          <a:xfrm>
            <a:off x="889198" y="2752560"/>
            <a:ext cx="8910300" cy="163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200">
                <a:solidFill>
                  <a:srgbClr val="1BA096"/>
                </a:solidFill>
              </a:rPr>
              <a:t>4. Loss and optimization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2200">
              <a:solidFill>
                <a:srgbClr val="1BA09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5F89"/>
              </a:buClr>
              <a:buSzPct val="100000"/>
              <a:buFont typeface="Arial"/>
              <a:buNone/>
            </a:pPr>
            <a:r>
              <a:rPr lang="en-US" sz="2000">
                <a:solidFill>
                  <a:srgbClr val="005F89"/>
                </a:solidFill>
              </a:rPr>
              <a:t>Training means choosing parameters that minimize a defined objective.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F89"/>
              </a:buClr>
              <a:buSzPct val="111111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g3fa35a6d944_0_339"/>
          <p:cNvSpPr txBox="1"/>
          <p:nvPr>
            <p:ph idx="12" type="sldNum"/>
          </p:nvPr>
        </p:nvSpPr>
        <p:spPr>
          <a:xfrm>
            <a:off x="11409073" y="633312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2025" lIns="122025" spcFirstLastPara="1" rIns="122025" wrap="square" tIns="1220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38" name="Google Shape;438;g3fa35a6d944_0_3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63750" y="2344975"/>
            <a:ext cx="3428235" cy="2447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3" name="Google Shape;443;g3fa35a6d944_0_293"/>
          <p:cNvPicPr preferRelativeResize="0"/>
          <p:nvPr/>
        </p:nvPicPr>
        <p:blipFill rotWithShape="1">
          <a:blip r:embed="rId3">
            <a:alphaModFix/>
          </a:blip>
          <a:srcRect b="84967" l="0" r="82433" t="0"/>
          <a:stretch/>
        </p:blipFill>
        <p:spPr>
          <a:xfrm>
            <a:off x="0" y="0"/>
            <a:ext cx="1987917" cy="1029960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g3fa35a6d944_0_293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/33</a:t>
            </a:r>
            <a:endParaRPr b="0" sz="1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5" name="Google Shape;445;g3fa35a6d944_0_293"/>
          <p:cNvSpPr txBox="1"/>
          <p:nvPr/>
        </p:nvSpPr>
        <p:spPr>
          <a:xfrm>
            <a:off x="2462600" y="361347"/>
            <a:ext cx="105156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00">
                <a:solidFill>
                  <a:srgbClr val="143552"/>
                </a:solidFill>
              </a:rPr>
              <a:t>Loss function</a:t>
            </a:r>
            <a:endParaRPr sz="1900"/>
          </a:p>
        </p:txBody>
      </p:sp>
      <p:sp>
        <p:nvSpPr>
          <p:cNvPr id="446" name="Google Shape;446;g3fa35a6d944_0_293"/>
          <p:cNvSpPr txBox="1"/>
          <p:nvPr/>
        </p:nvSpPr>
        <p:spPr>
          <a:xfrm>
            <a:off x="2712642" y="1113010"/>
            <a:ext cx="67665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00" u="none" cap="none" strike="noStrike">
                <a:solidFill>
                  <a:srgbClr val="143552"/>
                </a:solidFill>
                <a:latin typeface="Arial"/>
                <a:ea typeface="Arial"/>
                <a:cs typeface="Arial"/>
                <a:sym typeface="Arial"/>
              </a:rPr>
              <a:t>Squared error = (yᵢ − ŷᵢ)²</a:t>
            </a:r>
            <a:endParaRPr sz="1900"/>
          </a:p>
        </p:txBody>
      </p:sp>
      <p:sp>
        <p:nvSpPr>
          <p:cNvPr id="447" name="Google Shape;447;g3fa35a6d944_0_293"/>
          <p:cNvSpPr txBox="1"/>
          <p:nvPr/>
        </p:nvSpPr>
        <p:spPr>
          <a:xfrm>
            <a:off x="2712642" y="1795954"/>
            <a:ext cx="67665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00" u="none" cap="none" strike="noStrike">
                <a:solidFill>
                  <a:srgbClr val="143552"/>
                </a:solidFill>
                <a:latin typeface="Arial"/>
                <a:ea typeface="Arial"/>
                <a:cs typeface="Arial"/>
                <a:sym typeface="Arial"/>
              </a:rPr>
              <a:t>MSE = (1/n) Σᵢ (yᵢ − ŷᵢ)²</a:t>
            </a:r>
            <a:endParaRPr sz="1900"/>
          </a:p>
        </p:txBody>
      </p:sp>
      <p:pic>
        <p:nvPicPr>
          <p:cNvPr id="448" name="Google Shape;448;g3fa35a6d944_0_2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52719" y="2428375"/>
            <a:ext cx="9486543" cy="407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3" name="Google Shape;453;g3fa35a6d944_0_424"/>
          <p:cNvPicPr preferRelativeResize="0"/>
          <p:nvPr/>
        </p:nvPicPr>
        <p:blipFill rotWithShape="1">
          <a:blip r:embed="rId3">
            <a:alphaModFix/>
          </a:blip>
          <a:srcRect b="84967" l="0" r="82433" t="0"/>
          <a:stretch/>
        </p:blipFill>
        <p:spPr>
          <a:xfrm>
            <a:off x="0" y="0"/>
            <a:ext cx="1987917" cy="1029960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g3fa35a6d944_0_424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/33</a:t>
            </a:r>
            <a:endParaRPr b="0" sz="1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5" name="Google Shape;455;g3fa35a6d944_0_424"/>
          <p:cNvSpPr txBox="1"/>
          <p:nvPr/>
        </p:nvSpPr>
        <p:spPr>
          <a:xfrm>
            <a:off x="1933525" y="485497"/>
            <a:ext cx="1051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43552"/>
                </a:solidFill>
                <a:latin typeface="Arial"/>
                <a:ea typeface="Arial"/>
                <a:cs typeface="Arial"/>
                <a:sym typeface="Arial"/>
              </a:rPr>
              <a:t>Gradient descent</a:t>
            </a:r>
            <a:endParaRPr/>
          </a:p>
        </p:txBody>
      </p:sp>
      <p:pic>
        <p:nvPicPr>
          <p:cNvPr id="456" name="Google Shape;456;g3fa35a6d944_0_4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182351"/>
            <a:ext cx="7576125" cy="4713449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g3fa35a6d944_0_424"/>
          <p:cNvSpPr txBox="1"/>
          <p:nvPr/>
        </p:nvSpPr>
        <p:spPr>
          <a:xfrm>
            <a:off x="7575585" y="2737725"/>
            <a:ext cx="41148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143552"/>
                </a:solidFill>
                <a:latin typeface="Arial"/>
                <a:ea typeface="Arial"/>
                <a:cs typeface="Arial"/>
                <a:sym typeface="Arial"/>
              </a:rPr>
              <a:t>θₜ₊₁ = θₜ − η ∇L(θₜ)</a:t>
            </a:r>
            <a:endParaRPr/>
          </a:p>
        </p:txBody>
      </p:sp>
      <p:sp>
        <p:nvSpPr>
          <p:cNvPr id="458" name="Google Shape;458;g3fa35a6d944_0_424"/>
          <p:cNvSpPr txBox="1"/>
          <p:nvPr/>
        </p:nvSpPr>
        <p:spPr>
          <a:xfrm>
            <a:off x="7650399" y="3327938"/>
            <a:ext cx="43890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  <a:t>θ = model parameters</a:t>
            </a:r>
            <a:br>
              <a:rPr b="0" i="0" lang="en-US" sz="19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  <a:t>η = learning rate</a:t>
            </a:r>
            <a:br>
              <a:rPr b="0" i="0" lang="en-US" sz="19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  <a:t>∇L = local direction of increasing loss</a:t>
            </a:r>
            <a:endParaRPr sz="2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3" name="Google Shape;463;g3fa35a6d944_0_448"/>
          <p:cNvPicPr preferRelativeResize="0"/>
          <p:nvPr/>
        </p:nvPicPr>
        <p:blipFill rotWithShape="1">
          <a:blip r:embed="rId3">
            <a:alphaModFix/>
          </a:blip>
          <a:srcRect b="84967" l="0" r="82433" t="0"/>
          <a:stretch/>
        </p:blipFill>
        <p:spPr>
          <a:xfrm>
            <a:off x="0" y="0"/>
            <a:ext cx="1987917" cy="1029960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g3fa35a6d944_0_448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/33</a:t>
            </a:r>
            <a:endParaRPr b="0" sz="1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5" name="Google Shape;465;g3fa35a6d944_0_448"/>
          <p:cNvSpPr txBox="1"/>
          <p:nvPr/>
        </p:nvSpPr>
        <p:spPr>
          <a:xfrm>
            <a:off x="1987925" y="410272"/>
            <a:ext cx="1051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43552"/>
                </a:solidFill>
                <a:latin typeface="Arial"/>
                <a:ea typeface="Arial"/>
                <a:cs typeface="Arial"/>
                <a:sym typeface="Arial"/>
              </a:rPr>
              <a:t>Learning rate controls the size of each update</a:t>
            </a:r>
            <a:endParaRPr/>
          </a:p>
        </p:txBody>
      </p:sp>
      <p:sp>
        <p:nvSpPr>
          <p:cNvPr id="466" name="Google Shape;466;g3fa35a6d944_0_448"/>
          <p:cNvSpPr txBox="1"/>
          <p:nvPr/>
        </p:nvSpPr>
        <p:spPr>
          <a:xfrm>
            <a:off x="1066760" y="1200676"/>
            <a:ext cx="28347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2B6CB0"/>
                </a:solidFill>
                <a:latin typeface="Arial"/>
                <a:ea typeface="Arial"/>
                <a:cs typeface="Arial"/>
                <a:sym typeface="Arial"/>
              </a:rPr>
              <a:t>Too small</a:t>
            </a:r>
            <a:endParaRPr sz="2100"/>
          </a:p>
        </p:txBody>
      </p:sp>
      <p:sp>
        <p:nvSpPr>
          <p:cNvPr id="467" name="Google Shape;467;g3fa35a6d944_0_448"/>
          <p:cNvSpPr txBox="1"/>
          <p:nvPr/>
        </p:nvSpPr>
        <p:spPr>
          <a:xfrm>
            <a:off x="1066760" y="1630445"/>
            <a:ext cx="28347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  <a:t>Stable but slow.</a:t>
            </a:r>
            <a:br>
              <a:rPr b="0" i="0" lang="en-US" sz="19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9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  <a:t>Many iterations may be needed.</a:t>
            </a:r>
            <a:endParaRPr sz="2100"/>
          </a:p>
        </p:txBody>
      </p:sp>
      <p:sp>
        <p:nvSpPr>
          <p:cNvPr id="468" name="Google Shape;468;g3fa35a6d944_0_448"/>
          <p:cNvSpPr txBox="1"/>
          <p:nvPr/>
        </p:nvSpPr>
        <p:spPr>
          <a:xfrm>
            <a:off x="4678640" y="1200676"/>
            <a:ext cx="28347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BA096"/>
                </a:solidFill>
                <a:latin typeface="Arial"/>
                <a:ea typeface="Arial"/>
                <a:cs typeface="Arial"/>
                <a:sym typeface="Arial"/>
              </a:rPr>
              <a:t>Useful scale</a:t>
            </a:r>
            <a:endParaRPr sz="2100"/>
          </a:p>
        </p:txBody>
      </p:sp>
      <p:sp>
        <p:nvSpPr>
          <p:cNvPr id="469" name="Google Shape;469;g3fa35a6d944_0_448"/>
          <p:cNvSpPr txBox="1"/>
          <p:nvPr/>
        </p:nvSpPr>
        <p:spPr>
          <a:xfrm>
            <a:off x="4678640" y="1630445"/>
            <a:ext cx="28347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  <a:t>Loss decreases efficiently toward a minimum.</a:t>
            </a:r>
            <a:endParaRPr sz="2100"/>
          </a:p>
        </p:txBody>
      </p:sp>
      <p:sp>
        <p:nvSpPr>
          <p:cNvPr id="470" name="Google Shape;470;g3fa35a6d944_0_448"/>
          <p:cNvSpPr txBox="1"/>
          <p:nvPr/>
        </p:nvSpPr>
        <p:spPr>
          <a:xfrm>
            <a:off x="8290520" y="1200676"/>
            <a:ext cx="28347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D24E4E"/>
                </a:solidFill>
                <a:latin typeface="Arial"/>
                <a:ea typeface="Arial"/>
                <a:cs typeface="Arial"/>
                <a:sym typeface="Arial"/>
              </a:rPr>
              <a:t>Too large</a:t>
            </a:r>
            <a:endParaRPr sz="2100"/>
          </a:p>
        </p:txBody>
      </p:sp>
      <p:sp>
        <p:nvSpPr>
          <p:cNvPr id="471" name="Google Shape;471;g3fa35a6d944_0_448"/>
          <p:cNvSpPr txBox="1"/>
          <p:nvPr/>
        </p:nvSpPr>
        <p:spPr>
          <a:xfrm>
            <a:off x="8290520" y="1630445"/>
            <a:ext cx="28347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32A31"/>
                </a:solidFill>
              </a:rPr>
              <a:t>Never converges, hard to find optimum</a:t>
            </a:r>
            <a:endParaRPr sz="2100"/>
          </a:p>
        </p:txBody>
      </p:sp>
      <p:pic>
        <p:nvPicPr>
          <p:cNvPr id="472" name="Google Shape;472;g3fa35a6d944_0_4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07483" y="2892550"/>
            <a:ext cx="8886443" cy="361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3fa35a6d944_0_479"/>
          <p:cNvSpPr txBox="1"/>
          <p:nvPr>
            <p:ph type="title"/>
          </p:nvPr>
        </p:nvSpPr>
        <p:spPr>
          <a:xfrm>
            <a:off x="889198" y="2752560"/>
            <a:ext cx="8910300" cy="163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2200">
                <a:solidFill>
                  <a:srgbClr val="1BA096"/>
                </a:solidFill>
              </a:rPr>
              <a:t>5. Beyond one numerical predictor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2200">
              <a:solidFill>
                <a:srgbClr val="1BA09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5F89"/>
              </a:buClr>
              <a:buSzPct val="100000"/>
              <a:buFont typeface="Arial"/>
              <a:buNone/>
            </a:pPr>
            <a:r>
              <a:rPr lang="en-US" sz="2000">
                <a:solidFill>
                  <a:srgbClr val="005F89"/>
                </a:solidFill>
              </a:rPr>
              <a:t>Multiple variables, categories </a:t>
            </a:r>
            <a:r>
              <a:rPr lang="en-US" sz="2000">
                <a:solidFill>
                  <a:srgbClr val="005F89"/>
                </a:solidFill>
              </a:rPr>
              <a:t>and interactions</a:t>
            </a:r>
            <a:r>
              <a:rPr lang="en-US" sz="2000">
                <a:solidFill>
                  <a:srgbClr val="005F89"/>
                </a:solidFill>
              </a:rPr>
              <a:t>.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F89"/>
              </a:buClr>
              <a:buSzPct val="111111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g3fa35a6d944_0_479"/>
          <p:cNvSpPr txBox="1"/>
          <p:nvPr>
            <p:ph idx="12" type="sldNum"/>
          </p:nvPr>
        </p:nvSpPr>
        <p:spPr>
          <a:xfrm>
            <a:off x="11409073" y="633312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2025" lIns="122025" spcFirstLastPara="1" rIns="122025" wrap="square" tIns="1220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79" name="Google Shape;479;g3fa35a6d944_0_4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07074" y="1995473"/>
            <a:ext cx="3584900" cy="2875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4" name="Google Shape;484;g3fa35a6d944_0_436"/>
          <p:cNvPicPr preferRelativeResize="0"/>
          <p:nvPr/>
        </p:nvPicPr>
        <p:blipFill rotWithShape="1">
          <a:blip r:embed="rId3">
            <a:alphaModFix/>
          </a:blip>
          <a:srcRect b="84967" l="0" r="82433" t="0"/>
          <a:stretch/>
        </p:blipFill>
        <p:spPr>
          <a:xfrm>
            <a:off x="0" y="0"/>
            <a:ext cx="1987917" cy="1029960"/>
          </a:xfrm>
          <a:prstGeom prst="rect">
            <a:avLst/>
          </a:prstGeom>
          <a:noFill/>
          <a:ln>
            <a:noFill/>
          </a:ln>
        </p:spPr>
      </p:pic>
      <p:sp>
        <p:nvSpPr>
          <p:cNvPr id="485" name="Google Shape;485;g3fa35a6d944_0_436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/33</a:t>
            </a:r>
            <a:endParaRPr b="0" sz="1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6" name="Google Shape;486;g3fa35a6d944_0_436"/>
          <p:cNvSpPr txBox="1"/>
          <p:nvPr/>
        </p:nvSpPr>
        <p:spPr>
          <a:xfrm>
            <a:off x="2148850" y="568247"/>
            <a:ext cx="1051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43552"/>
                </a:solidFill>
                <a:latin typeface="Arial"/>
                <a:ea typeface="Arial"/>
                <a:cs typeface="Arial"/>
                <a:sym typeface="Arial"/>
              </a:rPr>
              <a:t>Multiple linear regression uses several predictors</a:t>
            </a:r>
            <a:endParaRPr/>
          </a:p>
        </p:txBody>
      </p:sp>
      <p:sp>
        <p:nvSpPr>
          <p:cNvPr id="487" name="Google Shape;487;g3fa35a6d944_0_436"/>
          <p:cNvSpPr txBox="1"/>
          <p:nvPr/>
        </p:nvSpPr>
        <p:spPr>
          <a:xfrm>
            <a:off x="2148840" y="1234440"/>
            <a:ext cx="78639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143552"/>
                </a:solidFill>
                <a:latin typeface="Arial"/>
                <a:ea typeface="Arial"/>
                <a:cs typeface="Arial"/>
                <a:sym typeface="Arial"/>
              </a:rPr>
              <a:t>ŷ = β₀ + β₁x₁ + β₂x₂ + … + βₚxₚ</a:t>
            </a:r>
            <a:endParaRPr sz="2200"/>
          </a:p>
        </p:txBody>
      </p:sp>
      <p:sp>
        <p:nvSpPr>
          <p:cNvPr id="488" name="Google Shape;488;g3fa35a6d944_0_436"/>
          <p:cNvSpPr txBox="1"/>
          <p:nvPr/>
        </p:nvSpPr>
        <p:spPr>
          <a:xfrm>
            <a:off x="615135" y="2471367"/>
            <a:ext cx="2697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2B6CB0"/>
                </a:solidFill>
                <a:latin typeface="Arial"/>
                <a:ea typeface="Arial"/>
                <a:cs typeface="Arial"/>
                <a:sym typeface="Arial"/>
              </a:rPr>
              <a:t>x₁</a:t>
            </a:r>
            <a:endParaRPr sz="2200"/>
          </a:p>
        </p:txBody>
      </p:sp>
      <p:sp>
        <p:nvSpPr>
          <p:cNvPr id="489" name="Google Shape;489;g3fa35a6d944_0_436"/>
          <p:cNvSpPr txBox="1"/>
          <p:nvPr/>
        </p:nvSpPr>
        <p:spPr>
          <a:xfrm>
            <a:off x="615135" y="2901135"/>
            <a:ext cx="269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>
                <a:solidFill>
                  <a:srgbClr val="232A31"/>
                </a:solidFill>
              </a:rPr>
              <a:t>Gene A expression</a:t>
            </a:r>
            <a:endParaRPr sz="2200"/>
          </a:p>
        </p:txBody>
      </p:sp>
      <p:sp>
        <p:nvSpPr>
          <p:cNvPr id="490" name="Google Shape;490;g3fa35a6d944_0_436"/>
          <p:cNvSpPr txBox="1"/>
          <p:nvPr/>
        </p:nvSpPr>
        <p:spPr>
          <a:xfrm>
            <a:off x="615130" y="3431492"/>
            <a:ext cx="2697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1BA096"/>
                </a:solidFill>
                <a:latin typeface="Arial"/>
                <a:ea typeface="Arial"/>
                <a:cs typeface="Arial"/>
                <a:sym typeface="Arial"/>
              </a:rPr>
              <a:t>x₂</a:t>
            </a:r>
            <a:endParaRPr sz="2200"/>
          </a:p>
        </p:txBody>
      </p:sp>
      <p:sp>
        <p:nvSpPr>
          <p:cNvPr id="491" name="Google Shape;491;g3fa35a6d944_0_436"/>
          <p:cNvSpPr txBox="1"/>
          <p:nvPr/>
        </p:nvSpPr>
        <p:spPr>
          <a:xfrm>
            <a:off x="615130" y="3861260"/>
            <a:ext cx="269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  <a:t>Gene B expression</a:t>
            </a:r>
            <a:endParaRPr sz="2200"/>
          </a:p>
        </p:txBody>
      </p:sp>
      <p:sp>
        <p:nvSpPr>
          <p:cNvPr id="492" name="Google Shape;492;g3fa35a6d944_0_436"/>
          <p:cNvSpPr txBox="1"/>
          <p:nvPr/>
        </p:nvSpPr>
        <p:spPr>
          <a:xfrm>
            <a:off x="615125" y="4391617"/>
            <a:ext cx="2697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F29923"/>
                </a:solidFill>
                <a:latin typeface="Arial"/>
                <a:ea typeface="Arial"/>
                <a:cs typeface="Arial"/>
                <a:sym typeface="Arial"/>
              </a:rPr>
              <a:t>x₃</a:t>
            </a:r>
            <a:endParaRPr sz="2200"/>
          </a:p>
        </p:txBody>
      </p:sp>
      <p:sp>
        <p:nvSpPr>
          <p:cNvPr id="493" name="Google Shape;493;g3fa35a6d944_0_436"/>
          <p:cNvSpPr txBox="1"/>
          <p:nvPr/>
        </p:nvSpPr>
        <p:spPr>
          <a:xfrm>
            <a:off x="615125" y="4821385"/>
            <a:ext cx="269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>
                <a:solidFill>
                  <a:srgbClr val="232A31"/>
                </a:solidFill>
              </a:rPr>
              <a:t>Age</a:t>
            </a:r>
            <a:endParaRPr sz="2200"/>
          </a:p>
        </p:txBody>
      </p:sp>
      <p:pic>
        <p:nvPicPr>
          <p:cNvPr id="494" name="Google Shape;494;g3fa35a6d944_0_436"/>
          <p:cNvPicPr preferRelativeResize="0"/>
          <p:nvPr/>
        </p:nvPicPr>
        <p:blipFill rotWithShape="1">
          <a:blip r:embed="rId4">
            <a:alphaModFix/>
          </a:blip>
          <a:srcRect b="2802" l="0" r="0" t="3169"/>
          <a:stretch/>
        </p:blipFill>
        <p:spPr>
          <a:xfrm>
            <a:off x="5848000" y="1793048"/>
            <a:ext cx="5386650" cy="506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9" name="Google Shape;499;g3fa4c5937f3_0_59"/>
          <p:cNvPicPr preferRelativeResize="0"/>
          <p:nvPr/>
        </p:nvPicPr>
        <p:blipFill rotWithShape="1">
          <a:blip r:embed="rId3">
            <a:alphaModFix/>
          </a:blip>
          <a:srcRect b="84967" l="0" r="82433" t="0"/>
          <a:stretch/>
        </p:blipFill>
        <p:spPr>
          <a:xfrm>
            <a:off x="0" y="0"/>
            <a:ext cx="1987917" cy="1029960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g3fa4c5937f3_0_59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/33</a:t>
            </a:r>
            <a:endParaRPr b="0" sz="1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1" name="Google Shape;501;g3fa4c5937f3_0_59"/>
          <p:cNvSpPr txBox="1"/>
          <p:nvPr/>
        </p:nvSpPr>
        <p:spPr>
          <a:xfrm>
            <a:off x="1987925" y="347475"/>
            <a:ext cx="9442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43552"/>
                </a:solidFill>
                <a:latin typeface="Arial"/>
                <a:ea typeface="Arial"/>
                <a:cs typeface="Arial"/>
                <a:sym typeface="Arial"/>
              </a:rPr>
              <a:t>Categorical predictors need a numerical representation</a:t>
            </a:r>
            <a:endParaRPr/>
          </a:p>
        </p:txBody>
      </p:sp>
      <p:sp>
        <p:nvSpPr>
          <p:cNvPr id="502" name="Google Shape;502;g3fa4c5937f3_0_59"/>
          <p:cNvSpPr txBox="1"/>
          <p:nvPr/>
        </p:nvSpPr>
        <p:spPr>
          <a:xfrm>
            <a:off x="2346882" y="5951920"/>
            <a:ext cx="7498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143552"/>
                </a:solidFill>
                <a:latin typeface="Arial"/>
                <a:ea typeface="Arial"/>
                <a:cs typeface="Arial"/>
                <a:sym typeface="Arial"/>
              </a:rPr>
              <a:t>ŷ = β₀ + β₁_A + β₂_B</a:t>
            </a:r>
            <a:endParaRPr sz="1700"/>
          </a:p>
        </p:txBody>
      </p:sp>
      <p:pic>
        <p:nvPicPr>
          <p:cNvPr id="503" name="Google Shape;503;g3fa4c5937f3_0_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45225" y="974700"/>
            <a:ext cx="7301522" cy="490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8" name="Google Shape;508;g3fa35a6d944_0_536"/>
          <p:cNvPicPr preferRelativeResize="0"/>
          <p:nvPr/>
        </p:nvPicPr>
        <p:blipFill rotWithShape="1">
          <a:blip r:embed="rId3">
            <a:alphaModFix/>
          </a:blip>
          <a:srcRect b="84967" l="0" r="82433" t="0"/>
          <a:stretch/>
        </p:blipFill>
        <p:spPr>
          <a:xfrm>
            <a:off x="0" y="0"/>
            <a:ext cx="1987917" cy="1029960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g3fa35a6d944_0_536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/33</a:t>
            </a:r>
            <a:endParaRPr b="0" sz="1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0" name="Google Shape;510;g3fa35a6d944_0_536"/>
          <p:cNvSpPr txBox="1"/>
          <p:nvPr/>
        </p:nvSpPr>
        <p:spPr>
          <a:xfrm>
            <a:off x="1523997" y="1648085"/>
            <a:ext cx="9144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143552"/>
                </a:solidFill>
                <a:latin typeface="Arial"/>
                <a:ea typeface="Arial"/>
                <a:cs typeface="Arial"/>
                <a:sym typeface="Arial"/>
              </a:rPr>
              <a:t>ŷ = β₀ + β₁Treatment + β₂Sex + β₃(Treatment × Sex)</a:t>
            </a:r>
            <a:endParaRPr sz="1700"/>
          </a:p>
        </p:txBody>
      </p:sp>
      <p:sp>
        <p:nvSpPr>
          <p:cNvPr id="511" name="Google Shape;511;g3fa35a6d944_0_536"/>
          <p:cNvSpPr/>
          <p:nvPr/>
        </p:nvSpPr>
        <p:spPr>
          <a:xfrm>
            <a:off x="1005850" y="2743200"/>
            <a:ext cx="4389000" cy="1374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EE4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g3fa35a6d944_0_536"/>
          <p:cNvSpPr txBox="1"/>
          <p:nvPr/>
        </p:nvSpPr>
        <p:spPr>
          <a:xfrm>
            <a:off x="1143000" y="2907792"/>
            <a:ext cx="411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B6CB0"/>
                </a:solidFill>
                <a:latin typeface="Arial"/>
                <a:ea typeface="Arial"/>
                <a:cs typeface="Arial"/>
                <a:sym typeface="Arial"/>
              </a:rPr>
              <a:t>Without interaction</a:t>
            </a:r>
            <a:endParaRPr sz="1900"/>
          </a:p>
        </p:txBody>
      </p:sp>
      <p:sp>
        <p:nvSpPr>
          <p:cNvPr id="513" name="Google Shape;513;g3fa35a6d944_0_536"/>
          <p:cNvSpPr txBox="1"/>
          <p:nvPr/>
        </p:nvSpPr>
        <p:spPr>
          <a:xfrm>
            <a:off x="1143000" y="3337560"/>
            <a:ext cx="4114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  <a:t>The treatment effect is assumed to be the same across groups.</a:t>
            </a:r>
            <a:endParaRPr sz="1900"/>
          </a:p>
        </p:txBody>
      </p:sp>
      <p:sp>
        <p:nvSpPr>
          <p:cNvPr id="514" name="Google Shape;514;g3fa35a6d944_0_536"/>
          <p:cNvSpPr/>
          <p:nvPr/>
        </p:nvSpPr>
        <p:spPr>
          <a:xfrm>
            <a:off x="6766550" y="2743200"/>
            <a:ext cx="4389000" cy="1374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EE4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g3fa35a6d944_0_536"/>
          <p:cNvSpPr txBox="1"/>
          <p:nvPr/>
        </p:nvSpPr>
        <p:spPr>
          <a:xfrm>
            <a:off x="6903720" y="2907792"/>
            <a:ext cx="411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BA096"/>
                </a:solidFill>
                <a:latin typeface="Arial"/>
                <a:ea typeface="Arial"/>
                <a:cs typeface="Arial"/>
                <a:sym typeface="Arial"/>
              </a:rPr>
              <a:t>With interaction</a:t>
            </a:r>
            <a:endParaRPr sz="1900"/>
          </a:p>
        </p:txBody>
      </p:sp>
      <p:sp>
        <p:nvSpPr>
          <p:cNvPr id="516" name="Google Shape;516;g3fa35a6d944_0_536"/>
          <p:cNvSpPr txBox="1"/>
          <p:nvPr/>
        </p:nvSpPr>
        <p:spPr>
          <a:xfrm>
            <a:off x="6903720" y="3337560"/>
            <a:ext cx="4114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  <a:t>The effect of treatment may differ by sex, genotype, environment, dose, etc.</a:t>
            </a:r>
            <a:endParaRPr sz="1900"/>
          </a:p>
        </p:txBody>
      </p:sp>
      <p:sp>
        <p:nvSpPr>
          <p:cNvPr id="517" name="Google Shape;517;g3fa35a6d944_0_536"/>
          <p:cNvSpPr txBox="1"/>
          <p:nvPr/>
        </p:nvSpPr>
        <p:spPr>
          <a:xfrm>
            <a:off x="2064275" y="347475"/>
            <a:ext cx="93657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43552"/>
                </a:solidFill>
                <a:latin typeface="Arial"/>
                <a:ea typeface="Arial"/>
                <a:cs typeface="Arial"/>
                <a:sym typeface="Arial"/>
              </a:rPr>
              <a:t>Interactions ask whether one effect depends on another variable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" name="Google Shape;522;g3fa4c5937f3_0_68"/>
          <p:cNvPicPr preferRelativeResize="0"/>
          <p:nvPr/>
        </p:nvPicPr>
        <p:blipFill rotWithShape="1">
          <a:blip r:embed="rId3">
            <a:alphaModFix/>
          </a:blip>
          <a:srcRect b="84967" l="0" r="82433" t="0"/>
          <a:stretch/>
        </p:blipFill>
        <p:spPr>
          <a:xfrm>
            <a:off x="0" y="0"/>
            <a:ext cx="1987917" cy="1029960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g3fa4c5937f3_0_68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/33</a:t>
            </a:r>
            <a:endParaRPr b="0" sz="1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4" name="Google Shape;524;g3fa4c5937f3_0_68"/>
          <p:cNvSpPr txBox="1"/>
          <p:nvPr/>
        </p:nvSpPr>
        <p:spPr>
          <a:xfrm>
            <a:off x="2064275" y="347475"/>
            <a:ext cx="93657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43552"/>
                </a:solidFill>
                <a:latin typeface="Arial"/>
                <a:ea typeface="Arial"/>
                <a:cs typeface="Arial"/>
                <a:sym typeface="Arial"/>
              </a:rPr>
              <a:t>Interactions ask whether one effect depends on another variable</a:t>
            </a:r>
            <a:endParaRPr/>
          </a:p>
        </p:txBody>
      </p:sp>
      <p:pic>
        <p:nvPicPr>
          <p:cNvPr id="525" name="Google Shape;525;g3fa4c5937f3_0_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375" y="1537325"/>
            <a:ext cx="6806725" cy="486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6" name="Google Shape;526;g3fa4c5937f3_0_6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53175" y="1861275"/>
            <a:ext cx="5468739" cy="243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3fa35a6d944_0_578"/>
          <p:cNvSpPr txBox="1"/>
          <p:nvPr>
            <p:ph type="title"/>
          </p:nvPr>
        </p:nvSpPr>
        <p:spPr>
          <a:xfrm>
            <a:off x="889198" y="2752560"/>
            <a:ext cx="8910300" cy="163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2200">
                <a:solidFill>
                  <a:srgbClr val="1BA096"/>
                </a:solidFill>
              </a:rPr>
              <a:t>6. Regression assumptions and diagnostics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2200">
              <a:solidFill>
                <a:srgbClr val="1BA09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5F89"/>
              </a:buClr>
              <a:buSzPct val="142857"/>
              <a:buFont typeface="Arial"/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5F89"/>
              </a:buClr>
              <a:buSzPct val="100000"/>
              <a:buFont typeface="Arial"/>
              <a:buNone/>
            </a:pPr>
            <a:r>
              <a:rPr lang="en-US" sz="2000">
                <a:solidFill>
                  <a:srgbClr val="005F89"/>
                </a:solidFill>
              </a:rPr>
              <a:t>Multiple variables, categories and biological interactions.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g3fa35a6d944_0_578"/>
          <p:cNvSpPr txBox="1"/>
          <p:nvPr>
            <p:ph idx="12" type="sldNum"/>
          </p:nvPr>
        </p:nvSpPr>
        <p:spPr>
          <a:xfrm>
            <a:off x="11409073" y="633312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2025" lIns="122025" spcFirstLastPara="1" rIns="122025" wrap="square" tIns="1220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33" name="Google Shape;533;g3fa35a6d944_0_5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23650" y="2344975"/>
            <a:ext cx="3668323" cy="2447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8" name="Google Shape;538;g3fa35a6d944_0_518"/>
          <p:cNvPicPr preferRelativeResize="0"/>
          <p:nvPr/>
        </p:nvPicPr>
        <p:blipFill rotWithShape="1">
          <a:blip r:embed="rId3">
            <a:alphaModFix/>
          </a:blip>
          <a:srcRect b="84967" l="0" r="82433" t="0"/>
          <a:stretch/>
        </p:blipFill>
        <p:spPr>
          <a:xfrm>
            <a:off x="0" y="0"/>
            <a:ext cx="1987917" cy="1029960"/>
          </a:xfrm>
          <a:prstGeom prst="rect">
            <a:avLst/>
          </a:prstGeom>
          <a:noFill/>
          <a:ln>
            <a:noFill/>
          </a:ln>
        </p:spPr>
      </p:pic>
      <p:sp>
        <p:nvSpPr>
          <p:cNvPr id="539" name="Google Shape;539;g3fa35a6d944_0_518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/33</a:t>
            </a:r>
            <a:endParaRPr b="0" sz="1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0" name="Google Shape;540;g3fa35a6d944_0_518"/>
          <p:cNvSpPr txBox="1"/>
          <p:nvPr/>
        </p:nvSpPr>
        <p:spPr>
          <a:xfrm>
            <a:off x="1743175" y="347475"/>
            <a:ext cx="968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43552"/>
                </a:solidFill>
                <a:latin typeface="Arial"/>
                <a:ea typeface="Arial"/>
                <a:cs typeface="Arial"/>
                <a:sym typeface="Arial"/>
              </a:rPr>
              <a:t>What assumptions should we inspect?</a:t>
            </a:r>
            <a:endParaRPr/>
          </a:p>
        </p:txBody>
      </p:sp>
      <p:sp>
        <p:nvSpPr>
          <p:cNvPr id="541" name="Google Shape;541;g3fa35a6d944_0_518"/>
          <p:cNvSpPr/>
          <p:nvPr/>
        </p:nvSpPr>
        <p:spPr>
          <a:xfrm>
            <a:off x="731525" y="1504750"/>
            <a:ext cx="3337500" cy="1379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EE4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g3fa35a6d944_0_518"/>
          <p:cNvSpPr txBox="1"/>
          <p:nvPr/>
        </p:nvSpPr>
        <p:spPr>
          <a:xfrm>
            <a:off x="868680" y="1669347"/>
            <a:ext cx="3063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B6CB0"/>
                </a:solidFill>
                <a:latin typeface="Arial"/>
                <a:ea typeface="Arial"/>
                <a:cs typeface="Arial"/>
                <a:sym typeface="Arial"/>
              </a:rPr>
              <a:t>Linearity</a:t>
            </a:r>
            <a:endParaRPr sz="1700"/>
          </a:p>
        </p:txBody>
      </p:sp>
      <p:sp>
        <p:nvSpPr>
          <p:cNvPr id="543" name="Google Shape;543;g3fa35a6d944_0_518"/>
          <p:cNvSpPr txBox="1"/>
          <p:nvPr/>
        </p:nvSpPr>
        <p:spPr>
          <a:xfrm>
            <a:off x="868680" y="2099115"/>
            <a:ext cx="3063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  <a:t>Mean response is adequately represented by a linear function.</a:t>
            </a:r>
            <a:endParaRPr sz="1700"/>
          </a:p>
        </p:txBody>
      </p:sp>
      <p:sp>
        <p:nvSpPr>
          <p:cNvPr id="544" name="Google Shape;544;g3fa35a6d944_0_518"/>
          <p:cNvSpPr/>
          <p:nvPr/>
        </p:nvSpPr>
        <p:spPr>
          <a:xfrm>
            <a:off x="4526275" y="1504750"/>
            <a:ext cx="3337500" cy="1379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EE4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g3fa35a6d944_0_518"/>
          <p:cNvSpPr txBox="1"/>
          <p:nvPr/>
        </p:nvSpPr>
        <p:spPr>
          <a:xfrm>
            <a:off x="4663440" y="1669347"/>
            <a:ext cx="3063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A096"/>
                </a:solidFill>
                <a:latin typeface="Arial"/>
                <a:ea typeface="Arial"/>
                <a:cs typeface="Arial"/>
                <a:sym typeface="Arial"/>
              </a:rPr>
              <a:t>Independence</a:t>
            </a:r>
            <a:endParaRPr sz="1700"/>
          </a:p>
        </p:txBody>
      </p:sp>
      <p:sp>
        <p:nvSpPr>
          <p:cNvPr id="546" name="Google Shape;546;g3fa35a6d944_0_518"/>
          <p:cNvSpPr txBox="1"/>
          <p:nvPr/>
        </p:nvSpPr>
        <p:spPr>
          <a:xfrm>
            <a:off x="4663440" y="2099115"/>
            <a:ext cx="30633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  <a:t>Residuals/observations are not dependent in a way ignored by the model.</a:t>
            </a:r>
            <a:endParaRPr sz="1700"/>
          </a:p>
        </p:txBody>
      </p:sp>
      <p:sp>
        <p:nvSpPr>
          <p:cNvPr id="547" name="Google Shape;547;g3fa35a6d944_0_518"/>
          <p:cNvSpPr/>
          <p:nvPr/>
        </p:nvSpPr>
        <p:spPr>
          <a:xfrm>
            <a:off x="8321050" y="1504750"/>
            <a:ext cx="3337500" cy="1379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EE4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g3fa35a6d944_0_518"/>
          <p:cNvSpPr txBox="1"/>
          <p:nvPr/>
        </p:nvSpPr>
        <p:spPr>
          <a:xfrm>
            <a:off x="8458200" y="1669347"/>
            <a:ext cx="3063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29923"/>
                </a:solidFill>
                <a:latin typeface="Arial"/>
                <a:ea typeface="Arial"/>
                <a:cs typeface="Arial"/>
                <a:sym typeface="Arial"/>
              </a:rPr>
              <a:t>Homoscedasticity</a:t>
            </a:r>
            <a:endParaRPr sz="1700"/>
          </a:p>
        </p:txBody>
      </p:sp>
      <p:sp>
        <p:nvSpPr>
          <p:cNvPr id="549" name="Google Shape;549;g3fa35a6d944_0_518"/>
          <p:cNvSpPr txBox="1"/>
          <p:nvPr/>
        </p:nvSpPr>
        <p:spPr>
          <a:xfrm>
            <a:off x="8458200" y="2099115"/>
            <a:ext cx="3063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  <a:t>Residual variance is approximately constant.</a:t>
            </a:r>
            <a:endParaRPr sz="1700"/>
          </a:p>
        </p:txBody>
      </p:sp>
      <p:sp>
        <p:nvSpPr>
          <p:cNvPr id="550" name="Google Shape;550;g3fa35a6d944_0_518"/>
          <p:cNvSpPr/>
          <p:nvPr/>
        </p:nvSpPr>
        <p:spPr>
          <a:xfrm>
            <a:off x="2529850" y="3493024"/>
            <a:ext cx="3337500" cy="1292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EE4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g3fa35a6d944_0_518"/>
          <p:cNvSpPr txBox="1"/>
          <p:nvPr/>
        </p:nvSpPr>
        <p:spPr>
          <a:xfrm>
            <a:off x="2667017" y="3657612"/>
            <a:ext cx="3063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7E57C2"/>
                </a:solidFill>
                <a:latin typeface="Arial"/>
                <a:ea typeface="Arial"/>
                <a:cs typeface="Arial"/>
                <a:sym typeface="Arial"/>
              </a:rPr>
              <a:t>Residual normality</a:t>
            </a:r>
            <a:endParaRPr sz="1700"/>
          </a:p>
        </p:txBody>
      </p:sp>
      <p:sp>
        <p:nvSpPr>
          <p:cNvPr id="552" name="Google Shape;552;g3fa35a6d944_0_518"/>
          <p:cNvSpPr txBox="1"/>
          <p:nvPr/>
        </p:nvSpPr>
        <p:spPr>
          <a:xfrm>
            <a:off x="2667017" y="4087380"/>
            <a:ext cx="3063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  <a:t>Re</a:t>
            </a:r>
            <a:r>
              <a:rPr lang="en-US" sz="1500">
                <a:solidFill>
                  <a:srgbClr val="232A31"/>
                </a:solidFill>
              </a:rPr>
              <a:t>siduals is distributed normally</a:t>
            </a:r>
            <a:endParaRPr sz="1700"/>
          </a:p>
        </p:txBody>
      </p:sp>
      <p:sp>
        <p:nvSpPr>
          <p:cNvPr id="553" name="Google Shape;553;g3fa35a6d944_0_518"/>
          <p:cNvSpPr/>
          <p:nvPr/>
        </p:nvSpPr>
        <p:spPr>
          <a:xfrm>
            <a:off x="6324625" y="3493024"/>
            <a:ext cx="3337500" cy="1292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EE4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g3fa35a6d944_0_518"/>
          <p:cNvSpPr txBox="1"/>
          <p:nvPr/>
        </p:nvSpPr>
        <p:spPr>
          <a:xfrm>
            <a:off x="6461777" y="3657612"/>
            <a:ext cx="3063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D24E4E"/>
                </a:solidFill>
                <a:latin typeface="Arial"/>
                <a:ea typeface="Arial"/>
                <a:cs typeface="Arial"/>
                <a:sym typeface="Arial"/>
              </a:rPr>
              <a:t>Multicollinearity</a:t>
            </a:r>
            <a:endParaRPr sz="1700"/>
          </a:p>
        </p:txBody>
      </p:sp>
      <p:sp>
        <p:nvSpPr>
          <p:cNvPr id="555" name="Google Shape;555;g3fa35a6d944_0_518"/>
          <p:cNvSpPr txBox="1"/>
          <p:nvPr/>
        </p:nvSpPr>
        <p:spPr>
          <a:xfrm>
            <a:off x="6461777" y="4087380"/>
            <a:ext cx="3063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  <a:t>Strong predictor correlation can destabilize coefficient estimates.</a:t>
            </a:r>
            <a:endParaRPr sz="17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0" name="Google Shape;560;g3fa35a6d944_0_573"/>
          <p:cNvPicPr preferRelativeResize="0"/>
          <p:nvPr/>
        </p:nvPicPr>
        <p:blipFill rotWithShape="1">
          <a:blip r:embed="rId3">
            <a:alphaModFix/>
          </a:blip>
          <a:srcRect b="84967" l="0" r="82433" t="0"/>
          <a:stretch/>
        </p:blipFill>
        <p:spPr>
          <a:xfrm>
            <a:off x="0" y="0"/>
            <a:ext cx="1987917" cy="1029960"/>
          </a:xfrm>
          <a:prstGeom prst="rect">
            <a:avLst/>
          </a:prstGeom>
          <a:noFill/>
          <a:ln>
            <a:noFill/>
          </a:ln>
        </p:spPr>
      </p:pic>
      <p:sp>
        <p:nvSpPr>
          <p:cNvPr id="561" name="Google Shape;561;g3fa35a6d944_0_573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/33</a:t>
            </a:r>
            <a:endParaRPr b="0" sz="1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2" name="Google Shape;562;g3fa35a6d944_0_573"/>
          <p:cNvSpPr txBox="1"/>
          <p:nvPr/>
        </p:nvSpPr>
        <p:spPr>
          <a:xfrm>
            <a:off x="2155075" y="347475"/>
            <a:ext cx="9274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43552"/>
                </a:solidFill>
                <a:latin typeface="Arial"/>
                <a:ea typeface="Arial"/>
                <a:cs typeface="Arial"/>
                <a:sym typeface="Arial"/>
              </a:rPr>
              <a:t>Linearity: residual structure reveals missing shape</a:t>
            </a:r>
            <a:endParaRPr/>
          </a:p>
        </p:txBody>
      </p:sp>
      <p:pic>
        <p:nvPicPr>
          <p:cNvPr id="563" name="Google Shape;563;g3fa35a6d944_0_5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8925" y="1197297"/>
            <a:ext cx="10477500" cy="431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g3fa35a6d944_0_568"/>
          <p:cNvPicPr preferRelativeResize="0"/>
          <p:nvPr/>
        </p:nvPicPr>
        <p:blipFill rotWithShape="1">
          <a:blip r:embed="rId3">
            <a:alphaModFix/>
          </a:blip>
          <a:srcRect b="84967" l="0" r="82433" t="0"/>
          <a:stretch/>
        </p:blipFill>
        <p:spPr>
          <a:xfrm>
            <a:off x="0" y="0"/>
            <a:ext cx="1987917" cy="102996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g3fa35a6d944_0_568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/33</a:t>
            </a:r>
            <a:endParaRPr b="0" sz="1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0" name="Google Shape;570;g3fa35a6d944_0_568"/>
          <p:cNvSpPr txBox="1"/>
          <p:nvPr/>
        </p:nvSpPr>
        <p:spPr>
          <a:xfrm>
            <a:off x="1743175" y="347475"/>
            <a:ext cx="968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43552"/>
                </a:solidFill>
                <a:latin typeface="Arial"/>
                <a:ea typeface="Arial"/>
                <a:cs typeface="Arial"/>
                <a:sym typeface="Arial"/>
              </a:rPr>
              <a:t>Independence biological hierarchy </a:t>
            </a:r>
            <a:r>
              <a:rPr b="1" lang="en-US" sz="2400">
                <a:solidFill>
                  <a:srgbClr val="143552"/>
                </a:solidFill>
              </a:rPr>
              <a:t>strikes back</a:t>
            </a:r>
            <a:endParaRPr/>
          </a:p>
        </p:txBody>
      </p:sp>
      <p:sp>
        <p:nvSpPr>
          <p:cNvPr id="571" name="Google Shape;571;g3fa35a6d944_0_568"/>
          <p:cNvSpPr/>
          <p:nvPr/>
        </p:nvSpPr>
        <p:spPr>
          <a:xfrm>
            <a:off x="822975" y="1325875"/>
            <a:ext cx="3453900" cy="1309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EE4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g3fa35a6d944_0_568"/>
          <p:cNvSpPr txBox="1"/>
          <p:nvPr/>
        </p:nvSpPr>
        <p:spPr>
          <a:xfrm>
            <a:off x="960127" y="1490475"/>
            <a:ext cx="309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B6CB0"/>
                </a:solidFill>
                <a:latin typeface="Arial"/>
                <a:ea typeface="Arial"/>
                <a:cs typeface="Arial"/>
                <a:sym typeface="Arial"/>
              </a:rPr>
              <a:t>Same patient/object</a:t>
            </a:r>
            <a:endParaRPr sz="1700"/>
          </a:p>
        </p:txBody>
      </p:sp>
      <p:sp>
        <p:nvSpPr>
          <p:cNvPr id="573" name="Google Shape;573;g3fa35a6d944_0_568"/>
          <p:cNvSpPr txBox="1"/>
          <p:nvPr/>
        </p:nvSpPr>
        <p:spPr>
          <a:xfrm>
            <a:off x="947777" y="2015575"/>
            <a:ext cx="3204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  <a:t>Repeated visits or tissues</a:t>
            </a:r>
            <a:endParaRPr sz="1700"/>
          </a:p>
        </p:txBody>
      </p:sp>
      <p:sp>
        <p:nvSpPr>
          <p:cNvPr id="574" name="Google Shape;574;g3fa35a6d944_0_568"/>
          <p:cNvSpPr/>
          <p:nvPr/>
        </p:nvSpPr>
        <p:spPr>
          <a:xfrm>
            <a:off x="5091550" y="1325875"/>
            <a:ext cx="3092400" cy="1309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EE4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g3fa35a6d944_0_568"/>
          <p:cNvSpPr txBox="1"/>
          <p:nvPr/>
        </p:nvSpPr>
        <p:spPr>
          <a:xfrm>
            <a:off x="5228713" y="1490472"/>
            <a:ext cx="2194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A096"/>
                </a:solidFill>
                <a:latin typeface="Arial"/>
                <a:ea typeface="Arial"/>
                <a:cs typeface="Arial"/>
                <a:sym typeface="Arial"/>
              </a:rPr>
              <a:t>Same animal</a:t>
            </a:r>
            <a:endParaRPr sz="1700"/>
          </a:p>
        </p:txBody>
      </p:sp>
      <p:sp>
        <p:nvSpPr>
          <p:cNvPr id="576" name="Google Shape;576;g3fa35a6d944_0_568"/>
          <p:cNvSpPr txBox="1"/>
          <p:nvPr/>
        </p:nvSpPr>
        <p:spPr>
          <a:xfrm>
            <a:off x="5125826" y="2015575"/>
            <a:ext cx="2400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  <a:t>Repeated measurements</a:t>
            </a:r>
            <a:endParaRPr sz="1700"/>
          </a:p>
        </p:txBody>
      </p:sp>
      <p:sp>
        <p:nvSpPr>
          <p:cNvPr id="577" name="Google Shape;577;g3fa35a6d944_0_568"/>
          <p:cNvSpPr/>
          <p:nvPr/>
        </p:nvSpPr>
        <p:spPr>
          <a:xfrm>
            <a:off x="8736750" y="1325875"/>
            <a:ext cx="3092400" cy="1309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EE4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g3fa35a6d944_0_568"/>
          <p:cNvSpPr txBox="1"/>
          <p:nvPr/>
        </p:nvSpPr>
        <p:spPr>
          <a:xfrm>
            <a:off x="9077499" y="1490475"/>
            <a:ext cx="2614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29923"/>
                </a:solidFill>
                <a:latin typeface="Arial"/>
                <a:ea typeface="Arial"/>
                <a:cs typeface="Arial"/>
                <a:sym typeface="Arial"/>
              </a:rPr>
              <a:t>Technical replicates</a:t>
            </a:r>
            <a:endParaRPr sz="1700"/>
          </a:p>
        </p:txBody>
      </p:sp>
      <p:sp>
        <p:nvSpPr>
          <p:cNvPr id="579" name="Google Shape;579;g3fa35a6d944_0_568"/>
          <p:cNvSpPr txBox="1"/>
          <p:nvPr/>
        </p:nvSpPr>
        <p:spPr>
          <a:xfrm>
            <a:off x="8998624" y="1900075"/>
            <a:ext cx="2693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  <a:t>Repeated assay of one sample</a:t>
            </a:r>
            <a:endParaRPr sz="1700"/>
          </a:p>
        </p:txBody>
      </p:sp>
      <p:pic>
        <p:nvPicPr>
          <p:cNvPr id="580" name="Google Shape;580;g3fa35a6d944_0_5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01627" y="2708425"/>
            <a:ext cx="5679250" cy="373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5" name="Google Shape;585;g3fa35a6d944_0_606"/>
          <p:cNvPicPr preferRelativeResize="0"/>
          <p:nvPr/>
        </p:nvPicPr>
        <p:blipFill rotWithShape="1">
          <a:blip r:embed="rId3">
            <a:alphaModFix/>
          </a:blip>
          <a:srcRect b="84967" l="0" r="82433" t="0"/>
          <a:stretch/>
        </p:blipFill>
        <p:spPr>
          <a:xfrm>
            <a:off x="0" y="0"/>
            <a:ext cx="1987917" cy="1029960"/>
          </a:xfrm>
          <a:prstGeom prst="rect">
            <a:avLst/>
          </a:prstGeom>
          <a:noFill/>
          <a:ln>
            <a:noFill/>
          </a:ln>
        </p:spPr>
      </p:pic>
      <p:sp>
        <p:nvSpPr>
          <p:cNvPr id="586" name="Google Shape;586;g3fa35a6d944_0_606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/33</a:t>
            </a:r>
            <a:endParaRPr b="0" sz="1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7" name="Google Shape;587;g3fa35a6d944_0_606"/>
          <p:cNvSpPr txBox="1"/>
          <p:nvPr/>
        </p:nvSpPr>
        <p:spPr>
          <a:xfrm>
            <a:off x="4759055" y="891972"/>
            <a:ext cx="3200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29923"/>
                </a:solidFill>
                <a:latin typeface="Arial"/>
                <a:ea typeface="Arial"/>
                <a:cs typeface="Arial"/>
                <a:sym typeface="Arial"/>
              </a:rPr>
              <a:t>Homoscedasticity</a:t>
            </a:r>
            <a:endParaRPr sz="1600"/>
          </a:p>
        </p:txBody>
      </p:sp>
      <p:sp>
        <p:nvSpPr>
          <p:cNvPr id="588" name="Google Shape;588;g3fa35a6d944_0_606"/>
          <p:cNvSpPr txBox="1"/>
          <p:nvPr/>
        </p:nvSpPr>
        <p:spPr>
          <a:xfrm>
            <a:off x="4759055" y="1321740"/>
            <a:ext cx="32004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  <a:t>Does residual spread remain similar across fitted values?</a:t>
            </a:r>
            <a:br>
              <a:rPr b="0" i="0" lang="en-US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/>
          </a:p>
        </p:txBody>
      </p:sp>
      <p:pic>
        <p:nvPicPr>
          <p:cNvPr id="589" name="Google Shape;589;g3fa35a6d944_0_60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1500" y="2135375"/>
            <a:ext cx="11172201" cy="418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4" name="Google Shape;594;g3fa35a6d944_0_630"/>
          <p:cNvPicPr preferRelativeResize="0"/>
          <p:nvPr/>
        </p:nvPicPr>
        <p:blipFill rotWithShape="1">
          <a:blip r:embed="rId3">
            <a:alphaModFix/>
          </a:blip>
          <a:srcRect b="84967" l="0" r="82433" t="0"/>
          <a:stretch/>
        </p:blipFill>
        <p:spPr>
          <a:xfrm>
            <a:off x="0" y="0"/>
            <a:ext cx="1987917" cy="1029960"/>
          </a:xfrm>
          <a:prstGeom prst="rect">
            <a:avLst/>
          </a:prstGeom>
          <a:noFill/>
          <a:ln>
            <a:noFill/>
          </a:ln>
        </p:spPr>
      </p:pic>
      <p:sp>
        <p:nvSpPr>
          <p:cNvPr id="595" name="Google Shape;595;g3fa35a6d944_0_630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/33</a:t>
            </a:r>
            <a:endParaRPr b="0" sz="1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6" name="Google Shape;596;g3fa35a6d944_0_630"/>
          <p:cNvSpPr txBox="1"/>
          <p:nvPr/>
        </p:nvSpPr>
        <p:spPr>
          <a:xfrm>
            <a:off x="528517" y="1673972"/>
            <a:ext cx="320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7E57C2"/>
                </a:solidFill>
                <a:latin typeface="Arial"/>
                <a:ea typeface="Arial"/>
                <a:cs typeface="Arial"/>
                <a:sym typeface="Arial"/>
              </a:rPr>
              <a:t>Residual normality</a:t>
            </a:r>
            <a:endParaRPr sz="1700"/>
          </a:p>
        </p:txBody>
      </p:sp>
      <p:sp>
        <p:nvSpPr>
          <p:cNvPr id="597" name="Google Shape;597;g3fa35a6d944_0_630"/>
          <p:cNvSpPr txBox="1"/>
          <p:nvPr/>
        </p:nvSpPr>
        <p:spPr>
          <a:xfrm>
            <a:off x="528517" y="2103740"/>
            <a:ext cx="32004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  <a:t>For classical inference, are residuals approximately compatible with the assumed error distribution?</a:t>
            </a:r>
            <a:br>
              <a:rPr b="0" i="0" lang="en-US" sz="15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5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  <a:t>The predictors themselves do not have to be normal.</a:t>
            </a:r>
            <a:endParaRPr sz="1700"/>
          </a:p>
        </p:txBody>
      </p:sp>
      <p:pic>
        <p:nvPicPr>
          <p:cNvPr id="598" name="Google Shape;598;g3fa35a6d944_0_6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77049" y="794625"/>
            <a:ext cx="7329925" cy="537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3" name="Google Shape;603;g3fa35a6d944_0_645"/>
          <p:cNvPicPr preferRelativeResize="0"/>
          <p:nvPr/>
        </p:nvPicPr>
        <p:blipFill rotWithShape="1">
          <a:blip r:embed="rId3">
            <a:alphaModFix/>
          </a:blip>
          <a:srcRect b="84967" l="0" r="82433" t="0"/>
          <a:stretch/>
        </p:blipFill>
        <p:spPr>
          <a:xfrm>
            <a:off x="0" y="0"/>
            <a:ext cx="1987917" cy="1029960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g3fa35a6d944_0_645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/33</a:t>
            </a:r>
            <a:endParaRPr b="0" sz="1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5" name="Google Shape;605;g3fa35a6d944_0_645"/>
          <p:cNvSpPr txBox="1"/>
          <p:nvPr/>
        </p:nvSpPr>
        <p:spPr>
          <a:xfrm>
            <a:off x="6351529" y="2022497"/>
            <a:ext cx="320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D24E4E"/>
                </a:solidFill>
                <a:latin typeface="Arial"/>
                <a:ea typeface="Arial"/>
                <a:cs typeface="Arial"/>
                <a:sym typeface="Arial"/>
              </a:rPr>
              <a:t>Multicollinearity</a:t>
            </a:r>
            <a:endParaRPr sz="1700"/>
          </a:p>
        </p:txBody>
      </p:sp>
      <p:sp>
        <p:nvSpPr>
          <p:cNvPr id="606" name="Google Shape;606;g3fa35a6d944_0_645"/>
          <p:cNvSpPr txBox="1"/>
          <p:nvPr/>
        </p:nvSpPr>
        <p:spPr>
          <a:xfrm>
            <a:off x="6351529" y="2452265"/>
            <a:ext cx="32004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  <a:t>Are several predictors carrying nearly the same information?</a:t>
            </a:r>
            <a:br>
              <a:rPr b="0" i="0" lang="en-US" sz="15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</a:br>
            <a:endParaRPr sz="1700"/>
          </a:p>
        </p:txBody>
      </p:sp>
      <p:pic>
        <p:nvPicPr>
          <p:cNvPr id="607" name="Google Shape;607;g3fa35a6d944_0_6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825" y="1200225"/>
            <a:ext cx="5862625" cy="5121601"/>
          </a:xfrm>
          <a:prstGeom prst="rect">
            <a:avLst/>
          </a:prstGeom>
          <a:noFill/>
          <a:ln>
            <a:noFill/>
          </a:ln>
        </p:spPr>
      </p:pic>
      <p:sp>
        <p:nvSpPr>
          <p:cNvPr id="608" name="Google Shape;608;g3fa35a6d944_0_645"/>
          <p:cNvSpPr txBox="1"/>
          <p:nvPr/>
        </p:nvSpPr>
        <p:spPr>
          <a:xfrm>
            <a:off x="6795650" y="4476400"/>
            <a:ext cx="542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Answer: PCA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3fa35a6d944_0_658"/>
          <p:cNvSpPr txBox="1"/>
          <p:nvPr>
            <p:ph type="title"/>
          </p:nvPr>
        </p:nvSpPr>
        <p:spPr>
          <a:xfrm>
            <a:off x="889198" y="2752560"/>
            <a:ext cx="8910300" cy="163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2200">
                <a:solidFill>
                  <a:srgbClr val="1BA096"/>
                </a:solidFill>
              </a:rPr>
              <a:t>7. Evaluation and generalization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5F89"/>
              </a:buClr>
              <a:buSzPct val="142857"/>
              <a:buFont typeface="Arial"/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5F89"/>
              </a:buClr>
              <a:buSzPct val="100000"/>
              <a:buFont typeface="Arial"/>
              <a:buNone/>
            </a:pPr>
            <a:r>
              <a:rPr lang="en-US" sz="2000">
                <a:solidFill>
                  <a:srgbClr val="005F89"/>
                </a:solidFill>
              </a:rPr>
              <a:t>M</a:t>
            </a:r>
            <a:r>
              <a:rPr lang="en-US" sz="2000">
                <a:solidFill>
                  <a:srgbClr val="005F89"/>
                </a:solidFill>
              </a:rPr>
              <a:t>odel is useful when it performs appropriately on unseen biological observations.</a:t>
            </a:r>
            <a:endParaRPr sz="2000">
              <a:solidFill>
                <a:srgbClr val="005F8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5F89"/>
              </a:buClr>
              <a:buSzPct val="100000"/>
              <a:buFont typeface="Arial"/>
              <a:buNone/>
            </a:pPr>
            <a:r>
              <a:t/>
            </a:r>
            <a:endParaRPr sz="2000">
              <a:solidFill>
                <a:srgbClr val="005F89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g3fa35a6d944_0_658"/>
          <p:cNvSpPr txBox="1"/>
          <p:nvPr>
            <p:ph idx="12" type="sldNum"/>
          </p:nvPr>
        </p:nvSpPr>
        <p:spPr>
          <a:xfrm>
            <a:off x="11409073" y="633312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2025" lIns="122025" spcFirstLastPara="1" rIns="122025" wrap="square" tIns="1220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9" name="Google Shape;619;g3fa35a6d944_0_663"/>
          <p:cNvPicPr preferRelativeResize="0"/>
          <p:nvPr/>
        </p:nvPicPr>
        <p:blipFill rotWithShape="1">
          <a:blip r:embed="rId3">
            <a:alphaModFix/>
          </a:blip>
          <a:srcRect b="84967" l="0" r="82433" t="0"/>
          <a:stretch/>
        </p:blipFill>
        <p:spPr>
          <a:xfrm>
            <a:off x="0" y="0"/>
            <a:ext cx="1987917" cy="1029960"/>
          </a:xfrm>
          <a:prstGeom prst="rect">
            <a:avLst/>
          </a:prstGeom>
          <a:noFill/>
          <a:ln>
            <a:noFill/>
          </a:ln>
        </p:spPr>
      </p:pic>
      <p:sp>
        <p:nvSpPr>
          <p:cNvPr id="620" name="Google Shape;620;g3fa35a6d944_0_663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/33</a:t>
            </a:r>
            <a:endParaRPr b="0" sz="1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1" name="Google Shape;621;g3fa35a6d944_0_663"/>
          <p:cNvSpPr txBox="1"/>
          <p:nvPr/>
        </p:nvSpPr>
        <p:spPr>
          <a:xfrm>
            <a:off x="883875" y="1161722"/>
            <a:ext cx="1051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43552"/>
                </a:solidFill>
                <a:latin typeface="Arial"/>
                <a:ea typeface="Arial"/>
                <a:cs typeface="Arial"/>
                <a:sym typeface="Arial"/>
              </a:rPr>
              <a:t>Regression metrics summarize different aspects of error</a:t>
            </a:r>
            <a:endParaRPr/>
          </a:p>
        </p:txBody>
      </p:sp>
      <p:sp>
        <p:nvSpPr>
          <p:cNvPr id="622" name="Google Shape;622;g3fa35a6d944_0_663"/>
          <p:cNvSpPr/>
          <p:nvPr/>
        </p:nvSpPr>
        <p:spPr>
          <a:xfrm>
            <a:off x="609567" y="1828805"/>
            <a:ext cx="2606100" cy="3200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EE4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g3fa35a6d944_0_663"/>
          <p:cNvSpPr txBox="1"/>
          <p:nvPr/>
        </p:nvSpPr>
        <p:spPr>
          <a:xfrm>
            <a:off x="746728" y="1993397"/>
            <a:ext cx="233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B6CB0"/>
                </a:solidFill>
                <a:latin typeface="Arial"/>
                <a:ea typeface="Arial"/>
                <a:cs typeface="Arial"/>
                <a:sym typeface="Arial"/>
              </a:rPr>
              <a:t>MAE</a:t>
            </a:r>
            <a:endParaRPr sz="1700"/>
          </a:p>
        </p:txBody>
      </p:sp>
      <p:sp>
        <p:nvSpPr>
          <p:cNvPr id="624" name="Google Shape;624;g3fa35a6d944_0_663"/>
          <p:cNvSpPr txBox="1"/>
          <p:nvPr/>
        </p:nvSpPr>
        <p:spPr>
          <a:xfrm>
            <a:off x="746728" y="2423165"/>
            <a:ext cx="23316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  <a:t>Mean absolute error</a:t>
            </a:r>
            <a:br>
              <a:rPr b="0" i="0" lang="en-US" sz="15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5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  <a:t>Typical absolute prediction error.</a:t>
            </a:r>
            <a:br>
              <a:rPr b="0" i="0" lang="en-US" sz="15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5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  <a:t>Same units as y.</a:t>
            </a:r>
            <a:endParaRPr sz="1700"/>
          </a:p>
        </p:txBody>
      </p:sp>
      <p:sp>
        <p:nvSpPr>
          <p:cNvPr id="625" name="Google Shape;625;g3fa35a6d944_0_663"/>
          <p:cNvSpPr/>
          <p:nvPr/>
        </p:nvSpPr>
        <p:spPr>
          <a:xfrm>
            <a:off x="3398488" y="1828805"/>
            <a:ext cx="2606100" cy="3200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EE4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g3fa35a6d944_0_663"/>
          <p:cNvSpPr txBox="1"/>
          <p:nvPr/>
        </p:nvSpPr>
        <p:spPr>
          <a:xfrm>
            <a:off x="3535648" y="1993397"/>
            <a:ext cx="233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29923"/>
                </a:solidFill>
                <a:latin typeface="Arial"/>
                <a:ea typeface="Arial"/>
                <a:cs typeface="Arial"/>
                <a:sym typeface="Arial"/>
              </a:rPr>
              <a:t>MSE</a:t>
            </a:r>
            <a:endParaRPr sz="1700"/>
          </a:p>
        </p:txBody>
      </p:sp>
      <p:sp>
        <p:nvSpPr>
          <p:cNvPr id="627" name="Google Shape;627;g3fa35a6d944_0_663"/>
          <p:cNvSpPr txBox="1"/>
          <p:nvPr/>
        </p:nvSpPr>
        <p:spPr>
          <a:xfrm>
            <a:off x="3535648" y="2423165"/>
            <a:ext cx="23316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  <a:t>Mean squared error</a:t>
            </a:r>
            <a:br>
              <a:rPr b="0" i="0" lang="en-US" sz="15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5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  <a:t>Penalizes large errors strongly.</a:t>
            </a:r>
            <a:br>
              <a:rPr b="0" i="0" lang="en-US" sz="15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5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  <a:t>Squared units.</a:t>
            </a:r>
            <a:endParaRPr sz="1700"/>
          </a:p>
        </p:txBody>
      </p:sp>
      <p:sp>
        <p:nvSpPr>
          <p:cNvPr id="628" name="Google Shape;628;g3fa35a6d944_0_663"/>
          <p:cNvSpPr/>
          <p:nvPr/>
        </p:nvSpPr>
        <p:spPr>
          <a:xfrm>
            <a:off x="6187408" y="1828805"/>
            <a:ext cx="2606100" cy="3200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EE4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g3fa35a6d944_0_663"/>
          <p:cNvSpPr txBox="1"/>
          <p:nvPr/>
        </p:nvSpPr>
        <p:spPr>
          <a:xfrm>
            <a:off x="6324568" y="1993397"/>
            <a:ext cx="233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BA096"/>
                </a:solidFill>
              </a:rPr>
              <a:t>MAPE</a:t>
            </a:r>
            <a:endParaRPr sz="1700"/>
          </a:p>
        </p:txBody>
      </p:sp>
      <p:sp>
        <p:nvSpPr>
          <p:cNvPr id="630" name="Google Shape;630;g3fa35a6d944_0_663"/>
          <p:cNvSpPr txBox="1"/>
          <p:nvPr/>
        </p:nvSpPr>
        <p:spPr>
          <a:xfrm>
            <a:off x="6324568" y="2423165"/>
            <a:ext cx="2331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32A31"/>
                </a:solidFill>
              </a:rPr>
              <a:t>Relative representation of MAE</a:t>
            </a:r>
            <a:br>
              <a:rPr b="0" i="0" lang="en-US" sz="15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5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500">
                <a:solidFill>
                  <a:srgbClr val="232A31"/>
                </a:solidFill>
              </a:rPr>
              <a:t>Useful</a:t>
            </a:r>
            <a:r>
              <a:rPr lang="en-US" sz="1500">
                <a:solidFill>
                  <a:srgbClr val="232A31"/>
                </a:solidFill>
              </a:rPr>
              <a:t> for </a:t>
            </a:r>
            <a:r>
              <a:rPr lang="en-US" sz="1500">
                <a:solidFill>
                  <a:srgbClr val="232A31"/>
                </a:solidFill>
              </a:rPr>
              <a:t>presentation.</a:t>
            </a:r>
            <a:endParaRPr sz="1700"/>
          </a:p>
        </p:txBody>
      </p:sp>
      <p:sp>
        <p:nvSpPr>
          <p:cNvPr id="631" name="Google Shape;631;g3fa35a6d944_0_663"/>
          <p:cNvSpPr/>
          <p:nvPr/>
        </p:nvSpPr>
        <p:spPr>
          <a:xfrm>
            <a:off x="8976328" y="1828805"/>
            <a:ext cx="2606100" cy="3200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EE4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g3fa35a6d944_0_663"/>
          <p:cNvSpPr txBox="1"/>
          <p:nvPr/>
        </p:nvSpPr>
        <p:spPr>
          <a:xfrm>
            <a:off x="9113488" y="1993397"/>
            <a:ext cx="233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7E57C2"/>
                </a:solidFill>
                <a:latin typeface="Arial"/>
                <a:ea typeface="Arial"/>
                <a:cs typeface="Arial"/>
                <a:sym typeface="Arial"/>
              </a:rPr>
              <a:t>R²</a:t>
            </a:r>
            <a:endParaRPr sz="1700"/>
          </a:p>
        </p:txBody>
      </p:sp>
      <p:sp>
        <p:nvSpPr>
          <p:cNvPr id="633" name="Google Shape;633;g3fa35a6d944_0_663"/>
          <p:cNvSpPr txBox="1"/>
          <p:nvPr/>
        </p:nvSpPr>
        <p:spPr>
          <a:xfrm>
            <a:off x="9113488" y="2423165"/>
            <a:ext cx="2331600" cy="12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  <a:t>Improvement relative to predicting the mean.</a:t>
            </a:r>
            <a:br>
              <a:rPr b="0" i="0" lang="en-US" sz="15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5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  <a:t>Not a percentage accuracy.</a:t>
            </a:r>
            <a:endParaRPr sz="1700"/>
          </a:p>
        </p:txBody>
      </p:sp>
      <p:pic>
        <p:nvPicPr>
          <p:cNvPr id="634" name="Google Shape;634;g3fa35a6d944_0_6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94675" y="3856975"/>
            <a:ext cx="5750825" cy="258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5" name="Google Shape;635;g3fa35a6d944_0_66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64140" y="3856975"/>
            <a:ext cx="6463698" cy="258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6" name="Google Shape;636;g3fa35a6d944_0_66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934416" y="3914500"/>
            <a:ext cx="7207760" cy="258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7" name="Google Shape;637;g3fa35a6d944_0_66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3" y="4004044"/>
            <a:ext cx="12191974" cy="24296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2" name="Google Shape;642;g3fa35a6d944_0_692"/>
          <p:cNvPicPr preferRelativeResize="0"/>
          <p:nvPr/>
        </p:nvPicPr>
        <p:blipFill rotWithShape="1">
          <a:blip r:embed="rId3">
            <a:alphaModFix/>
          </a:blip>
          <a:srcRect b="84967" l="0" r="82433" t="0"/>
          <a:stretch/>
        </p:blipFill>
        <p:spPr>
          <a:xfrm>
            <a:off x="0" y="0"/>
            <a:ext cx="1987917" cy="102996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g3fa35a6d944_0_692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/33</a:t>
            </a:r>
            <a:endParaRPr b="0" sz="1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44" name="Google Shape;644;g3fa35a6d944_0_692"/>
          <p:cNvPicPr preferRelativeResize="0"/>
          <p:nvPr/>
        </p:nvPicPr>
        <p:blipFill rotWithShape="1">
          <a:blip r:embed="rId4">
            <a:alphaModFix/>
          </a:blip>
          <a:srcRect b="9978" l="0" r="0" t="3786"/>
          <a:stretch/>
        </p:blipFill>
        <p:spPr>
          <a:xfrm>
            <a:off x="2060950" y="1144625"/>
            <a:ext cx="8472524" cy="5275375"/>
          </a:xfrm>
          <a:prstGeom prst="rect">
            <a:avLst/>
          </a:prstGeom>
          <a:noFill/>
          <a:ln>
            <a:noFill/>
          </a:ln>
        </p:spPr>
      </p:pic>
      <p:sp>
        <p:nvSpPr>
          <p:cNvPr id="645" name="Google Shape;645;g3fa35a6d944_0_692"/>
          <p:cNvSpPr txBox="1"/>
          <p:nvPr/>
        </p:nvSpPr>
        <p:spPr>
          <a:xfrm>
            <a:off x="2060950" y="336847"/>
            <a:ext cx="1051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43552"/>
                </a:solidFill>
                <a:latin typeface="Arial"/>
                <a:ea typeface="Arial"/>
                <a:cs typeface="Arial"/>
                <a:sym typeface="Arial"/>
              </a:rPr>
              <a:t>Training performance is not model quality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0" name="Google Shape;650;g3fa35a6d944_0_682"/>
          <p:cNvPicPr preferRelativeResize="0"/>
          <p:nvPr/>
        </p:nvPicPr>
        <p:blipFill rotWithShape="1">
          <a:blip r:embed="rId3">
            <a:alphaModFix/>
          </a:blip>
          <a:srcRect b="84967" l="0" r="82433" t="0"/>
          <a:stretch/>
        </p:blipFill>
        <p:spPr>
          <a:xfrm>
            <a:off x="0" y="0"/>
            <a:ext cx="1987917" cy="1029960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g3fa35a6d944_0_682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/33</a:t>
            </a:r>
            <a:endParaRPr b="0" sz="1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2" name="Google Shape;652;g3fa35a6d944_0_682"/>
          <p:cNvSpPr txBox="1"/>
          <p:nvPr/>
        </p:nvSpPr>
        <p:spPr>
          <a:xfrm>
            <a:off x="1740125" y="519497"/>
            <a:ext cx="1051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43552"/>
                </a:solidFill>
                <a:latin typeface="Arial"/>
                <a:ea typeface="Arial"/>
                <a:cs typeface="Arial"/>
                <a:sym typeface="Arial"/>
              </a:rPr>
              <a:t>Linear regression is </a:t>
            </a:r>
            <a:r>
              <a:rPr b="1" lang="en-US" sz="2400">
                <a:solidFill>
                  <a:srgbClr val="143552"/>
                </a:solidFill>
              </a:rPr>
              <a:t>meeh</a:t>
            </a:r>
            <a:endParaRPr/>
          </a:p>
        </p:txBody>
      </p:sp>
      <p:sp>
        <p:nvSpPr>
          <p:cNvPr id="653" name="Google Shape;653;g3fa35a6d944_0_682"/>
          <p:cNvSpPr txBox="1"/>
          <p:nvPr/>
        </p:nvSpPr>
        <p:spPr>
          <a:xfrm>
            <a:off x="1098055" y="1742926"/>
            <a:ext cx="493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BA096"/>
                </a:solidFill>
                <a:latin typeface="Arial"/>
                <a:ea typeface="Arial"/>
                <a:cs typeface="Arial"/>
                <a:sym typeface="Arial"/>
              </a:rPr>
              <a:t>Works well when</a:t>
            </a:r>
            <a:endParaRPr sz="1900"/>
          </a:p>
        </p:txBody>
      </p:sp>
      <p:sp>
        <p:nvSpPr>
          <p:cNvPr id="654" name="Google Shape;654;g3fa35a6d944_0_682"/>
          <p:cNvSpPr txBox="1"/>
          <p:nvPr/>
        </p:nvSpPr>
        <p:spPr>
          <a:xfrm>
            <a:off x="1098055" y="2172694"/>
            <a:ext cx="49377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  <a:t>• relationships are approximately linear</a:t>
            </a:r>
            <a:br>
              <a:rPr b="0" i="0" lang="en-US" sz="17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7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  <a:t>• interpretability </a:t>
            </a:r>
            <a:r>
              <a:rPr lang="en-US" sz="1700">
                <a:solidFill>
                  <a:srgbClr val="232A31"/>
                </a:solidFill>
              </a:rPr>
              <a:t>needed</a:t>
            </a:r>
            <a:br>
              <a:rPr b="0" i="0" lang="en-US" sz="17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7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  <a:t>• effects are additive</a:t>
            </a:r>
            <a:br>
              <a:rPr b="0" i="0" lang="en-US" sz="17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7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  <a:t>• sample size supports the number of predictors</a:t>
            </a:r>
            <a:br>
              <a:rPr b="0" i="0" lang="en-US" sz="17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7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  <a:t>• a</a:t>
            </a:r>
            <a:r>
              <a:rPr lang="en-US" sz="1700">
                <a:solidFill>
                  <a:srgbClr val="232A31"/>
                </a:solidFill>
              </a:rPr>
              <a:t>s a baseline</a:t>
            </a:r>
            <a:endParaRPr b="0" i="0" sz="1700" u="none" cap="none" strike="noStrike">
              <a:solidFill>
                <a:srgbClr val="232A3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232A31"/>
              </a:solidFill>
            </a:endParaRPr>
          </a:p>
        </p:txBody>
      </p:sp>
      <p:sp>
        <p:nvSpPr>
          <p:cNvPr id="655" name="Google Shape;655;g3fa35a6d944_0_682"/>
          <p:cNvSpPr txBox="1"/>
          <p:nvPr/>
        </p:nvSpPr>
        <p:spPr>
          <a:xfrm>
            <a:off x="1098050" y="3925026"/>
            <a:ext cx="493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29923"/>
                </a:solidFill>
              </a:rPr>
              <a:t>Will fail</a:t>
            </a:r>
            <a:r>
              <a:rPr b="1" i="0" lang="en-US" sz="2000" u="none" cap="none" strike="noStrike">
                <a:solidFill>
                  <a:srgbClr val="F29923"/>
                </a:solidFill>
                <a:latin typeface="Arial"/>
                <a:ea typeface="Arial"/>
                <a:cs typeface="Arial"/>
                <a:sym typeface="Arial"/>
              </a:rPr>
              <a:t> when</a:t>
            </a:r>
            <a:endParaRPr sz="1900"/>
          </a:p>
        </p:txBody>
      </p:sp>
      <p:sp>
        <p:nvSpPr>
          <p:cNvPr id="656" name="Google Shape;656;g3fa35a6d944_0_682"/>
          <p:cNvSpPr txBox="1"/>
          <p:nvPr/>
        </p:nvSpPr>
        <p:spPr>
          <a:xfrm>
            <a:off x="1098050" y="4354794"/>
            <a:ext cx="4937700" cy="19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  <a:t>• relationships are strongly nonlinear</a:t>
            </a:r>
            <a:br>
              <a:rPr b="0" i="0" lang="en-US" sz="17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7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  <a:t>• interactions are omitted</a:t>
            </a:r>
            <a:br>
              <a:rPr b="0" i="0" lang="en-US" sz="17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7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  <a:t>• extreme outliers dominate</a:t>
            </a:r>
            <a:br>
              <a:rPr b="0" i="0" lang="en-US" sz="17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7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  <a:t>• predictors are highly correlated</a:t>
            </a:r>
            <a:br>
              <a:rPr b="0" i="0" lang="en-US" sz="17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7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  <a:t>• p ≫ n</a:t>
            </a:r>
            <a:br>
              <a:rPr b="0" i="0" lang="en-US" sz="17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7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  <a:t>• repeated</a:t>
            </a:r>
            <a:r>
              <a:rPr lang="en-US" sz="1700">
                <a:solidFill>
                  <a:srgbClr val="232A31"/>
                </a:solidFill>
              </a:rPr>
              <a:t> measures</a:t>
            </a:r>
            <a:endParaRPr sz="1700">
              <a:solidFill>
                <a:srgbClr val="232A3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700">
                <a:solidFill>
                  <a:srgbClr val="232A31"/>
                </a:solidFill>
              </a:rPr>
              <a:t>• you need an actual model</a:t>
            </a:r>
            <a:endParaRPr sz="1700">
              <a:solidFill>
                <a:srgbClr val="232A31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1" name="Google Shape;661;g3fa35a6d944_0_677"/>
          <p:cNvPicPr preferRelativeResize="0"/>
          <p:nvPr/>
        </p:nvPicPr>
        <p:blipFill rotWithShape="1">
          <a:blip r:embed="rId3">
            <a:alphaModFix/>
          </a:blip>
          <a:srcRect b="84967" l="0" r="82433" t="0"/>
          <a:stretch/>
        </p:blipFill>
        <p:spPr>
          <a:xfrm>
            <a:off x="0" y="0"/>
            <a:ext cx="1987917" cy="1029960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g3fa35a6d944_0_677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/33</a:t>
            </a:r>
            <a:endParaRPr b="0" sz="1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3" name="Google Shape;663;g3fa35a6d944_0_677"/>
          <p:cNvSpPr txBox="1"/>
          <p:nvPr/>
        </p:nvSpPr>
        <p:spPr>
          <a:xfrm>
            <a:off x="1846375" y="347475"/>
            <a:ext cx="9583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43552"/>
                </a:solidFill>
                <a:latin typeface="Arial"/>
                <a:ea typeface="Arial"/>
                <a:cs typeface="Arial"/>
                <a:sym typeface="Arial"/>
              </a:rPr>
              <a:t>Practical 2 — fit, diagnose, evaluate</a:t>
            </a:r>
            <a:endParaRPr/>
          </a:p>
        </p:txBody>
      </p:sp>
      <p:sp>
        <p:nvSpPr>
          <p:cNvPr id="664" name="Google Shape;664;g3fa35a6d944_0_677"/>
          <p:cNvSpPr/>
          <p:nvPr/>
        </p:nvSpPr>
        <p:spPr>
          <a:xfrm>
            <a:off x="594360" y="1828800"/>
            <a:ext cx="1920300" cy="2103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EE4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g3fa35a6d944_0_677"/>
          <p:cNvSpPr/>
          <p:nvPr/>
        </p:nvSpPr>
        <p:spPr>
          <a:xfrm>
            <a:off x="2898648" y="1828800"/>
            <a:ext cx="1920300" cy="2103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EE4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g3fa35a6d944_0_677"/>
          <p:cNvSpPr txBox="1"/>
          <p:nvPr/>
        </p:nvSpPr>
        <p:spPr>
          <a:xfrm>
            <a:off x="3035808" y="1993392"/>
            <a:ext cx="1645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BA096"/>
                </a:solidFill>
                <a:latin typeface="Arial"/>
                <a:ea typeface="Arial"/>
                <a:cs typeface="Arial"/>
                <a:sym typeface="Arial"/>
              </a:rPr>
              <a:t>Fit</a:t>
            </a:r>
            <a:endParaRPr sz="1800"/>
          </a:p>
        </p:txBody>
      </p:sp>
      <p:sp>
        <p:nvSpPr>
          <p:cNvPr id="667" name="Google Shape;667;g3fa35a6d944_0_677"/>
          <p:cNvSpPr txBox="1"/>
          <p:nvPr/>
        </p:nvSpPr>
        <p:spPr>
          <a:xfrm>
            <a:off x="3035808" y="2423160"/>
            <a:ext cx="16458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  <a:t>Simple and multiple regression</a:t>
            </a:r>
            <a:endParaRPr sz="1800"/>
          </a:p>
        </p:txBody>
      </p:sp>
      <p:sp>
        <p:nvSpPr>
          <p:cNvPr id="668" name="Google Shape;668;g3fa35a6d944_0_677"/>
          <p:cNvSpPr/>
          <p:nvPr/>
        </p:nvSpPr>
        <p:spPr>
          <a:xfrm>
            <a:off x="5202936" y="1828800"/>
            <a:ext cx="1920300" cy="2103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EE4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g3fa35a6d944_0_677"/>
          <p:cNvSpPr txBox="1"/>
          <p:nvPr/>
        </p:nvSpPr>
        <p:spPr>
          <a:xfrm>
            <a:off x="5340096" y="1993392"/>
            <a:ext cx="1645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F29923"/>
                </a:solidFill>
                <a:latin typeface="Arial"/>
                <a:ea typeface="Arial"/>
                <a:cs typeface="Arial"/>
                <a:sym typeface="Arial"/>
              </a:rPr>
              <a:t>Diagnose</a:t>
            </a:r>
            <a:endParaRPr sz="1800"/>
          </a:p>
        </p:txBody>
      </p:sp>
      <p:sp>
        <p:nvSpPr>
          <p:cNvPr id="670" name="Google Shape;670;g3fa35a6d944_0_677"/>
          <p:cNvSpPr txBox="1"/>
          <p:nvPr/>
        </p:nvSpPr>
        <p:spPr>
          <a:xfrm>
            <a:off x="5340096" y="2423160"/>
            <a:ext cx="1645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  <a:t>Residuals and assumptions</a:t>
            </a:r>
            <a:endParaRPr sz="1800"/>
          </a:p>
        </p:txBody>
      </p:sp>
      <p:sp>
        <p:nvSpPr>
          <p:cNvPr id="671" name="Google Shape;671;g3fa35a6d944_0_677"/>
          <p:cNvSpPr/>
          <p:nvPr/>
        </p:nvSpPr>
        <p:spPr>
          <a:xfrm>
            <a:off x="7507224" y="1828800"/>
            <a:ext cx="1920300" cy="2103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EE4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g3fa35a6d944_0_677"/>
          <p:cNvSpPr txBox="1"/>
          <p:nvPr/>
        </p:nvSpPr>
        <p:spPr>
          <a:xfrm>
            <a:off x="7644384" y="1993392"/>
            <a:ext cx="1645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7E57C2"/>
                </a:solidFill>
                <a:latin typeface="Arial"/>
                <a:ea typeface="Arial"/>
                <a:cs typeface="Arial"/>
                <a:sym typeface="Arial"/>
              </a:rPr>
              <a:t>Evaluate</a:t>
            </a:r>
            <a:endParaRPr sz="1800"/>
          </a:p>
        </p:txBody>
      </p:sp>
      <p:sp>
        <p:nvSpPr>
          <p:cNvPr id="673" name="Google Shape;673;g3fa35a6d944_0_677"/>
          <p:cNvSpPr txBox="1"/>
          <p:nvPr/>
        </p:nvSpPr>
        <p:spPr>
          <a:xfrm>
            <a:off x="7544175" y="2423150"/>
            <a:ext cx="1883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  <a:t>MAE · RMSE · R²</a:t>
            </a:r>
            <a:endParaRPr sz="1800"/>
          </a:p>
        </p:txBody>
      </p:sp>
      <p:sp>
        <p:nvSpPr>
          <p:cNvPr id="674" name="Google Shape;674;g3fa35a6d944_0_677"/>
          <p:cNvSpPr/>
          <p:nvPr/>
        </p:nvSpPr>
        <p:spPr>
          <a:xfrm>
            <a:off x="9811512" y="1828800"/>
            <a:ext cx="1920300" cy="2103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EE4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g3fa35a6d944_0_677"/>
          <p:cNvSpPr txBox="1"/>
          <p:nvPr/>
        </p:nvSpPr>
        <p:spPr>
          <a:xfrm>
            <a:off x="9948672" y="1993392"/>
            <a:ext cx="1645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D24E4E"/>
                </a:solidFill>
                <a:latin typeface="Arial"/>
                <a:ea typeface="Arial"/>
                <a:cs typeface="Arial"/>
                <a:sym typeface="Arial"/>
              </a:rPr>
              <a:t>Compare</a:t>
            </a:r>
            <a:endParaRPr sz="1800"/>
          </a:p>
        </p:txBody>
      </p:sp>
      <p:sp>
        <p:nvSpPr>
          <p:cNvPr id="676" name="Google Shape;676;g3fa35a6d944_0_677"/>
          <p:cNvSpPr txBox="1"/>
          <p:nvPr/>
        </p:nvSpPr>
        <p:spPr>
          <a:xfrm>
            <a:off x="9948672" y="2423160"/>
            <a:ext cx="1645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  <a:t>Train vs test performance</a:t>
            </a:r>
            <a:endParaRPr sz="1800"/>
          </a:p>
        </p:txBody>
      </p:sp>
      <p:sp>
        <p:nvSpPr>
          <p:cNvPr id="677" name="Google Shape;677;g3fa35a6d944_0_677"/>
          <p:cNvSpPr txBox="1"/>
          <p:nvPr/>
        </p:nvSpPr>
        <p:spPr>
          <a:xfrm>
            <a:off x="731520" y="1993392"/>
            <a:ext cx="1645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2B6CB0"/>
                </a:solidFill>
                <a:latin typeface="Arial"/>
                <a:ea typeface="Arial"/>
                <a:cs typeface="Arial"/>
                <a:sym typeface="Arial"/>
              </a:rPr>
              <a:t>Explore</a:t>
            </a:r>
            <a:endParaRPr sz="1800"/>
          </a:p>
        </p:txBody>
      </p:sp>
      <p:sp>
        <p:nvSpPr>
          <p:cNvPr id="678" name="Google Shape;678;g3fa35a6d944_0_677"/>
          <p:cNvSpPr txBox="1"/>
          <p:nvPr/>
        </p:nvSpPr>
        <p:spPr>
          <a:xfrm>
            <a:off x="731520" y="2423160"/>
            <a:ext cx="16458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  <a:t>Visualize quantitative relationships</a:t>
            </a:r>
            <a:endParaRPr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