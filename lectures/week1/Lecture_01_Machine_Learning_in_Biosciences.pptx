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8nknTClcVPVgL6KQDg9Q+S36R5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Oleh Mezhensky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365123-8FFC-4B15-8C80-808CB802743D}">
  <a:tblStyle styleId="{07365123-8FFC-4B15-8C80-808CB80274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8T14:07:37.566">
    <p:pos x="892" y="1883"/>
    <p:text>to skip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KK08HQ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8-29T20:38:13.562">
    <p:pos x="6000" y="0"/>
    <p:text>to move froward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NicSKw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8-28T14:10:23.415">
    <p:pos x="6000" y="0"/>
    <p:text>we will discuss this later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KK08HU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8-28T14:20:07.840">
    <p:pos x="6000" y="0"/>
    <p:text>to empahzise on practical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KK08HY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5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35"/>
          <p:cNvSpPr txBox="1"/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35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3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9"/>
          <p:cNvSpPr txBox="1"/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39"/>
          <p:cNvSpPr txBox="1"/>
          <p:nvPr>
            <p:ph idx="1"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39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39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39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0"/>
          <p:cNvSpPr txBox="1"/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40"/>
          <p:cNvSpPr txBox="1"/>
          <p:nvPr>
            <p:ph idx="1"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40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40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40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1"/>
          <p:cNvSpPr txBox="1"/>
          <p:nvPr>
            <p:ph type="title"/>
          </p:nvPr>
        </p:nvSpPr>
        <p:spPr>
          <a:xfrm>
            <a:off x="1523880" y="1122480"/>
            <a:ext cx="9143640" cy="2387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4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2"/>
          <p:cNvSpPr txBox="1"/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>
            <a:off x="831960" y="4589640"/>
            <a:ext cx="10515240" cy="150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42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42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42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3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3"/>
          <p:cNvSpPr txBox="1"/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43"/>
          <p:cNvSpPr txBox="1"/>
          <p:nvPr>
            <p:ph idx="1"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43"/>
          <p:cNvSpPr txBox="1"/>
          <p:nvPr>
            <p:ph idx="2"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43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43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43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4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4"/>
          <p:cNvSpPr txBox="1"/>
          <p:nvPr>
            <p:ph type="title"/>
          </p:nvPr>
        </p:nvSpPr>
        <p:spPr>
          <a:xfrm>
            <a:off x="8398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44"/>
          <p:cNvSpPr txBox="1"/>
          <p:nvPr>
            <p:ph idx="1" type="body"/>
          </p:nvPr>
        </p:nvSpPr>
        <p:spPr>
          <a:xfrm>
            <a:off x="839880" y="1681200"/>
            <a:ext cx="5157720" cy="823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44"/>
          <p:cNvSpPr txBox="1"/>
          <p:nvPr>
            <p:ph idx="2" type="body"/>
          </p:nvPr>
        </p:nvSpPr>
        <p:spPr>
          <a:xfrm>
            <a:off x="839880" y="2505240"/>
            <a:ext cx="5157720" cy="368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44"/>
          <p:cNvSpPr txBox="1"/>
          <p:nvPr>
            <p:ph idx="3" type="body"/>
          </p:nvPr>
        </p:nvSpPr>
        <p:spPr>
          <a:xfrm>
            <a:off x="6172200" y="1681200"/>
            <a:ext cx="5182920" cy="823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44"/>
          <p:cNvSpPr txBox="1"/>
          <p:nvPr>
            <p:ph idx="4"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44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44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44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5"/>
          <p:cNvSpPr txBox="1"/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45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45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45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6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6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46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46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7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7"/>
          <p:cNvSpPr txBox="1"/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004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004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04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004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47"/>
          <p:cNvSpPr txBox="1"/>
          <p:nvPr>
            <p:ph idx="2"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7432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2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47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47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47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8"/>
          <p:cNvSpPr/>
          <p:nvPr/>
        </p:nvSpPr>
        <p:spPr>
          <a:xfrm>
            <a:off x="6888960" y="658404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9D4E7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8"/>
          <p:cNvSpPr txBox="1"/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48"/>
          <p:cNvSpPr txBox="1"/>
          <p:nvPr>
            <p:ph idx="1"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8003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003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0035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0035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0035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48"/>
          <p:cNvSpPr txBox="1"/>
          <p:nvPr>
            <p:ph idx="2"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7432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2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" name="Google Shape;80;p48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48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48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1" type="title">
  <p:cSld name="TITLE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7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7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7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7"/>
          <p:cNvSpPr txBox="1"/>
          <p:nvPr>
            <p:ph type="title"/>
          </p:nvPr>
        </p:nvSpPr>
        <p:spPr>
          <a:xfrm>
            <a:off x="415440" y="992880"/>
            <a:ext cx="11360520" cy="273672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9" name="Google Shape;89;p37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/34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3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 type="blank">
  <p:cSld name="BLANK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8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8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8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38"/>
          <p:cNvPicPr preferRelativeResize="0"/>
          <p:nvPr/>
        </p:nvPicPr>
        <p:blipFill rotWithShape="1">
          <a:blip r:embed="rId3">
            <a:alphaModFix/>
          </a:blip>
          <a:srcRect b="833" l="85" r="78373" t="82673"/>
          <a:stretch/>
        </p:blipFill>
        <p:spPr>
          <a:xfrm>
            <a:off x="0" y="5727600"/>
            <a:ext cx="2437920" cy="113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8"/>
          <p:cNvPicPr preferRelativeResize="0"/>
          <p:nvPr/>
        </p:nvPicPr>
        <p:blipFill rotWithShape="1">
          <a:blip r:embed="rId4">
            <a:alphaModFix/>
          </a:blip>
          <a:srcRect b="32032" l="0" r="0" t="36478"/>
          <a:stretch/>
        </p:blipFill>
        <p:spPr>
          <a:xfrm>
            <a:off x="0" y="2502000"/>
            <a:ext cx="12190320" cy="21585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8"/>
          <p:cNvSpPr txBox="1"/>
          <p:nvPr>
            <p:ph type="title"/>
          </p:nvPr>
        </p:nvSpPr>
        <p:spPr>
          <a:xfrm>
            <a:off x="1928160" y="2752560"/>
            <a:ext cx="78714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8" name="Google Shape;98;p38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3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9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9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9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9"/>
          <p:cNvSpPr txBox="1"/>
          <p:nvPr>
            <p:ph idx="1" type="body"/>
          </p:nvPr>
        </p:nvSpPr>
        <p:spPr>
          <a:xfrm>
            <a:off x="415440" y="5640840"/>
            <a:ext cx="7998120" cy="8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105" name="Google Shape;105;p49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0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50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0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0"/>
          <p:cNvSpPr txBox="1"/>
          <p:nvPr>
            <p:ph hasCustomPrompt="1" type="title"/>
          </p:nvPr>
        </p:nvSpPr>
        <p:spPr>
          <a:xfrm>
            <a:off x="415440" y="1474920"/>
            <a:ext cx="11360520" cy="261792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  <p:sp>
        <p:nvSpPr>
          <p:cNvPr id="111" name="Google Shape;111;p50"/>
          <p:cNvSpPr txBox="1"/>
          <p:nvPr>
            <p:ph idx="1" type="body"/>
          </p:nvPr>
        </p:nvSpPr>
        <p:spPr>
          <a:xfrm>
            <a:off x="415440" y="4203000"/>
            <a:ext cx="11360520" cy="17341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2" name="Google Shape;112;p50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-light-2">
  <p:cSld name="simple-light-2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51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1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1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1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" type="obj">
  <p:cSld name="OBJECT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2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2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2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2"/>
          <p:cNvSpPr txBox="1"/>
          <p:nvPr>
            <p:ph type="title"/>
          </p:nvPr>
        </p:nvSpPr>
        <p:spPr>
          <a:xfrm>
            <a:off x="838080" y="365040"/>
            <a:ext cx="1051524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52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52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5" name="Google Shape;125;p52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6" name="Google Shape;126;p52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Calibri"/>
              <a:buNone/>
              <a:defRPr b="0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2">
  <p:cSld name="Звичайний 2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3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3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3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3"/>
          <p:cNvSpPr txBox="1"/>
          <p:nvPr>
            <p:ph type="title"/>
          </p:nvPr>
        </p:nvSpPr>
        <p:spPr>
          <a:xfrm>
            <a:off x="415440" y="2867760"/>
            <a:ext cx="11360520" cy="112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2" name="Google Shape;132;p53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4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4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4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4"/>
          <p:cNvSpPr txBox="1"/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8" name="Google Shape;138;p54"/>
          <p:cNvSpPr txBox="1"/>
          <p:nvPr>
            <p:ph idx="1" type="body"/>
          </p:nvPr>
        </p:nvSpPr>
        <p:spPr>
          <a:xfrm>
            <a:off x="415440" y="1536480"/>
            <a:ext cx="11360520" cy="455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9" name="Google Shape;139;p54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55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5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5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5"/>
          <p:cNvSpPr txBox="1"/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5" name="Google Shape;145;p55"/>
          <p:cNvSpPr txBox="1"/>
          <p:nvPr>
            <p:ph idx="1" type="body"/>
          </p:nvPr>
        </p:nvSpPr>
        <p:spPr>
          <a:xfrm>
            <a:off x="415440" y="1536480"/>
            <a:ext cx="5332680" cy="455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82893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2893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2892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2892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2892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6" name="Google Shape;146;p55"/>
          <p:cNvSpPr txBox="1"/>
          <p:nvPr>
            <p:ph idx="2" type="body"/>
          </p:nvPr>
        </p:nvSpPr>
        <p:spPr>
          <a:xfrm>
            <a:off x="6443280" y="1536480"/>
            <a:ext cx="5332680" cy="455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82893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2893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2892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2892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2892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7" name="Google Shape;147;p55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3" type="titleOnly">
  <p:cSld name="TITLE_ONLY"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56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6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6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6"/>
          <p:cNvSpPr txBox="1"/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3" name="Google Shape;153;p56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57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57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7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7"/>
          <p:cNvSpPr txBox="1"/>
          <p:nvPr>
            <p:ph type="title"/>
          </p:nvPr>
        </p:nvSpPr>
        <p:spPr>
          <a:xfrm>
            <a:off x="415440" y="740880"/>
            <a:ext cx="374364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9" name="Google Shape;159;p57"/>
          <p:cNvSpPr txBox="1"/>
          <p:nvPr>
            <p:ph idx="1" type="body"/>
          </p:nvPr>
        </p:nvSpPr>
        <p:spPr>
          <a:xfrm>
            <a:off x="415440" y="1852920"/>
            <a:ext cx="3743640" cy="4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7432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2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0" name="Google Shape;160;p57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58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58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8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8"/>
          <p:cNvSpPr txBox="1"/>
          <p:nvPr>
            <p:ph type="title"/>
          </p:nvPr>
        </p:nvSpPr>
        <p:spPr>
          <a:xfrm>
            <a:off x="653760" y="600120"/>
            <a:ext cx="8489880" cy="54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6" name="Google Shape;166;p58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59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59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9"/>
          <p:cNvSpPr/>
          <p:nvPr/>
        </p:nvSpPr>
        <p:spPr>
          <a:xfrm>
            <a:off x="6175440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9"/>
          <p:cNvSpPr/>
          <p:nvPr/>
        </p:nvSpPr>
        <p:spPr>
          <a:xfrm>
            <a:off x="6095880" y="0"/>
            <a:ext cx="6095520" cy="68576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9"/>
          <p:cNvSpPr txBox="1"/>
          <p:nvPr>
            <p:ph type="title"/>
          </p:nvPr>
        </p:nvSpPr>
        <p:spPr>
          <a:xfrm>
            <a:off x="353880" y="1644120"/>
            <a:ext cx="5393520" cy="197604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b="0" i="0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3" name="Google Shape;173;p59"/>
          <p:cNvSpPr txBox="1"/>
          <p:nvPr>
            <p:ph idx="1" type="body"/>
          </p:nvPr>
        </p:nvSpPr>
        <p:spPr>
          <a:xfrm>
            <a:off x="6585840" y="965520"/>
            <a:ext cx="5115600" cy="49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-29718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4" name="Google Shape;174;p59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300"/>
              <a:buFont typeface="Arial"/>
              <a:buNone/>
              <a:defRPr b="0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6.png"/><Relationship Id="rId6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2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3.xml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comments" Target="../comments/comment4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"/>
          <p:cNvPicPr preferRelativeResize="0"/>
          <p:nvPr/>
        </p:nvPicPr>
        <p:blipFill rotWithShape="1">
          <a:blip r:embed="rId3">
            <a:alphaModFix/>
          </a:blip>
          <a:srcRect b="0" l="0" r="79008" t="80962"/>
          <a:stretch/>
        </p:blipFill>
        <p:spPr>
          <a:xfrm>
            <a:off x="-18000" y="5553000"/>
            <a:ext cx="2375640" cy="130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"/>
          <p:cNvPicPr preferRelativeResize="0"/>
          <p:nvPr/>
        </p:nvPicPr>
        <p:blipFill rotWithShape="1">
          <a:blip r:embed="rId4">
            <a:alphaModFix/>
          </a:blip>
          <a:srcRect b="28806" l="0" r="0" t="37793"/>
          <a:stretch/>
        </p:blipFill>
        <p:spPr>
          <a:xfrm>
            <a:off x="0" y="2592360"/>
            <a:ext cx="12191760" cy="228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"/>
          <p:cNvSpPr/>
          <p:nvPr/>
        </p:nvSpPr>
        <p:spPr>
          <a:xfrm>
            <a:off x="68400" y="2644560"/>
            <a:ext cx="494928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05F89"/>
                </a:solidFill>
                <a:latin typeface="Arial"/>
                <a:ea typeface="Arial"/>
                <a:cs typeface="Arial"/>
                <a:sym typeface="Arial"/>
              </a:rPr>
              <a:t>Machine Learning in Biosciences 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5752080" y="3023640"/>
            <a:ext cx="4135680" cy="106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F89"/>
                </a:solidFill>
                <a:latin typeface="Arial"/>
                <a:ea typeface="Arial"/>
                <a:cs typeface="Arial"/>
                <a:sym typeface="Arial"/>
              </a:rPr>
              <a:t>What is ML; Where you see it in biology; types of data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"/>
          <p:cNvPicPr preferRelativeResize="0"/>
          <p:nvPr/>
        </p:nvPicPr>
        <p:blipFill rotWithShape="1">
          <a:blip r:embed="rId4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"/>
          <p:cNvSpPr/>
          <p:nvPr/>
        </p:nvSpPr>
        <p:spPr>
          <a:xfrm>
            <a:off x="3299400" y="212760"/>
            <a:ext cx="5828400" cy="69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Today’s agenda</a:t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612720" y="987480"/>
            <a:ext cx="1078920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822960" y="1508760"/>
            <a:ext cx="419760" cy="419760"/>
          </a:xfrm>
          <a:prstGeom prst="ellipse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"/>
          <p:cNvSpPr/>
          <p:nvPr/>
        </p:nvSpPr>
        <p:spPr>
          <a:xfrm>
            <a:off x="822960" y="160020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"/>
          <p:cNvSpPr/>
          <p:nvPr/>
        </p:nvSpPr>
        <p:spPr>
          <a:xfrm>
            <a:off x="1417320" y="156348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Knowing each other and what will we do?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822960" y="2221920"/>
            <a:ext cx="419760" cy="419760"/>
          </a:xfrm>
          <a:prstGeom prst="ellipse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"/>
          <p:cNvSpPr/>
          <p:nvPr/>
        </p:nvSpPr>
        <p:spPr>
          <a:xfrm>
            <a:off x="822960" y="231336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1417320" y="227700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What is machine learning?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"/>
          <p:cNvSpPr/>
          <p:nvPr/>
        </p:nvSpPr>
        <p:spPr>
          <a:xfrm>
            <a:off x="822960" y="2935080"/>
            <a:ext cx="419760" cy="419760"/>
          </a:xfrm>
          <a:prstGeom prst="ellipse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822960" y="302652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1417320" y="299016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What does a model actually see?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"/>
          <p:cNvSpPr/>
          <p:nvPr/>
        </p:nvSpPr>
        <p:spPr>
          <a:xfrm>
            <a:off x="822960" y="3648600"/>
            <a:ext cx="419760" cy="419760"/>
          </a:xfrm>
          <a:prstGeom prst="ellipse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"/>
          <p:cNvSpPr/>
          <p:nvPr/>
        </p:nvSpPr>
        <p:spPr>
          <a:xfrm>
            <a:off x="822960" y="374004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"/>
          <p:cNvSpPr/>
          <p:nvPr/>
        </p:nvSpPr>
        <p:spPr>
          <a:xfrm>
            <a:off x="1417320" y="370332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Which biological modalities can we model?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822960" y="4361760"/>
            <a:ext cx="419760" cy="419760"/>
          </a:xfrm>
          <a:prstGeom prst="ellipse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"/>
          <p:cNvSpPr/>
          <p:nvPr/>
        </p:nvSpPr>
        <p:spPr>
          <a:xfrm>
            <a:off x="822960" y="445320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"/>
          <p:cNvSpPr/>
          <p:nvPr/>
        </p:nvSpPr>
        <p:spPr>
          <a:xfrm>
            <a:off x="1417320" y="441648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What can ML do - and not do?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822960" y="5074920"/>
            <a:ext cx="419760" cy="419760"/>
          </a:xfrm>
          <a:prstGeom prst="ellipse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822960" y="5166360"/>
            <a:ext cx="41976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1417320" y="5129640"/>
            <a:ext cx="9600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What does an ML workflow look like in biology?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/>
          <p:nvPr>
            <p:ph type="title"/>
          </p:nvPr>
        </p:nvSpPr>
        <p:spPr>
          <a:xfrm>
            <a:off x="889200" y="2752560"/>
            <a:ext cx="891036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-3808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AutoNum type="arabicPeriod"/>
            </a:pPr>
            <a:r>
              <a:rPr b="0" lang="en-US" sz="24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Knowing each other and what will we do?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5F89"/>
                </a:solidFill>
                <a:latin typeface="Arial"/>
                <a:ea typeface="Arial"/>
                <a:cs typeface="Arial"/>
                <a:sym typeface="Arial"/>
              </a:rPr>
              <a:t>A course about using ML as a scientific instrument 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"/>
          <p:cNvSpPr txBox="1"/>
          <p:nvPr>
            <p:ph idx="12" type="sldNum"/>
          </p:nvPr>
        </p:nvSpPr>
        <p:spPr>
          <a:xfrm>
            <a:off x="11340000" y="648000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"/>
          <p:cNvSpPr/>
          <p:nvPr/>
        </p:nvSpPr>
        <p:spPr>
          <a:xfrm>
            <a:off x="642600" y="13557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Oleh Mezhenskyi 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4"/>
          <p:cNvPicPr preferRelativeResize="0"/>
          <p:nvPr/>
        </p:nvPicPr>
        <p:blipFill rotWithShape="1">
          <a:blip r:embed="rId3">
            <a:alphaModFix/>
          </a:blip>
          <a:srcRect b="81797" l="84240" r="1844" t="2301"/>
          <a:stretch/>
        </p:blipFill>
        <p:spPr>
          <a:xfrm>
            <a:off x="7739280" y="2015280"/>
            <a:ext cx="3949920" cy="2733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000" y="2084760"/>
            <a:ext cx="2594520" cy="25945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"/>
          <p:cNvSpPr/>
          <p:nvPr/>
        </p:nvSpPr>
        <p:spPr>
          <a:xfrm>
            <a:off x="4956120" y="5352120"/>
            <a:ext cx="5564520" cy="615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5F89"/>
                </a:solidFill>
                <a:latin typeface="Calibri"/>
                <a:ea typeface="Calibri"/>
                <a:cs typeface="Calibri"/>
                <a:sym typeface="Calibri"/>
              </a:rPr>
              <a:t>Не ви, а ти:)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5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696600" y="10303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What this course is about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833760" y="1990440"/>
            <a:ext cx="338256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833760" y="1990440"/>
            <a:ext cx="338256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998280" y="2191680"/>
            <a:ext cx="30535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Biological question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998280" y="2648880"/>
            <a:ext cx="305352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Start from a scientific or analytical problem: phenotype, function, activity, structure, image, sequence.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4509720" y="1990440"/>
            <a:ext cx="338256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4509720" y="1990440"/>
            <a:ext cx="338256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4674240" y="2191680"/>
            <a:ext cx="30535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Machine-learning method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4674240" y="2648880"/>
            <a:ext cx="305352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Choose a representation and model appropriate to the question and experimental design.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8185680" y="1990440"/>
            <a:ext cx="338256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8185680" y="1990440"/>
            <a:ext cx="338256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8350200" y="2191680"/>
            <a:ext cx="30535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Scientific interpretation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8350200" y="2648880"/>
            <a:ext cx="305352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Evaluate performance, uncertainty, bias, leakage, and whether the result is biologically meaningful.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5"/>
          <p:cNvCxnSpPr/>
          <p:nvPr/>
        </p:nvCxnSpPr>
        <p:spPr>
          <a:xfrm>
            <a:off x="4216680" y="3590280"/>
            <a:ext cx="292680" cy="72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" name="Google Shape;245;p5"/>
          <p:cNvCxnSpPr/>
          <p:nvPr/>
        </p:nvCxnSpPr>
        <p:spPr>
          <a:xfrm>
            <a:off x="7892280" y="3590280"/>
            <a:ext cx="293400" cy="72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46" name="Google Shape;2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4880" y="2972880"/>
            <a:ext cx="2281320" cy="230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2080" y="3232440"/>
            <a:ext cx="3237480" cy="1618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7906" r="11198" t="7146"/>
          <a:stretch/>
        </p:blipFill>
        <p:spPr>
          <a:xfrm>
            <a:off x="8848440" y="3232440"/>
            <a:ext cx="2281320" cy="19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7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/>
          <p:nvPr/>
        </p:nvSpPr>
        <p:spPr>
          <a:xfrm>
            <a:off x="512640" y="93744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The course arc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31000" y="1467720"/>
            <a:ext cx="1078920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We will move from classical ML to modern biological models and finally to deployment.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58360" y="2354760"/>
            <a:ext cx="1992600" cy="210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95520" y="2629080"/>
            <a:ext cx="171828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Classical ML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722880" y="3223440"/>
            <a:ext cx="16635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Linear models · trees · distance models · clustering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7"/>
          <p:cNvCxnSpPr/>
          <p:nvPr/>
        </p:nvCxnSpPr>
        <p:spPr>
          <a:xfrm>
            <a:off x="2551320" y="3406320"/>
            <a:ext cx="293400" cy="720"/>
          </a:xfrm>
          <a:prstGeom prst="straightConnector1">
            <a:avLst/>
          </a:prstGeom>
          <a:noFill/>
          <a:ln cap="flat" cmpd="sng" w="27925">
            <a:solidFill>
              <a:srgbClr val="E5EA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1" name="Google Shape;261;p7"/>
          <p:cNvSpPr/>
          <p:nvPr/>
        </p:nvSpPr>
        <p:spPr>
          <a:xfrm>
            <a:off x="2862720" y="2354760"/>
            <a:ext cx="1992600" cy="210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2999880" y="2629080"/>
            <a:ext cx="171828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Biological modalities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027240" y="3223440"/>
            <a:ext cx="16635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Omics · images · molecules · graphs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7"/>
          <p:cNvCxnSpPr/>
          <p:nvPr/>
        </p:nvCxnSpPr>
        <p:spPr>
          <a:xfrm>
            <a:off x="4855680" y="3406320"/>
            <a:ext cx="292680" cy="720"/>
          </a:xfrm>
          <a:prstGeom prst="straightConnector1">
            <a:avLst/>
          </a:prstGeom>
          <a:noFill/>
          <a:ln cap="flat" cmpd="sng" w="27925">
            <a:solidFill>
              <a:srgbClr val="E5EA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7"/>
          <p:cNvSpPr/>
          <p:nvPr/>
        </p:nvSpPr>
        <p:spPr>
          <a:xfrm>
            <a:off x="5167080" y="2354760"/>
            <a:ext cx="1992600" cy="210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5304240" y="2629080"/>
            <a:ext cx="171828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7C5CFC"/>
                </a:solidFill>
                <a:latin typeface="Arial"/>
                <a:ea typeface="Arial"/>
                <a:cs typeface="Arial"/>
                <a:sym typeface="Arial"/>
              </a:rPr>
              <a:t>Modern models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5331600" y="3223440"/>
            <a:ext cx="16635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CNN · GNN · Transformers · foundation models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7159680" y="3406320"/>
            <a:ext cx="293400" cy="720"/>
          </a:xfrm>
          <a:prstGeom prst="straightConnector1">
            <a:avLst/>
          </a:prstGeom>
          <a:noFill/>
          <a:ln cap="flat" cmpd="sng" w="27925">
            <a:solidFill>
              <a:srgbClr val="E5EA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" name="Google Shape;269;p7"/>
          <p:cNvSpPr/>
          <p:nvPr/>
        </p:nvSpPr>
        <p:spPr>
          <a:xfrm>
            <a:off x="7471080" y="2354760"/>
            <a:ext cx="1992600" cy="210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7608240" y="2629080"/>
            <a:ext cx="171828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Efficient ML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7635960" y="3223440"/>
            <a:ext cx="16635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9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Model tracking · Data annotation  · Compression · quantization · Edge AI</a:t>
            </a:r>
            <a:endParaRPr b="0" sz="119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7"/>
          <p:cNvCxnSpPr/>
          <p:nvPr/>
        </p:nvCxnSpPr>
        <p:spPr>
          <a:xfrm>
            <a:off x="9464040" y="3406320"/>
            <a:ext cx="293400" cy="720"/>
          </a:xfrm>
          <a:prstGeom prst="straightConnector1">
            <a:avLst/>
          </a:prstGeom>
          <a:noFill/>
          <a:ln cap="flat" cmpd="sng" w="27925">
            <a:solidFill>
              <a:srgbClr val="E5EA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7"/>
          <p:cNvSpPr/>
          <p:nvPr/>
        </p:nvSpPr>
        <p:spPr>
          <a:xfrm>
            <a:off x="9775440" y="2354760"/>
            <a:ext cx="1992600" cy="210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9912600" y="2629080"/>
            <a:ext cx="171828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E0526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9939960" y="3223440"/>
            <a:ext cx="16635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A complete reproducible biological ML workflow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11960"/>
            <a:ext cx="2619000" cy="155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60" y="4473720"/>
            <a:ext cx="2468160" cy="1829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7"/>
          <p:cNvPicPr preferRelativeResize="0"/>
          <p:nvPr/>
        </p:nvPicPr>
        <p:blipFill rotWithShape="1">
          <a:blip r:embed="rId6">
            <a:alphaModFix/>
          </a:blip>
          <a:srcRect b="0" l="62703" r="0" t="0"/>
          <a:stretch/>
        </p:blipFill>
        <p:spPr>
          <a:xfrm>
            <a:off x="5425920" y="4473720"/>
            <a:ext cx="1474920" cy="16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63920" y="4473720"/>
            <a:ext cx="2941920" cy="163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7"/>
          <p:cNvSpPr/>
          <p:nvPr/>
        </p:nvSpPr>
        <p:spPr>
          <a:xfrm>
            <a:off x="10372680" y="4475160"/>
            <a:ext cx="1522440" cy="1554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9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sz="8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8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"/>
          <p:cNvSpPr/>
          <p:nvPr/>
        </p:nvSpPr>
        <p:spPr>
          <a:xfrm>
            <a:off x="230048" y="1030325"/>
            <a:ext cx="8636400" cy="44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50"/>
              <a:buFont typeface="Noto Sans Symbols"/>
              <a:buChar char="●"/>
            </a:pPr>
            <a:r>
              <a:rPr b="0" lang="en-US" sz="1850" u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Lectures: concepts, biological examples, methodological choices.</a:t>
            </a:r>
            <a:endParaRPr b="0" sz="1850" u="none" strike="noStrike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172033"/>
              </a:solidFill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50"/>
              <a:buFont typeface="Noto Sans Symbols"/>
              <a:buChar char="●"/>
            </a:pPr>
            <a:r>
              <a:rPr b="0" lang="en-US" sz="1850" u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Practicals: real or realistic bioscience datasets; notebook demos; discussion of the method implementation.</a:t>
            </a:r>
            <a:endParaRPr b="0" sz="1850" u="none" strike="noStrike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172033"/>
              </a:solidFill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50"/>
              <a:buFont typeface="Noto Sans Symbols"/>
              <a:buChar char="●"/>
            </a:pPr>
            <a:r>
              <a:rPr b="0" lang="en-US" sz="1850" u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Repeated datasets where useful: compare representations and models without changing the biological problem.</a:t>
            </a:r>
            <a:endParaRPr b="0" sz="1850" u="none" strike="noStrike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172033"/>
              </a:solidFill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50"/>
              <a:buFont typeface="Noto Sans Symbols"/>
              <a:buChar char="●"/>
            </a:pPr>
            <a:r>
              <a:rPr b="0" lang="en-US" sz="1850" u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Project: define a question, establish a baseline, validate correctly, interpret, document and present.</a:t>
            </a:r>
            <a:endParaRPr b="0" sz="1850" u="none" strike="noStrike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172033"/>
              </a:solidFill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50"/>
              <a:buFont typeface="Noto Sans Symbols"/>
              <a:buChar char="●"/>
            </a:pPr>
            <a:r>
              <a:rPr b="0" lang="en-US" sz="1850" u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You do not need prior ML expertise - but you will need to reason about data and experimental design (and some Python knowledge).</a:t>
            </a:r>
            <a:endParaRPr b="0" sz="1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1892520" y="4777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How we will work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87450" y="4634000"/>
            <a:ext cx="1755550" cy="1755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1" name="Google Shape;291;p8"/>
          <p:cNvCxnSpPr/>
          <p:nvPr/>
        </p:nvCxnSpPr>
        <p:spPr>
          <a:xfrm rot="10800000">
            <a:off x="7269600" y="1596075"/>
            <a:ext cx="1932600" cy="24900"/>
          </a:xfrm>
          <a:prstGeom prst="straightConnector1">
            <a:avLst/>
          </a:prstGeom>
          <a:noFill/>
          <a:ln cap="flat" cmpd="sng" w="27925">
            <a:solidFill>
              <a:srgbClr val="18A9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" name="Google Shape;292;p8"/>
          <p:cNvSpPr txBox="1"/>
          <p:nvPr/>
        </p:nvSpPr>
        <p:spPr>
          <a:xfrm>
            <a:off x="9202200" y="1408425"/>
            <a:ext cx="265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8A999"/>
                </a:solidFill>
              </a:rPr>
              <a:t>You are here</a:t>
            </a:r>
            <a:endParaRPr b="1" sz="1700">
              <a:solidFill>
                <a:srgbClr val="18A99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"/>
          <p:cNvSpPr txBox="1"/>
          <p:nvPr>
            <p:ph type="title"/>
          </p:nvPr>
        </p:nvSpPr>
        <p:spPr>
          <a:xfrm>
            <a:off x="752050" y="2752560"/>
            <a:ext cx="8910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None/>
            </a:pPr>
            <a:r>
              <a:rPr b="0" lang="en-US" sz="24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2. What is machine learning?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5F89"/>
                </a:solidFill>
                <a:latin typeface="Arial"/>
                <a:ea typeface="Arial"/>
                <a:cs typeface="Arial"/>
                <a:sym typeface="Arial"/>
              </a:rPr>
              <a:t>Where does ML end and ordinary programming or statistics begin?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9" name="Google Shape;29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5275" y="1663875"/>
            <a:ext cx="3226725" cy="33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10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0"/>
          <p:cNvSpPr/>
          <p:nvPr/>
        </p:nvSpPr>
        <p:spPr>
          <a:xfrm>
            <a:off x="1783080" y="4179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A definition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914400" y="1463040"/>
            <a:ext cx="10240560" cy="114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Machine learning is a set of methods that learn useful patterns or decision rules from data, rather than having every rule explicitly programmed.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914400" y="3063240"/>
            <a:ext cx="2925360" cy="182808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914400" y="3063240"/>
            <a:ext cx="292536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078920" y="3264480"/>
            <a:ext cx="2596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1078920" y="3721680"/>
            <a:ext cx="2596320" cy="102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Examples, measurements, sequences, images, molecules, graphs.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4617720" y="3063240"/>
            <a:ext cx="2925360" cy="182808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4617720" y="3063240"/>
            <a:ext cx="292536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782240" y="3264480"/>
            <a:ext cx="2596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782240" y="3721680"/>
            <a:ext cx="2596320" cy="102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Optimize parameters so a model captures a useful relationship.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8321040" y="3063240"/>
            <a:ext cx="2925360" cy="182808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8321040" y="3063240"/>
            <a:ext cx="292536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8485560" y="3264480"/>
            <a:ext cx="2596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8485560" y="3721680"/>
            <a:ext cx="2596320" cy="102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The learned relationship should work on unseen data.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10"/>
          <p:cNvCxnSpPr/>
          <p:nvPr/>
        </p:nvCxnSpPr>
        <p:spPr>
          <a:xfrm>
            <a:off x="3840480" y="3977640"/>
            <a:ext cx="77760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10"/>
          <p:cNvCxnSpPr/>
          <p:nvPr/>
        </p:nvCxnSpPr>
        <p:spPr>
          <a:xfrm>
            <a:off x="7543800" y="3977640"/>
            <a:ext cx="77760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1" name="Google Shape;321;p10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11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1"/>
          <p:cNvSpPr/>
          <p:nvPr/>
        </p:nvSpPr>
        <p:spPr>
          <a:xfrm>
            <a:off x="1783080" y="3855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Traditional programming vs machine learning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792720" y="2071440"/>
            <a:ext cx="51199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Traditional programming and computational methods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021320" y="2802960"/>
            <a:ext cx="466272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Rules + Data  →  Answers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021320" y="3534480"/>
            <a:ext cx="466272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Example: calculate GC content from a DNA sequence.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11"/>
          <p:cNvCxnSpPr/>
          <p:nvPr/>
        </p:nvCxnSpPr>
        <p:spPr>
          <a:xfrm>
            <a:off x="6095880" y="1980000"/>
            <a:ext cx="720" cy="3931920"/>
          </a:xfrm>
          <a:prstGeom prst="straightConnector1">
            <a:avLst/>
          </a:prstGeom>
          <a:noFill/>
          <a:ln cap="flat" cmpd="sng" w="19050">
            <a:solidFill>
              <a:srgbClr val="E5EA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11"/>
          <p:cNvSpPr/>
          <p:nvPr/>
        </p:nvSpPr>
        <p:spPr>
          <a:xfrm>
            <a:off x="6370560" y="2071440"/>
            <a:ext cx="50284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6599160" y="2802960"/>
            <a:ext cx="45712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Data + Answers  →  Learned model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599160" y="3534480"/>
            <a:ext cx="457128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Example: learn whether expression profiles predict disease status.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2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2"/>
          <p:cNvSpPr/>
          <p:nvPr/>
        </p:nvSpPr>
        <p:spPr>
          <a:xfrm>
            <a:off x="1783080" y="5551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Where ML appears in bioscience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731520" y="141732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731520" y="1417320"/>
            <a:ext cx="324540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89604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896040" y="207576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variant effects · protein function · structure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4480560" y="141732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480560" y="1417320"/>
            <a:ext cx="324540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464508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Omics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4645080" y="207576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cell types · disease signatures · response prediction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8229600" y="141732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8229600" y="1417320"/>
            <a:ext cx="324540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839412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8394120" y="207576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cells · tissues · colonies · segmentation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731520" y="365760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731520" y="3657600"/>
            <a:ext cx="324540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96040" y="385884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Molecules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896040" y="431604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activity · toxicity · ADMET · property prediction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480560" y="365760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480560" y="3657600"/>
            <a:ext cx="3245400" cy="99720"/>
          </a:xfrm>
          <a:prstGeom prst="rect">
            <a:avLst/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645080" y="385884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4645080" y="431604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interactions · pathways · molecular graphs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8229600" y="3657600"/>
            <a:ext cx="324540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8229600" y="3657600"/>
            <a:ext cx="3245400" cy="99720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8394120" y="385884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Devices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8394120" y="4316040"/>
            <a:ext cx="291636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biosensors · portable diagnostics · edge inference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13"/>
          <p:cNvPicPr preferRelativeResize="0"/>
          <p:nvPr/>
        </p:nvPicPr>
        <p:blipFill rotWithShape="1">
          <a:blip r:embed="rId3">
            <a:alphaModFix/>
          </a:blip>
          <a:srcRect b="0" l="45887" r="0" t="93322"/>
          <a:stretch/>
        </p:blipFill>
        <p:spPr>
          <a:xfrm>
            <a:off x="6064920" y="6400800"/>
            <a:ext cx="6126840" cy="45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3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3"/>
          <p:cNvSpPr/>
          <p:nvPr/>
        </p:nvSpPr>
        <p:spPr>
          <a:xfrm>
            <a:off x="2103120" y="1645920"/>
            <a:ext cx="3656880" cy="3199680"/>
          </a:xfrm>
          <a:prstGeom prst="ellipse">
            <a:avLst/>
          </a:prstGeom>
          <a:solidFill>
            <a:srgbClr val="DCE7FF">
              <a:alpha val="85098"/>
            </a:srgbClr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4572000" y="1645920"/>
            <a:ext cx="3656880" cy="3199680"/>
          </a:xfrm>
          <a:prstGeom prst="ellipse">
            <a:avLst/>
          </a:prstGeom>
          <a:solidFill>
            <a:srgbClr val="DDF5EE">
              <a:alpha val="80000"/>
            </a:srgbClr>
          </a:solidFill>
          <a:ln cap="flat" cmpd="sng" w="1905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7040880" y="1645920"/>
            <a:ext cx="3016800" cy="3199680"/>
          </a:xfrm>
          <a:prstGeom prst="ellipse">
            <a:avLst/>
          </a:prstGeom>
          <a:solidFill>
            <a:srgbClr val="F4EAFE">
              <a:alpha val="80000"/>
            </a:srgbClr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2855880" y="2034360"/>
            <a:ext cx="182808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Statistics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5349240" y="1874520"/>
            <a:ext cx="182808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7909560" y="1874520"/>
            <a:ext cx="137088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7C5CFC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7C5CFC"/>
                </a:solidFill>
                <a:latin typeface="Arial"/>
                <a:ea typeface="Arial"/>
                <a:cs typeface="Arial"/>
                <a:sym typeface="Arial"/>
              </a:rPr>
              <a:t>Science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2560320" y="2880360"/>
            <a:ext cx="1645200" cy="100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uncertainty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experimental design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5394960" y="2880360"/>
            <a:ext cx="1645200" cy="100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representation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optimization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7955280" y="2880360"/>
            <a:ext cx="1370880" cy="100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data pipelines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communication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1783080" y="49824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ML, statistics and data science overlap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6173280" y="65440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Lecture 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3"/>
          <p:cNvSpPr txBox="1"/>
          <p:nvPr>
            <p:ph type="title"/>
          </p:nvPr>
        </p:nvSpPr>
        <p:spPr>
          <a:xfrm>
            <a:off x="415440" y="992880"/>
            <a:ext cx="11360520" cy="273672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t/>
            </a:r>
            <a:endParaRPr b="0" sz="6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3"/>
          <p:cNvSpPr txBox="1"/>
          <p:nvPr>
            <p:ph idx="1" type="subTitle"/>
          </p:nvPr>
        </p:nvSpPr>
        <p:spPr>
          <a:xfrm>
            <a:off x="415440" y="3778920"/>
            <a:ext cx="1136052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"/>
          <p:cNvSpPr txBox="1"/>
          <p:nvPr>
            <p:ph type="title"/>
          </p:nvPr>
        </p:nvSpPr>
        <p:spPr>
          <a:xfrm>
            <a:off x="889200" y="2752560"/>
            <a:ext cx="891036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None/>
            </a:pPr>
            <a:r>
              <a:rPr b="0" lang="en-US" sz="24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3. What does a model see?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sort of representation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3" name="Google Shape;3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6350" y="2016025"/>
            <a:ext cx="3105650" cy="31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15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5"/>
          <p:cNvSpPr/>
          <p:nvPr/>
        </p:nvSpPr>
        <p:spPr>
          <a:xfrm>
            <a:off x="1783080" y="3931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The basic supervised-learning view: X → model → y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822960" y="1828800"/>
            <a:ext cx="2833920" cy="2285280"/>
          </a:xfrm>
          <a:prstGeom prst="roundRect">
            <a:avLst>
              <a:gd fmla="val 16667" name="adj"/>
            </a:avLst>
          </a:prstGeom>
          <a:solidFill>
            <a:srgbClr val="EAF8F5"/>
          </a:solidFill>
          <a:ln cap="flat" cmpd="sng" w="1905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005840" y="2057400"/>
            <a:ext cx="2468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sz="3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097280" y="2743200"/>
            <a:ext cx="2285280" cy="91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features / inputs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rows = observations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columns = measurements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069080" y="2377440"/>
            <a:ext cx="1370880" cy="1005120"/>
          </a:xfrm>
          <a:prstGeom prst="chevron">
            <a:avLst>
              <a:gd fmla="val 50000" name="adj"/>
            </a:avLst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4133160" y="2724840"/>
            <a:ext cx="114228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MODEL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5852160" y="1828800"/>
            <a:ext cx="2285280" cy="2285280"/>
          </a:xfrm>
          <a:prstGeom prst="roundRect">
            <a:avLst>
              <a:gd fmla="val 16667" name="adj"/>
            </a:avLst>
          </a:prstGeom>
          <a:solidFill>
            <a:srgbClr val="EEF3FF"/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6080760" y="2057400"/>
            <a:ext cx="1828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ŷ</a:t>
            </a:r>
            <a:r>
              <a:rPr b="1" baseline="-25000" lang="en-US" sz="3400" u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pred</a:t>
            </a:r>
            <a:endParaRPr b="0" sz="3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6126480" y="2788920"/>
            <a:ext cx="1736640" cy="7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probability or value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8732520" y="1828800"/>
            <a:ext cx="2285280" cy="2285280"/>
          </a:xfrm>
          <a:prstGeom prst="roundRect">
            <a:avLst>
              <a:gd fmla="val 16667" name="adj"/>
            </a:avLst>
          </a:prstGeom>
          <a:solidFill>
            <a:srgbClr val="FFF5DD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8961120" y="2057400"/>
            <a:ext cx="1828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lang="en-US" sz="3400" u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0" sz="3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9006840" y="2788920"/>
            <a:ext cx="1736640" cy="7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known target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used during training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1280160" y="4892040"/>
            <a:ext cx="96004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Learning = adjust the model so ŷ becomes useful for predicting y on unseen observations.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5"/>
          <p:cNvSpPr txBox="1"/>
          <p:nvPr>
            <p:ph idx="1" type="subTitle"/>
          </p:nvPr>
        </p:nvSpPr>
        <p:spPr>
          <a:xfrm>
            <a:off x="415440" y="3778920"/>
            <a:ext cx="1136052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16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6"/>
          <p:cNvSpPr/>
          <p:nvPr/>
        </p:nvSpPr>
        <p:spPr>
          <a:xfrm>
            <a:off x="1783080" y="8917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Most classical ML starts with a feature matrix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0" name="Google Shape;420;p16"/>
          <p:cNvGraphicFramePr/>
          <p:nvPr/>
        </p:nvGraphicFramePr>
        <p:xfrm>
          <a:off x="929880" y="1943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{07365123-8FFC-4B15-8C80-808CB802743D}</a:tableStyleId>
              </a:tblPr>
              <a:tblGrid>
                <a:gridCol w="1316525"/>
                <a:gridCol w="1316525"/>
                <a:gridCol w="1316525"/>
                <a:gridCol w="1316525"/>
                <a:gridCol w="13172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Observation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Feature_A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Feature_B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Feature_C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disease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S03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disease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1" name="Google Shape;421;p16"/>
          <p:cNvSpPr/>
          <p:nvPr/>
        </p:nvSpPr>
        <p:spPr>
          <a:xfrm>
            <a:off x="8245080" y="2171880"/>
            <a:ext cx="22852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8245080" y="2583360"/>
            <a:ext cx="2925360" cy="867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One biological unit we want to generalize to: patient, sample, cell, molecule, image.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8245080" y="3680640"/>
            <a:ext cx="22852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8245080" y="4092120"/>
            <a:ext cx="27424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A numerical or encoded property of that unit available to the model.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8245080" y="4960800"/>
            <a:ext cx="22852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8245080" y="5372280"/>
            <a:ext cx="27424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What we want to predict in supervised learning.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6"/>
          <p:cNvSpPr txBox="1"/>
          <p:nvPr>
            <p:ph idx="1" type="subTitle"/>
          </p:nvPr>
        </p:nvSpPr>
        <p:spPr>
          <a:xfrm>
            <a:off x="415440" y="3778920"/>
            <a:ext cx="1136052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6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17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7"/>
          <p:cNvSpPr/>
          <p:nvPr/>
        </p:nvSpPr>
        <p:spPr>
          <a:xfrm>
            <a:off x="1783080" y="4755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Models do not see actual samples — they see representations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777240" y="132588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Organism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p17"/>
          <p:cNvCxnSpPr/>
          <p:nvPr/>
        </p:nvCxnSpPr>
        <p:spPr>
          <a:xfrm>
            <a:off x="2560320" y="144468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7" name="Google Shape;437;p17"/>
          <p:cNvSpPr/>
          <p:nvPr/>
        </p:nvSpPr>
        <p:spPr>
          <a:xfrm>
            <a:off x="3246120" y="132588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age · biomarkers · lab values · metadata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8732520" y="128016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8778240" y="136260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777240" y="203904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RNA sample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17"/>
          <p:cNvCxnSpPr/>
          <p:nvPr/>
        </p:nvCxnSpPr>
        <p:spPr>
          <a:xfrm>
            <a:off x="2560320" y="215784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2" name="Google Shape;442;p17"/>
          <p:cNvSpPr/>
          <p:nvPr/>
        </p:nvSpPr>
        <p:spPr>
          <a:xfrm>
            <a:off x="3246120" y="203904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gene-expression values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8732520" y="199332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8778240" y="207576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high-dimensional vector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777240" y="275220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Microscopy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17"/>
          <p:cNvCxnSpPr/>
          <p:nvPr/>
        </p:nvCxnSpPr>
        <p:spPr>
          <a:xfrm>
            <a:off x="2560320" y="287100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7" name="Google Shape;447;p17"/>
          <p:cNvSpPr/>
          <p:nvPr/>
        </p:nvSpPr>
        <p:spPr>
          <a:xfrm>
            <a:off x="3246120" y="275220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pixel intensities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8732520" y="270648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8778240" y="278892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tensor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777240" y="346572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Protein / DNA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17"/>
          <p:cNvCxnSpPr/>
          <p:nvPr/>
        </p:nvCxnSpPr>
        <p:spPr>
          <a:xfrm>
            <a:off x="2560320" y="358416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2" name="Google Shape;452;p17"/>
          <p:cNvSpPr/>
          <p:nvPr/>
        </p:nvSpPr>
        <p:spPr>
          <a:xfrm>
            <a:off x="3246120" y="346572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tokens / embeddings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8732520" y="342000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8778240" y="350208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777240" y="417888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Molecule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p17"/>
          <p:cNvCxnSpPr/>
          <p:nvPr/>
        </p:nvCxnSpPr>
        <p:spPr>
          <a:xfrm>
            <a:off x="2560320" y="429768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7" name="Google Shape;457;p17"/>
          <p:cNvSpPr/>
          <p:nvPr/>
        </p:nvSpPr>
        <p:spPr>
          <a:xfrm>
            <a:off x="3246120" y="417888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descriptors · fingerprint · graph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8732520" y="413316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8778240" y="421524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vector / graph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777240" y="489204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Interaction network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Google Shape;461;p17"/>
          <p:cNvCxnSpPr/>
          <p:nvPr/>
        </p:nvCxnSpPr>
        <p:spPr>
          <a:xfrm>
            <a:off x="2560320" y="5010840"/>
            <a:ext cx="502920" cy="360"/>
          </a:xfrm>
          <a:prstGeom prst="straightConnector1">
            <a:avLst/>
          </a:prstGeom>
          <a:noFill/>
          <a:ln cap="flat" cmpd="sng" w="27925">
            <a:solidFill>
              <a:srgbClr val="005F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2" name="Google Shape;462;p17"/>
          <p:cNvSpPr/>
          <p:nvPr/>
        </p:nvSpPr>
        <p:spPr>
          <a:xfrm>
            <a:off x="3246120" y="4892040"/>
            <a:ext cx="475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nodes · edges · attributes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8732520" y="4846320"/>
            <a:ext cx="2010960" cy="383400"/>
          </a:xfrm>
          <a:prstGeom prst="roundRect">
            <a:avLst>
              <a:gd fmla="val 19048" name="adj"/>
            </a:avLst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8778240" y="4928760"/>
            <a:ext cx="191952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1542600" y="5760000"/>
            <a:ext cx="960084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Representation choice can matter as much as model choice.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7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7" name="Google Shape;467;p17"/>
          <p:cNvPicPr preferRelativeResize="0"/>
          <p:nvPr/>
        </p:nvPicPr>
        <p:blipFill rotWithShape="1">
          <a:blip r:embed="rId4">
            <a:alphaModFix/>
          </a:blip>
          <a:srcRect b="0" l="20892" r="57181" t="0"/>
          <a:stretch/>
        </p:blipFill>
        <p:spPr>
          <a:xfrm>
            <a:off x="6571250" y="1820975"/>
            <a:ext cx="167085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7"/>
          <p:cNvPicPr preferRelativeResize="0"/>
          <p:nvPr/>
        </p:nvPicPr>
        <p:blipFill rotWithShape="1">
          <a:blip r:embed="rId4">
            <a:alphaModFix/>
          </a:blip>
          <a:srcRect b="-2310" l="41193" r="34817" t="2310"/>
          <a:stretch/>
        </p:blipFill>
        <p:spPr>
          <a:xfrm>
            <a:off x="6492638" y="1602125"/>
            <a:ext cx="1828076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7"/>
          <p:cNvPicPr preferRelativeResize="0"/>
          <p:nvPr/>
        </p:nvPicPr>
        <p:blipFill rotWithShape="1">
          <a:blip r:embed="rId4">
            <a:alphaModFix/>
          </a:blip>
          <a:srcRect b="-2310" l="64154" r="1534" t="2310"/>
          <a:stretch/>
        </p:blipFill>
        <p:spPr>
          <a:xfrm>
            <a:off x="5961763" y="1573425"/>
            <a:ext cx="2614676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7"/>
          <p:cNvPicPr preferRelativeResize="0"/>
          <p:nvPr/>
        </p:nvPicPr>
        <p:blipFill rotWithShape="1">
          <a:blip r:embed="rId5">
            <a:alphaModFix/>
          </a:blip>
          <a:srcRect b="0" l="0" r="47553" t="0"/>
          <a:stretch/>
        </p:blipFill>
        <p:spPr>
          <a:xfrm>
            <a:off x="5961775" y="1725425"/>
            <a:ext cx="2614675" cy="340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7"/>
          <p:cNvPicPr preferRelativeResize="0"/>
          <p:nvPr/>
        </p:nvPicPr>
        <p:blipFill rotWithShape="1">
          <a:blip r:embed="rId6">
            <a:alphaModFix/>
          </a:blip>
          <a:srcRect b="0" l="0" r="60237" t="11598"/>
          <a:stretch/>
        </p:blipFill>
        <p:spPr>
          <a:xfrm>
            <a:off x="5961779" y="1526409"/>
            <a:ext cx="2507074" cy="4003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6"/>
          <p:cNvSpPr txBox="1"/>
          <p:nvPr>
            <p:ph type="title"/>
          </p:nvPr>
        </p:nvSpPr>
        <p:spPr>
          <a:xfrm>
            <a:off x="889200" y="2752549"/>
            <a:ext cx="8910300" cy="18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18A999"/>
                </a:solidFill>
              </a:rPr>
              <a:t>4</a:t>
            </a:r>
            <a:r>
              <a:rPr b="0" lang="en-US" sz="24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. What can ML do — and not do?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 and detect; explanation needs additional tools </a:t>
            </a:r>
            <a:endParaRPr b="0" sz="2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assumptions.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6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8" name="Google Shape;478;p26"/>
          <p:cNvPicPr preferRelativeResize="0"/>
          <p:nvPr/>
        </p:nvPicPr>
        <p:blipFill rotWithShape="1">
          <a:blip r:embed="rId3">
            <a:alphaModFix/>
          </a:blip>
          <a:srcRect b="11987" l="0" r="0" t="14021"/>
          <a:stretch/>
        </p:blipFill>
        <p:spPr>
          <a:xfrm>
            <a:off x="7698125" y="2269375"/>
            <a:ext cx="4493875" cy="24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7"/>
          <p:cNvSpPr/>
          <p:nvPr/>
        </p:nvSpPr>
        <p:spPr>
          <a:xfrm>
            <a:off x="1783080" y="5551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Four recurring ML tasks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777240" y="1417320"/>
            <a:ext cx="498276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777240" y="1417320"/>
            <a:ext cx="498276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941760" y="1618560"/>
            <a:ext cx="46537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941760" y="2075760"/>
            <a:ext cx="465372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Predict a continuous value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Example: IC50 · expression · viability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6355080" y="1417320"/>
            <a:ext cx="498276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6355080" y="1417320"/>
            <a:ext cx="498276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6519600" y="1618560"/>
            <a:ext cx="46537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7"/>
          <p:cNvSpPr/>
          <p:nvPr/>
        </p:nvSpPr>
        <p:spPr>
          <a:xfrm>
            <a:off x="6519600" y="2075760"/>
            <a:ext cx="465372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Assign a class / probability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Example: disease · phenotype · toxicity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777240" y="3657600"/>
            <a:ext cx="498276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777240" y="3657600"/>
            <a:ext cx="498276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941760" y="3858840"/>
            <a:ext cx="46537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941760" y="4316040"/>
            <a:ext cx="465372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Discover groups without labels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Example: cell types · patient subtypes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6355080" y="3657600"/>
            <a:ext cx="4982760" cy="169092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6355080" y="3657600"/>
            <a:ext cx="498276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6519600" y="3858840"/>
            <a:ext cx="46537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Dimensionality reduction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6519600" y="4316040"/>
            <a:ext cx="4653720" cy="8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Compress / visualize structure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Example: PCA · UMAP · embeddings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7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8"/>
          <p:cNvSpPr/>
          <p:nvPr/>
        </p:nvSpPr>
        <p:spPr>
          <a:xfrm>
            <a:off x="1783080" y="48780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Learning settings: what supervision do we have?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685800" y="1417320"/>
            <a:ext cx="347400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8"/>
          <p:cNvSpPr/>
          <p:nvPr/>
        </p:nvSpPr>
        <p:spPr>
          <a:xfrm>
            <a:off x="685800" y="1417320"/>
            <a:ext cx="347400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850320" y="161856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Supervised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850320" y="2075760"/>
            <a:ext cx="314496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We know Y for training examples.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classification · regression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Main question: does the model generalize to new biological observations?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4370760" y="1417320"/>
            <a:ext cx="347400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8"/>
          <p:cNvSpPr/>
          <p:nvPr/>
        </p:nvSpPr>
        <p:spPr>
          <a:xfrm>
            <a:off x="4370760" y="1417320"/>
            <a:ext cx="347400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4535280" y="161856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4535280" y="2075760"/>
            <a:ext cx="314496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No target Y. We search for structure/anomalies.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clustering · dimensionality reduction · anomaly detection 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Main question: is discovered structure stable and biologically interpretable?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8055720" y="1417320"/>
            <a:ext cx="3474000" cy="3291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8055720" y="1417320"/>
            <a:ext cx="347400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8220600" y="161856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Self-/semi-supervised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8220600" y="2075760"/>
            <a:ext cx="3144960" cy="24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Labels are scarce, but unlabeled data are abundant.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pretraining · embeddings · foundation models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Main question: does learned representation transfer to our task?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8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8"/>
          <p:cNvSpPr txBox="1"/>
          <p:nvPr>
            <p:ph type="title"/>
          </p:nvPr>
        </p:nvSpPr>
        <p:spPr>
          <a:xfrm>
            <a:off x="889200" y="2752550"/>
            <a:ext cx="7527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18A999"/>
                </a:solidFill>
              </a:rPr>
              <a:t>5</a:t>
            </a:r>
            <a:r>
              <a:rPr b="0" lang="en-US" sz="24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. Biological data modalities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biological objects require different representations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8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5" name="Google Shape;5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1300" y="1037700"/>
            <a:ext cx="3470700" cy="4657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19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9"/>
          <p:cNvSpPr/>
          <p:nvPr/>
        </p:nvSpPr>
        <p:spPr>
          <a:xfrm>
            <a:off x="1783080" y="5551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A multimodal view of bioscience ML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777240" y="12801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777240" y="1280160"/>
            <a:ext cx="507420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941760" y="14814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Tabular / experimental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941760" y="19386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rows × measured variables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regression · trees · SVM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6400800" y="12801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6400800" y="1280160"/>
            <a:ext cx="507420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6565320" y="14814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Omics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6565320" y="19386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samples × genes/features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PCA · clustering · ML · foundation models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777240" y="28803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777240" y="2880360"/>
            <a:ext cx="507420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941760" y="30816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941760" y="35388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pixels / objects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CNN · detection · segmentation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6400800" y="28803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6400800" y="2880360"/>
            <a:ext cx="507420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6565320" y="30816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Sequences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6565320" y="35388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DNA / RNA / proteins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k-mers · Transformers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777240" y="44805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777240" y="4480560"/>
            <a:ext cx="5074200" cy="99720"/>
          </a:xfrm>
          <a:prstGeom prst="rect">
            <a:avLst/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941760" y="46818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Molecules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941760" y="51390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SMILES / descriptors / graphs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QSAR · GNN · molecular LMs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6400800" y="4480560"/>
            <a:ext cx="5074200" cy="12337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6400800" y="4480560"/>
            <a:ext cx="5074200" cy="99720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6565320" y="46818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6565320" y="513900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nodes + edges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graph algorithms · GNN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9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20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0"/>
          <p:cNvSpPr/>
          <p:nvPr/>
        </p:nvSpPr>
        <p:spPr>
          <a:xfrm>
            <a:off x="1783080" y="3837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Tabular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850320" y="1489320"/>
            <a:ext cx="5211360" cy="3382560"/>
          </a:xfrm>
          <a:prstGeom prst="roundRect">
            <a:avLst>
              <a:gd fmla="val 1622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850320" y="1417320"/>
            <a:ext cx="521136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850320" y="1618560"/>
            <a:ext cx="4882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Tabular data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850320" y="2075760"/>
            <a:ext cx="4882320" cy="257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Examples: physiological measurements, assay outputs, patient characteristics.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Typical tasks: regression, classification, feature importance, risk prediction, clustering.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Key issue: experimental design and independence of observations.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Main principles: tidy data – one column per feature, one row per observation/sample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Classic models: linear models, trees, distance models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Modern example: TabPFN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6428160" y="1618560"/>
            <a:ext cx="4882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8" name="Google Shape;568;p20"/>
          <p:cNvGraphicFramePr/>
          <p:nvPr/>
        </p:nvGraphicFramePr>
        <p:xfrm>
          <a:off x="619560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{07365123-8FFC-4B15-8C80-808CB802743D}</a:tableStyleId>
              </a:tblPr>
              <a:tblGrid>
                <a:gridCol w="1296725"/>
                <a:gridCol w="1033925"/>
                <a:gridCol w="1165325"/>
                <a:gridCol w="1165325"/>
                <a:gridCol w="1166050"/>
              </a:tblGrid>
              <a:tr h="96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Observation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Feature_A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Feature_B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Feature_C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disease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S03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7.2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disease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2725" marL="72725">
                    <a:lnL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8D1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9" name="Google Shape;569;p20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21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1"/>
          <p:cNvSpPr/>
          <p:nvPr/>
        </p:nvSpPr>
        <p:spPr>
          <a:xfrm>
            <a:off x="1783080" y="36504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Omics data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652680" y="1543320"/>
            <a:ext cx="5211360" cy="3382560"/>
          </a:xfrm>
          <a:prstGeom prst="roundRect">
            <a:avLst>
              <a:gd fmla="val 1622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652680" y="1543320"/>
            <a:ext cx="521136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850320" y="1744560"/>
            <a:ext cx="48823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Omics matrices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850320" y="2201760"/>
            <a:ext cx="4882320" cy="257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>
                <a:solidFill>
                  <a:schemeClr val="dk2"/>
                </a:solidFill>
              </a:rPr>
              <a:t>Examples: bulk RNA-seq, proteomics, metabolomics, single-cell measurements.</a:t>
            </a:r>
            <a:endParaRPr sz="12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>
                <a:solidFill>
                  <a:schemeClr val="dk2"/>
                </a:solidFill>
              </a:rPr>
              <a:t>Typical tasks: subtype discovery, dimensionality reduction, phenotype prediction, representation learning.</a:t>
            </a:r>
            <a:endParaRPr sz="12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>
                <a:solidFill>
                  <a:schemeClr val="dk2"/>
                </a:solidFill>
              </a:rPr>
              <a:t>Key issue: p ≫ n, batch effects, normalization.</a:t>
            </a:r>
            <a:endParaRPr sz="12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>
                <a:solidFill>
                  <a:schemeClr val="dk2"/>
                </a:solidFill>
              </a:rPr>
              <a:t>Classic models: PCA · clustering · regularized models PCA</a:t>
            </a:r>
            <a:endParaRPr sz="12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>
                <a:solidFill>
                  <a:schemeClr val="dk2"/>
                </a:solidFill>
              </a:rPr>
              <a:t>Modern examples: scVI · Geneformer · scGPT </a:t>
            </a:r>
            <a:endParaRPr sz="12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1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1" name="Google Shape;581;p21"/>
          <p:cNvPicPr preferRelativeResize="0"/>
          <p:nvPr/>
        </p:nvPicPr>
        <p:blipFill rotWithShape="1">
          <a:blip r:embed="rId4">
            <a:alphaModFix/>
          </a:blip>
          <a:srcRect b="0" l="8539" r="3520" t="12369"/>
          <a:stretch/>
        </p:blipFill>
        <p:spPr>
          <a:xfrm>
            <a:off x="6602400" y="1114200"/>
            <a:ext cx="5211360" cy="4694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22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2"/>
          <p:cNvSpPr/>
          <p:nvPr/>
        </p:nvSpPr>
        <p:spPr>
          <a:xfrm>
            <a:off x="1783080" y="45720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8" name="Google Shape;5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7920" y="1018080"/>
            <a:ext cx="4821480" cy="482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2"/>
          <p:cNvSpPr/>
          <p:nvPr/>
        </p:nvSpPr>
        <p:spPr>
          <a:xfrm>
            <a:off x="850325" y="1566349"/>
            <a:ext cx="5074200" cy="26880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850320" y="1566360"/>
            <a:ext cx="507420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850320" y="1767600"/>
            <a:ext cx="47451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850320" y="2179440"/>
            <a:ext cx="4745160" cy="42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chemeClr val="dk2"/>
                </a:solidFill>
              </a:rPr>
              <a:t>Examples: microscopy, tomography, organism/pathology photos</a:t>
            </a:r>
            <a:endParaRPr sz="13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chemeClr val="dk2"/>
                </a:solidFill>
              </a:rPr>
              <a:t>Typical tasks: classification · detection · segmentation</a:t>
            </a:r>
            <a:endParaRPr sz="13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chemeClr val="dk2"/>
                </a:solidFill>
              </a:rPr>
              <a:t>Key issue: computational cost · data annotation</a:t>
            </a:r>
            <a:endParaRPr sz="13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chemeClr val="dk2"/>
                </a:solidFill>
              </a:rPr>
              <a:t>Classic models: engineered features + SVM / Random Forest </a:t>
            </a:r>
            <a:endParaRPr sz="13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chemeClr val="dk2"/>
                </a:solidFill>
              </a:rPr>
              <a:t>Modern examples: U-Net · Cellpose · SAM · YOLO</a:t>
            </a:r>
            <a:endParaRPr sz="1300" u="none" strike="noStrike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2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23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3"/>
          <p:cNvSpPr/>
          <p:nvPr/>
        </p:nvSpPr>
        <p:spPr>
          <a:xfrm>
            <a:off x="1783080" y="4161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Sequences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685800" y="1417320"/>
            <a:ext cx="3474000" cy="3565440"/>
          </a:xfrm>
          <a:prstGeom prst="roundRect">
            <a:avLst>
              <a:gd fmla="val 1579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685800" y="1417320"/>
            <a:ext cx="347400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850320" y="161856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Sequences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850320" y="2075760"/>
            <a:ext cx="3144960" cy="276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DNA: ACGT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Protein: MKLV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Representations: k-mers, tokens, embeddings.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Applications: function, variant effect, localization, structure-related tasks.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Modern examples: AlphaFold · DNABERT · ESM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3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5" name="Google Shape;6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0440" y="543960"/>
            <a:ext cx="6831360" cy="557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24"/>
          <p:cNvPicPr preferRelativeResize="0"/>
          <p:nvPr/>
        </p:nvPicPr>
        <p:blipFill rotWithShape="1">
          <a:blip r:embed="rId3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4"/>
          <p:cNvSpPr/>
          <p:nvPr/>
        </p:nvSpPr>
        <p:spPr>
          <a:xfrm>
            <a:off x="1783080" y="44316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Molecules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850320" y="2075760"/>
            <a:ext cx="3144960" cy="276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4"/>
          <p:cNvSpPr/>
          <p:nvPr/>
        </p:nvSpPr>
        <p:spPr>
          <a:xfrm>
            <a:off x="685800" y="1315080"/>
            <a:ext cx="3474000" cy="3565440"/>
          </a:xfrm>
          <a:prstGeom prst="roundRect">
            <a:avLst>
              <a:gd fmla="val 1579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685800" y="1315080"/>
            <a:ext cx="3474000" cy="99720"/>
          </a:xfrm>
          <a:prstGeom prst="rect">
            <a:avLst/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850320" y="151632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Molecules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850320" y="1973520"/>
            <a:ext cx="3144960" cy="276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SMILES, descriptors, fingerprints, 2D/3D structure.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Applications: activity, toxicity, solubility, ADME, antimicrobial properties.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Same molecule → multiple valid representations.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Classic models: same as tabular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Modern examples: GNNs · ChemBERT-style molecular LMs</a:t>
            </a:r>
            <a:r>
              <a:rPr lang="en-US" sz="1250">
                <a:solidFill>
                  <a:srgbClr val="5E6C84"/>
                </a:solidFill>
              </a:rPr>
              <a:t> 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4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8" name="Google Shape;618;p24"/>
          <p:cNvPicPr preferRelativeResize="0"/>
          <p:nvPr/>
        </p:nvPicPr>
        <p:blipFill rotWithShape="1">
          <a:blip r:embed="rId4">
            <a:alphaModFix/>
          </a:blip>
          <a:srcRect b="31808" l="5562" r="4118" t="0"/>
          <a:stretch/>
        </p:blipFill>
        <p:spPr>
          <a:xfrm>
            <a:off x="4272480" y="2124720"/>
            <a:ext cx="7857000" cy="266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25"/>
          <p:cNvPicPr preferRelativeResize="0"/>
          <p:nvPr/>
        </p:nvPicPr>
        <p:blipFill rotWithShape="1">
          <a:blip r:embed="rId4">
            <a:alphaModFix/>
          </a:blip>
          <a:srcRect b="84967" l="0" r="82433" t="0"/>
          <a:stretch/>
        </p:blipFill>
        <p:spPr>
          <a:xfrm>
            <a:off x="0" y="0"/>
            <a:ext cx="1987920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25"/>
          <p:cNvSpPr/>
          <p:nvPr/>
        </p:nvSpPr>
        <p:spPr>
          <a:xfrm>
            <a:off x="1783080" y="44712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Graphs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5"/>
          <p:cNvSpPr/>
          <p:nvPr/>
        </p:nvSpPr>
        <p:spPr>
          <a:xfrm>
            <a:off x="850320" y="1580760"/>
            <a:ext cx="3474000" cy="3565440"/>
          </a:xfrm>
          <a:prstGeom prst="roundRect">
            <a:avLst>
              <a:gd fmla="val 1579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850320" y="1580760"/>
            <a:ext cx="3474000" cy="99720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850320" y="1782000"/>
            <a:ext cx="31449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Graphs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850320" y="2239200"/>
            <a:ext cx="3144960" cy="276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Atoms / proteins / cells = nodes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Bonds / interactions = edges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Applications: molecular property prediction, interaction networks, spatial biology.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Structure is part of the input.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Modern examples: GCN · GAT · GraphSAGE 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5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0" name="Google Shape;630;p25"/>
          <p:cNvPicPr preferRelativeResize="0"/>
          <p:nvPr/>
        </p:nvPicPr>
        <p:blipFill rotWithShape="1">
          <a:blip r:embed="rId5">
            <a:alphaModFix/>
          </a:blip>
          <a:srcRect b="49653" l="0" r="0" t="0"/>
          <a:stretch/>
        </p:blipFill>
        <p:spPr>
          <a:xfrm>
            <a:off x="4824360" y="1728720"/>
            <a:ext cx="7039080" cy="2655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9"/>
          <p:cNvSpPr txBox="1"/>
          <p:nvPr>
            <p:ph type="title"/>
          </p:nvPr>
        </p:nvSpPr>
        <p:spPr>
          <a:xfrm>
            <a:off x="889200" y="2752560"/>
            <a:ext cx="891036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A999"/>
              </a:buClr>
              <a:buSzPts val="2400"/>
              <a:buFont typeface="Arial"/>
              <a:buNone/>
            </a:pPr>
            <a:r>
              <a:rPr b="0" lang="en-US" sz="24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6. The ML workflow in biology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F89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5F89"/>
                </a:solidFill>
                <a:latin typeface="Arial"/>
                <a:ea typeface="Arial"/>
                <a:cs typeface="Arial"/>
                <a:sym typeface="Arial"/>
              </a:rPr>
              <a:t>Same-same but different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9"/>
          <p:cNvSpPr txBox="1"/>
          <p:nvPr>
            <p:ph idx="12" type="sldNum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7" name="Google Shape;6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5446" y="1503421"/>
            <a:ext cx="3516551" cy="35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0"/>
          <p:cNvSpPr/>
          <p:nvPr/>
        </p:nvSpPr>
        <p:spPr>
          <a:xfrm>
            <a:off x="788652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30"/>
          <p:cNvCxnSpPr/>
          <p:nvPr/>
        </p:nvCxnSpPr>
        <p:spPr>
          <a:xfrm>
            <a:off x="881892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E5EA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4" name="Google Shape;644;p30"/>
          <p:cNvSpPr/>
          <p:nvPr/>
        </p:nvSpPr>
        <p:spPr>
          <a:xfrm>
            <a:off x="1783080" y="71280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A generic machine-learning workflow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0"/>
          <p:cNvSpPr/>
          <p:nvPr/>
        </p:nvSpPr>
        <p:spPr>
          <a:xfrm>
            <a:off x="138060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18A99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0"/>
          <p:cNvSpPr/>
          <p:nvPr/>
        </p:nvSpPr>
        <p:spPr>
          <a:xfrm>
            <a:off x="148572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7" name="Google Shape;647;p30"/>
          <p:cNvCxnSpPr>
            <a:stCxn id="645" idx="3"/>
            <a:endCxn id="648" idx="1"/>
          </p:cNvCxnSpPr>
          <p:nvPr/>
        </p:nvCxnSpPr>
        <p:spPr>
          <a:xfrm>
            <a:off x="2340000" y="3359700"/>
            <a:ext cx="360000" cy="0"/>
          </a:xfrm>
          <a:prstGeom prst="straightConnector1">
            <a:avLst/>
          </a:prstGeom>
          <a:noFill/>
          <a:ln cap="flat" cmpd="sng" w="27925">
            <a:solidFill>
              <a:srgbClr val="18A9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8" name="Google Shape;648;p30"/>
          <p:cNvSpPr/>
          <p:nvPr/>
        </p:nvSpPr>
        <p:spPr>
          <a:xfrm>
            <a:off x="2700000" y="2880000"/>
            <a:ext cx="1080000" cy="959400"/>
          </a:xfrm>
          <a:prstGeom prst="roundRect">
            <a:avLst>
              <a:gd fmla="val 16667" name="adj"/>
            </a:avLst>
          </a:prstGeom>
          <a:solidFill>
            <a:srgbClr val="18A99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0"/>
          <p:cNvSpPr/>
          <p:nvPr/>
        </p:nvSpPr>
        <p:spPr>
          <a:xfrm>
            <a:off x="2765880" y="3218400"/>
            <a:ext cx="101412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Representation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0" name="Google Shape;650;p30"/>
          <p:cNvCxnSpPr/>
          <p:nvPr/>
        </p:nvCxnSpPr>
        <p:spPr>
          <a:xfrm>
            <a:off x="378000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18A9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1" name="Google Shape;651;p30"/>
          <p:cNvSpPr/>
          <p:nvPr/>
        </p:nvSpPr>
        <p:spPr>
          <a:xfrm>
            <a:off x="400032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2F6B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404604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30"/>
          <p:cNvCxnSpPr/>
          <p:nvPr/>
        </p:nvCxnSpPr>
        <p:spPr>
          <a:xfrm>
            <a:off x="497844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4" name="Google Shape;654;p30"/>
          <p:cNvSpPr/>
          <p:nvPr/>
        </p:nvSpPr>
        <p:spPr>
          <a:xfrm>
            <a:off x="528048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2F6B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532620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6" name="Google Shape;656;p30"/>
          <p:cNvCxnSpPr/>
          <p:nvPr/>
        </p:nvCxnSpPr>
        <p:spPr>
          <a:xfrm>
            <a:off x="625860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7" name="Google Shape;657;p30"/>
          <p:cNvSpPr/>
          <p:nvPr/>
        </p:nvSpPr>
        <p:spPr>
          <a:xfrm>
            <a:off x="656064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2F6B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0"/>
          <p:cNvSpPr/>
          <p:nvPr/>
        </p:nvSpPr>
        <p:spPr>
          <a:xfrm>
            <a:off x="660636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Tune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30"/>
          <p:cNvCxnSpPr/>
          <p:nvPr/>
        </p:nvCxnSpPr>
        <p:spPr>
          <a:xfrm>
            <a:off x="753876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0" name="Google Shape;660;p30"/>
          <p:cNvSpPr/>
          <p:nvPr/>
        </p:nvSpPr>
        <p:spPr>
          <a:xfrm>
            <a:off x="784080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2F6B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0"/>
          <p:cNvSpPr/>
          <p:nvPr/>
        </p:nvSpPr>
        <p:spPr>
          <a:xfrm>
            <a:off x="788652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2" name="Google Shape;662;p30"/>
          <p:cNvCxnSpPr/>
          <p:nvPr/>
        </p:nvCxnSpPr>
        <p:spPr>
          <a:xfrm>
            <a:off x="881892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2F6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3" name="Google Shape;663;p30"/>
          <p:cNvSpPr/>
          <p:nvPr/>
        </p:nvSpPr>
        <p:spPr>
          <a:xfrm>
            <a:off x="912096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916668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5" name="Google Shape;665;p30"/>
          <p:cNvCxnSpPr/>
          <p:nvPr/>
        </p:nvCxnSpPr>
        <p:spPr>
          <a:xfrm>
            <a:off x="10099080" y="3355200"/>
            <a:ext cx="246960" cy="360"/>
          </a:xfrm>
          <a:prstGeom prst="straightConnector1">
            <a:avLst/>
          </a:prstGeom>
          <a:noFill/>
          <a:ln cap="flat" cmpd="sng" w="27925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6" name="Google Shape;666;p30"/>
          <p:cNvSpPr/>
          <p:nvPr/>
        </p:nvSpPr>
        <p:spPr>
          <a:xfrm>
            <a:off x="10401120" y="2880000"/>
            <a:ext cx="959400" cy="95940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0"/>
          <p:cNvSpPr/>
          <p:nvPr/>
        </p:nvSpPr>
        <p:spPr>
          <a:xfrm>
            <a:off x="10446840" y="3218400"/>
            <a:ext cx="867960" cy="18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0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1"/>
          <p:cNvSpPr/>
          <p:nvPr/>
        </p:nvSpPr>
        <p:spPr>
          <a:xfrm>
            <a:off x="1783080" y="48780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Why biological ML is different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1"/>
          <p:cNvSpPr/>
          <p:nvPr/>
        </p:nvSpPr>
        <p:spPr>
          <a:xfrm>
            <a:off x="731520" y="141732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1"/>
          <p:cNvSpPr/>
          <p:nvPr/>
        </p:nvSpPr>
        <p:spPr>
          <a:xfrm>
            <a:off x="731520" y="1417320"/>
            <a:ext cx="3245400" cy="9972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1"/>
          <p:cNvSpPr/>
          <p:nvPr/>
        </p:nvSpPr>
        <p:spPr>
          <a:xfrm>
            <a:off x="89604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Small n, large p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896040" y="207576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100 samples × 20,000 genes is normal.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1"/>
          <p:cNvSpPr/>
          <p:nvPr/>
        </p:nvSpPr>
        <p:spPr>
          <a:xfrm>
            <a:off x="4480560" y="141732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1"/>
          <p:cNvSpPr/>
          <p:nvPr/>
        </p:nvSpPr>
        <p:spPr>
          <a:xfrm>
            <a:off x="4480560" y="1417320"/>
            <a:ext cx="324540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1"/>
          <p:cNvSpPr/>
          <p:nvPr/>
        </p:nvSpPr>
        <p:spPr>
          <a:xfrm>
            <a:off x="464508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Hierarchy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1"/>
          <p:cNvSpPr/>
          <p:nvPr/>
        </p:nvSpPr>
        <p:spPr>
          <a:xfrm>
            <a:off x="4645080" y="207576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images within wells within experiments within patients.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1"/>
          <p:cNvSpPr/>
          <p:nvPr/>
        </p:nvSpPr>
        <p:spPr>
          <a:xfrm>
            <a:off x="8229600" y="141732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1"/>
          <p:cNvSpPr/>
          <p:nvPr/>
        </p:nvSpPr>
        <p:spPr>
          <a:xfrm>
            <a:off x="8229600" y="1417320"/>
            <a:ext cx="3245400" cy="99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1"/>
          <p:cNvSpPr/>
          <p:nvPr/>
        </p:nvSpPr>
        <p:spPr>
          <a:xfrm>
            <a:off x="8394120" y="161856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Batch effects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1"/>
          <p:cNvSpPr/>
          <p:nvPr/>
        </p:nvSpPr>
        <p:spPr>
          <a:xfrm>
            <a:off x="8394120" y="207576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technical variation can dominate biology.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1"/>
          <p:cNvSpPr/>
          <p:nvPr/>
        </p:nvSpPr>
        <p:spPr>
          <a:xfrm>
            <a:off x="731520" y="361188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1"/>
          <p:cNvSpPr/>
          <p:nvPr/>
        </p:nvSpPr>
        <p:spPr>
          <a:xfrm>
            <a:off x="731520" y="3611880"/>
            <a:ext cx="3245400" cy="99720"/>
          </a:xfrm>
          <a:prstGeom prst="rect">
            <a:avLst/>
          </a:prstGeom>
          <a:solidFill>
            <a:srgbClr val="7C5CFC"/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1"/>
          <p:cNvSpPr/>
          <p:nvPr/>
        </p:nvSpPr>
        <p:spPr>
          <a:xfrm>
            <a:off x="896040" y="381312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Dependence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1"/>
          <p:cNvSpPr/>
          <p:nvPr/>
        </p:nvSpPr>
        <p:spPr>
          <a:xfrm>
            <a:off x="896040" y="427032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replicates are not independent observations.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1"/>
          <p:cNvSpPr/>
          <p:nvPr/>
        </p:nvSpPr>
        <p:spPr>
          <a:xfrm>
            <a:off x="4480560" y="361188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1"/>
          <p:cNvSpPr/>
          <p:nvPr/>
        </p:nvSpPr>
        <p:spPr>
          <a:xfrm>
            <a:off x="4480560" y="3611880"/>
            <a:ext cx="3245400" cy="99720"/>
          </a:xfrm>
          <a:prstGeom prst="rect">
            <a:avLst/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1"/>
          <p:cNvSpPr/>
          <p:nvPr/>
        </p:nvSpPr>
        <p:spPr>
          <a:xfrm>
            <a:off x="4645080" y="381312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Label uncertainty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4645080" y="427032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phenotypes and assays have measurement error.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1"/>
          <p:cNvSpPr/>
          <p:nvPr/>
        </p:nvSpPr>
        <p:spPr>
          <a:xfrm>
            <a:off x="8229600" y="3611880"/>
            <a:ext cx="3245400" cy="1645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1"/>
          <p:cNvSpPr/>
          <p:nvPr/>
        </p:nvSpPr>
        <p:spPr>
          <a:xfrm>
            <a:off x="8229600" y="3611880"/>
            <a:ext cx="3245400" cy="99720"/>
          </a:xfrm>
          <a:prstGeom prst="rect">
            <a:avLst/>
          </a:prstGeom>
          <a:solidFill>
            <a:srgbClr val="183153"/>
          </a:solidFill>
          <a:ln cap="flat" cmpd="sng" w="1270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1"/>
          <p:cNvSpPr/>
          <p:nvPr/>
        </p:nvSpPr>
        <p:spPr>
          <a:xfrm>
            <a:off x="8394120" y="3813120"/>
            <a:ext cx="29163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Distribution shift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1"/>
          <p:cNvSpPr/>
          <p:nvPr/>
        </p:nvSpPr>
        <p:spPr>
          <a:xfrm>
            <a:off x="8394120" y="4270320"/>
            <a:ext cx="291636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lab, instrument, cohort or protocol can change.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1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2"/>
          <p:cNvSpPr/>
          <p:nvPr/>
        </p:nvSpPr>
        <p:spPr>
          <a:xfrm>
            <a:off x="1783080" y="457200"/>
            <a:ext cx="95734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A biological train/test split can be wrong even when the code is correct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2"/>
          <p:cNvSpPr/>
          <p:nvPr/>
        </p:nvSpPr>
        <p:spPr>
          <a:xfrm>
            <a:off x="914400" y="1325880"/>
            <a:ext cx="1024056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50 patients × 10 microscopy images each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2"/>
          <p:cNvSpPr/>
          <p:nvPr/>
        </p:nvSpPr>
        <p:spPr>
          <a:xfrm>
            <a:off x="822960" y="2057400"/>
            <a:ext cx="4799880" cy="246816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2"/>
          <p:cNvSpPr/>
          <p:nvPr/>
        </p:nvSpPr>
        <p:spPr>
          <a:xfrm>
            <a:off x="822960" y="2057400"/>
            <a:ext cx="4799880" cy="99720"/>
          </a:xfrm>
          <a:prstGeom prst="rect">
            <a:avLst/>
          </a:prstGeom>
          <a:solidFill>
            <a:srgbClr val="E05260"/>
          </a:solidFill>
          <a:ln cap="flat" cmpd="sng" w="1270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2"/>
          <p:cNvSpPr/>
          <p:nvPr/>
        </p:nvSpPr>
        <p:spPr>
          <a:xfrm>
            <a:off x="987480" y="2258640"/>
            <a:ext cx="44708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Random image split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2"/>
          <p:cNvSpPr/>
          <p:nvPr/>
        </p:nvSpPr>
        <p:spPr>
          <a:xfrm>
            <a:off x="987480" y="2715840"/>
            <a:ext cx="4470840" cy="166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400 images → train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100 images → test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Images from the same patient can appear in both sets.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Result: optimistic performance.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2"/>
          <p:cNvSpPr/>
          <p:nvPr/>
        </p:nvSpPr>
        <p:spPr>
          <a:xfrm>
            <a:off x="6537960" y="2057400"/>
            <a:ext cx="4799880" cy="246816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52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  <a:effectLst>
            <a:outerShdw blurRad="12600" rotWithShape="0" algn="bl" dir="2700000" dist="49893">
              <a:srgbClr val="D6DEE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2"/>
          <p:cNvSpPr/>
          <p:nvPr/>
        </p:nvSpPr>
        <p:spPr>
          <a:xfrm>
            <a:off x="6537960" y="2057400"/>
            <a:ext cx="4799880" cy="99720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91425" spcFirstLastPara="1" rIns="91425" wrap="square" tIns="50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2"/>
          <p:cNvSpPr/>
          <p:nvPr/>
        </p:nvSpPr>
        <p:spPr>
          <a:xfrm>
            <a:off x="6702480" y="2258640"/>
            <a:ext cx="44708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Patient-level split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2"/>
          <p:cNvSpPr/>
          <p:nvPr/>
        </p:nvSpPr>
        <p:spPr>
          <a:xfrm>
            <a:off x="6702480" y="2715840"/>
            <a:ext cx="4470840" cy="166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40 patients → train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10 patients → test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No patient appears in both sets.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Result: tests generalization to a new patient.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2"/>
          <p:cNvSpPr/>
          <p:nvPr/>
        </p:nvSpPr>
        <p:spPr>
          <a:xfrm>
            <a:off x="914400" y="5166360"/>
            <a:ext cx="103320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Rule of thumb: split at the level of the biological unit you want to generalize to.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2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3"/>
          <p:cNvSpPr/>
          <p:nvPr/>
        </p:nvSpPr>
        <p:spPr>
          <a:xfrm>
            <a:off x="1105560" y="1734840"/>
            <a:ext cx="10972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Next: Practical 1 — from biological data to X and y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3"/>
          <p:cNvSpPr/>
          <p:nvPr/>
        </p:nvSpPr>
        <p:spPr>
          <a:xfrm>
            <a:off x="1425600" y="2694960"/>
            <a:ext cx="1024056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We will take a messy biological dataset and turn it into an ML-ready representation.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3"/>
          <p:cNvSpPr/>
          <p:nvPr/>
        </p:nvSpPr>
        <p:spPr>
          <a:xfrm>
            <a:off x="115128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3"/>
          <p:cNvSpPr/>
          <p:nvPr/>
        </p:nvSpPr>
        <p:spPr>
          <a:xfrm>
            <a:off x="124272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2F6BFF"/>
                </a:solidFill>
                <a:latin typeface="Arial"/>
                <a:ea typeface="Arial"/>
                <a:cs typeface="Arial"/>
                <a:sym typeface="Arial"/>
              </a:rPr>
              <a:t>Inspect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3"/>
          <p:cNvSpPr/>
          <p:nvPr/>
        </p:nvSpPr>
        <p:spPr>
          <a:xfrm>
            <a:off x="126108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What is one observation?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33"/>
          <p:cNvSpPr/>
          <p:nvPr/>
        </p:nvSpPr>
        <p:spPr>
          <a:xfrm>
            <a:off x="302580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3"/>
          <p:cNvSpPr/>
          <p:nvPr/>
        </p:nvSpPr>
        <p:spPr>
          <a:xfrm>
            <a:off x="311724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3"/>
          <p:cNvSpPr/>
          <p:nvPr/>
        </p:nvSpPr>
        <p:spPr>
          <a:xfrm>
            <a:off x="313560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Missing values · types · duplicates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3"/>
          <p:cNvSpPr/>
          <p:nvPr/>
        </p:nvSpPr>
        <p:spPr>
          <a:xfrm>
            <a:off x="490032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3"/>
          <p:cNvSpPr/>
          <p:nvPr/>
        </p:nvSpPr>
        <p:spPr>
          <a:xfrm>
            <a:off x="499176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7C5CFC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3"/>
          <p:cNvSpPr/>
          <p:nvPr/>
        </p:nvSpPr>
        <p:spPr>
          <a:xfrm>
            <a:off x="501012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Measurements + sample metadata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3"/>
          <p:cNvSpPr/>
          <p:nvPr/>
        </p:nvSpPr>
        <p:spPr>
          <a:xfrm>
            <a:off x="677484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3"/>
          <p:cNvSpPr/>
          <p:nvPr/>
        </p:nvSpPr>
        <p:spPr>
          <a:xfrm>
            <a:off x="686628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3"/>
          <p:cNvSpPr/>
          <p:nvPr/>
        </p:nvSpPr>
        <p:spPr>
          <a:xfrm>
            <a:off x="688464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2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Plots · distributions · suspicious patterns</a:t>
            </a:r>
            <a:endParaRPr b="0" sz="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3"/>
          <p:cNvSpPr/>
          <p:nvPr/>
        </p:nvSpPr>
        <p:spPr>
          <a:xfrm>
            <a:off x="864936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3"/>
          <p:cNvSpPr/>
          <p:nvPr/>
        </p:nvSpPr>
        <p:spPr>
          <a:xfrm>
            <a:off x="874080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E05260"/>
                </a:solidFill>
                <a:latin typeface="Arial"/>
                <a:ea typeface="Arial"/>
                <a:cs typeface="Arial"/>
                <a:sym typeface="Arial"/>
              </a:rPr>
              <a:t>Define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3"/>
          <p:cNvSpPr/>
          <p:nvPr/>
        </p:nvSpPr>
        <p:spPr>
          <a:xfrm>
            <a:off x="875916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X, y and the ML question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3"/>
          <p:cNvSpPr/>
          <p:nvPr/>
        </p:nvSpPr>
        <p:spPr>
          <a:xfrm>
            <a:off x="10523880" y="4020840"/>
            <a:ext cx="155376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831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33"/>
          <p:cNvSpPr/>
          <p:nvPr/>
        </p:nvSpPr>
        <p:spPr>
          <a:xfrm>
            <a:off x="10615320" y="4249440"/>
            <a:ext cx="1370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183153"/>
                </a:solidFill>
                <a:latin typeface="Arial"/>
                <a:ea typeface="Arial"/>
                <a:cs typeface="Arial"/>
                <a:sym typeface="Arial"/>
              </a:rPr>
              <a:t>Audit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3"/>
          <p:cNvSpPr/>
          <p:nvPr/>
        </p:nvSpPr>
        <p:spPr>
          <a:xfrm>
            <a:off x="10633680" y="4706640"/>
            <a:ext cx="13341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5E6C84"/>
                </a:solidFill>
                <a:latin typeface="Arial"/>
                <a:ea typeface="Arial"/>
                <a:cs typeface="Arial"/>
                <a:sym typeface="Arial"/>
              </a:rPr>
              <a:t>Leakage · batch · grouping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3"/>
          <p:cNvSpPr txBox="1"/>
          <p:nvPr>
            <p:ph idx="12" type="sldNum"/>
          </p:nvPr>
        </p:nvSpPr>
        <p:spPr>
          <a:xfrm>
            <a:off x="11296440" y="6502680"/>
            <a:ext cx="731520" cy="5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/33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2026-08-25T08:52:32Z</dcterms:created>
  <dc:creator>OpenAI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36</vt:i4>
  </property>
  <property fmtid="{D5CDD505-2E9C-101B-9397-08002B2CF9AE}" pid="3" name="PresentationFormat">
    <vt:lpwstr>On-screen Show (16:9)</vt:lpwstr>
  </property>
  <property fmtid="{D5CDD505-2E9C-101B-9397-08002B2CF9AE}" pid="4" name="Slides">
    <vt:i4>36</vt:i4>
  </property>
</Properties>
</file>