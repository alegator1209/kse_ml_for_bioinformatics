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8nknTClcVPVgL6KQDg9Q+S36R5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Oleh Mezhensky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365123-8FFC-4B15-8C80-808CB802743D}">
  <a:tblStyle styleId="{07365123-8FFC-4B15-8C80-808CB80274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8T14:07:37.566">
    <p:pos x="892" y="1883"/>
    <p:text>to skip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KK08H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8-29T20:38:13.562">
    <p:pos x="6000" y="0"/>
    <p:text>to move froward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NicSKw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8-28T14:10:23.415">
    <p:pos x="6000" y="0"/>
    <p:text>we will discuss this later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KK08HU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8-28T14:20:07.840">
    <p:pos x="6000" y="0"/>
    <p:text>to empahzise on practical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KK08HY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5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35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35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3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9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39"/>
          <p:cNvSpPr txBox="1"/>
          <p:nvPr>
            <p:ph idx="1"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9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9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39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0"/>
          <p:cNvSpPr txBox="1"/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40"/>
          <p:cNvSpPr txBox="1"/>
          <p:nvPr>
            <p:ph idx="1"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40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40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1"/>
          <p:cNvSpPr txBox="1"/>
          <p:nvPr>
            <p:ph type="title"/>
          </p:nvPr>
        </p:nvSpPr>
        <p:spPr>
          <a:xfrm>
            <a:off x="1523880" y="1122480"/>
            <a:ext cx="914364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4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2"/>
          <p:cNvSpPr txBox="1"/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831960" y="4589640"/>
            <a:ext cx="10515240" cy="150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4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43"/>
          <p:cNvSpPr txBox="1"/>
          <p:nvPr>
            <p:ph idx="1"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43"/>
          <p:cNvSpPr txBox="1"/>
          <p:nvPr>
            <p:ph idx="2"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4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4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4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4"/>
          <p:cNvSpPr txBox="1"/>
          <p:nvPr>
            <p:ph type="title"/>
          </p:nvPr>
        </p:nvSpPr>
        <p:spPr>
          <a:xfrm>
            <a:off x="8398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44"/>
          <p:cNvSpPr txBox="1"/>
          <p:nvPr>
            <p:ph idx="1" type="body"/>
          </p:nvPr>
        </p:nvSpPr>
        <p:spPr>
          <a:xfrm>
            <a:off x="839880" y="1681200"/>
            <a:ext cx="515772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44"/>
          <p:cNvSpPr txBox="1"/>
          <p:nvPr>
            <p:ph idx="2" type="body"/>
          </p:nvPr>
        </p:nvSpPr>
        <p:spPr>
          <a:xfrm>
            <a:off x="839880" y="2505240"/>
            <a:ext cx="5157720" cy="368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44"/>
          <p:cNvSpPr txBox="1"/>
          <p:nvPr>
            <p:ph idx="3" type="body"/>
          </p:nvPr>
        </p:nvSpPr>
        <p:spPr>
          <a:xfrm>
            <a:off x="6172200" y="1681200"/>
            <a:ext cx="518292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44"/>
          <p:cNvSpPr txBox="1"/>
          <p:nvPr>
            <p:ph idx="4"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4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4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4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5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4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4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4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6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46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46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7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7"/>
          <p:cNvSpPr txBox="1"/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04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04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47"/>
          <p:cNvSpPr txBox="1"/>
          <p:nvPr>
            <p:ph idx="2"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47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47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8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8"/>
          <p:cNvSpPr txBox="1"/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48"/>
          <p:cNvSpPr txBox="1"/>
          <p:nvPr>
            <p:ph idx="1"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48"/>
          <p:cNvSpPr txBox="1"/>
          <p:nvPr>
            <p:ph idx="2"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48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48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48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 type="title">
  <p:cSld name="TITLE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7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7"/>
          <p:cNvSpPr txBox="1"/>
          <p:nvPr>
            <p:ph type="title"/>
          </p:nvPr>
        </p:nvSpPr>
        <p:spPr>
          <a:xfrm>
            <a:off x="415440" y="992880"/>
            <a:ext cx="11360520" cy="273672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9" name="Google Shape;89;p3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3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8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38"/>
          <p:cNvPicPr preferRelativeResize="0"/>
          <p:nvPr/>
        </p:nvPicPr>
        <p:blipFill rotWithShape="1">
          <a:blip r:embed="rId3">
            <a:alphaModFix/>
          </a:blip>
          <a:srcRect b="833" l="85" r="78373" t="82673"/>
          <a:stretch/>
        </p:blipFill>
        <p:spPr>
          <a:xfrm>
            <a:off x="0" y="5727600"/>
            <a:ext cx="2437920" cy="113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8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320" cy="21585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8"/>
          <p:cNvSpPr txBox="1"/>
          <p:nvPr>
            <p:ph type="title"/>
          </p:nvPr>
        </p:nvSpPr>
        <p:spPr>
          <a:xfrm>
            <a:off x="1928160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38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9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9"/>
          <p:cNvSpPr txBox="1"/>
          <p:nvPr>
            <p:ph idx="1" type="body"/>
          </p:nvPr>
        </p:nvSpPr>
        <p:spPr>
          <a:xfrm>
            <a:off x="415440" y="5640840"/>
            <a:ext cx="7998120" cy="8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05" name="Google Shape;105;p49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0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0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0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0"/>
          <p:cNvSpPr txBox="1"/>
          <p:nvPr>
            <p:ph hasCustomPrompt="1" type="title"/>
          </p:nvPr>
        </p:nvSpPr>
        <p:spPr>
          <a:xfrm>
            <a:off x="415440" y="1474920"/>
            <a:ext cx="11360520" cy="261792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111" name="Google Shape;111;p50"/>
          <p:cNvSpPr txBox="1"/>
          <p:nvPr>
            <p:ph idx="1" type="body"/>
          </p:nvPr>
        </p:nvSpPr>
        <p:spPr>
          <a:xfrm>
            <a:off x="415440" y="4203000"/>
            <a:ext cx="11360520" cy="17341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2" name="Google Shape;112;p5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-light-2">
  <p:cSld name="simple-light-2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1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" type="obj">
  <p:cSld name="OBJECT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2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2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2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2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52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5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5" name="Google Shape;125;p5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6" name="Google Shape;126;p5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2">
  <p:cSld name="Звичайний 2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3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3"/>
          <p:cNvSpPr txBox="1"/>
          <p:nvPr>
            <p:ph type="title"/>
          </p:nvPr>
        </p:nvSpPr>
        <p:spPr>
          <a:xfrm>
            <a:off x="415440" y="2867760"/>
            <a:ext cx="11360520" cy="112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2" name="Google Shape;132;p5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4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4"/>
          <p:cNvSpPr txBox="1"/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8" name="Google Shape;138;p54"/>
          <p:cNvSpPr txBox="1"/>
          <p:nvPr>
            <p:ph idx="1" type="body"/>
          </p:nvPr>
        </p:nvSpPr>
        <p:spPr>
          <a:xfrm>
            <a:off x="415440" y="1536480"/>
            <a:ext cx="1136052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" name="Google Shape;139;p54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5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5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5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5"/>
          <p:cNvSpPr txBox="1"/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5" name="Google Shape;145;p55"/>
          <p:cNvSpPr txBox="1"/>
          <p:nvPr>
            <p:ph idx="1" type="body"/>
          </p:nvPr>
        </p:nvSpPr>
        <p:spPr>
          <a:xfrm>
            <a:off x="415440" y="1536480"/>
            <a:ext cx="533268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6" name="Google Shape;146;p55"/>
          <p:cNvSpPr txBox="1"/>
          <p:nvPr>
            <p:ph idx="2" type="body"/>
          </p:nvPr>
        </p:nvSpPr>
        <p:spPr>
          <a:xfrm>
            <a:off x="6443280" y="1536480"/>
            <a:ext cx="533268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7" name="Google Shape;147;p5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3" type="titleOnly">
  <p:cSld name="TITLE_ONLY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56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6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6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6"/>
          <p:cNvSpPr txBox="1"/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3" name="Google Shape;153;p56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7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7"/>
          <p:cNvSpPr txBox="1"/>
          <p:nvPr>
            <p:ph type="title"/>
          </p:nvPr>
        </p:nvSpPr>
        <p:spPr>
          <a:xfrm>
            <a:off x="415440" y="740880"/>
            <a:ext cx="374364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9" name="Google Shape;159;p57"/>
          <p:cNvSpPr txBox="1"/>
          <p:nvPr>
            <p:ph idx="1" type="body"/>
          </p:nvPr>
        </p:nvSpPr>
        <p:spPr>
          <a:xfrm>
            <a:off x="415440" y="1852920"/>
            <a:ext cx="374364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0" name="Google Shape;160;p5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5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8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8"/>
          <p:cNvSpPr txBox="1"/>
          <p:nvPr>
            <p:ph type="title"/>
          </p:nvPr>
        </p:nvSpPr>
        <p:spPr>
          <a:xfrm>
            <a:off x="653760" y="600120"/>
            <a:ext cx="848988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6" name="Google Shape;166;p58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5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5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9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9"/>
          <p:cNvSpPr/>
          <p:nvPr/>
        </p:nvSpPr>
        <p:spPr>
          <a:xfrm>
            <a:off x="6095880" y="0"/>
            <a:ext cx="6095520" cy="68576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9"/>
          <p:cNvSpPr txBox="1"/>
          <p:nvPr>
            <p:ph type="title"/>
          </p:nvPr>
        </p:nvSpPr>
        <p:spPr>
          <a:xfrm>
            <a:off x="353880" y="1644120"/>
            <a:ext cx="5393520" cy="197604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b="0" i="0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3" name="Google Shape;173;p59"/>
          <p:cNvSpPr txBox="1"/>
          <p:nvPr>
            <p:ph idx="1" type="body"/>
          </p:nvPr>
        </p:nvSpPr>
        <p:spPr>
          <a:xfrm>
            <a:off x="6585840" y="965520"/>
            <a:ext cx="511560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4" name="Google Shape;174;p59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comments" Target="../comments/commen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"/>
          <p:cNvPicPr preferRelativeResize="0"/>
          <p:nvPr/>
        </p:nvPicPr>
        <p:blipFill rotWithShape="1">
          <a:blip r:embed="rId3">
            <a:alphaModFix/>
          </a:blip>
          <a:srcRect b="0" l="0" r="79008" t="80962"/>
          <a:stretch/>
        </p:blipFill>
        <p:spPr>
          <a:xfrm>
            <a:off x="-18000" y="5553000"/>
            <a:ext cx="2375640" cy="130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"/>
          <p:cNvPicPr preferRelativeResize="0"/>
          <p:nvPr/>
        </p:nvPicPr>
        <p:blipFill rotWithShape="1">
          <a:blip r:embed="rId4">
            <a:alphaModFix/>
          </a:blip>
          <a:srcRect b="28806" l="0" r="0" t="37793"/>
          <a:stretch/>
        </p:blipFill>
        <p:spPr>
          <a:xfrm>
            <a:off x="0" y="2592360"/>
            <a:ext cx="12191760" cy="228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"/>
          <p:cNvSpPr/>
          <p:nvPr/>
        </p:nvSpPr>
        <p:spPr>
          <a:xfrm>
            <a:off x="68400" y="2644560"/>
            <a:ext cx="494928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Quantitative Data Preprocessing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5752080" y="3023640"/>
            <a:ext cx="4135680" cy="106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Scaling, normalization, missing values, outliers, and leakage-safe workflows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>‹#›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"/>
          <p:cNvPicPr preferRelativeResize="0"/>
          <p:nvPr/>
        </p:nvPicPr>
        <p:blipFill rotWithShape="1">
          <a:blip r:embed="rId4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"/>
          <p:cNvSpPr/>
          <p:nvPr/>
        </p:nvSpPr>
        <p:spPr>
          <a:xfrm>
            <a:off x="3299400" y="212760"/>
            <a:ext cx="5828400" cy="69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Today's agenda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612720" y="987480"/>
            <a:ext cx="1078920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822960" y="1508760"/>
            <a:ext cx="419760" cy="419760"/>
          </a:xfrm>
          <a:prstGeom prst="ellipse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"/>
          <p:cNvSpPr/>
          <p:nvPr/>
        </p:nvSpPr>
        <p:spPr>
          <a:xfrm>
            <a:off x="822960" y="160020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1417320" y="156348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Why preprocessing is part of the scientific question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822960" y="2221920"/>
            <a:ext cx="419760" cy="419760"/>
          </a:xfrm>
          <a:prstGeom prst="ellipse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822960" y="231336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1417320" y="227700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Scale, units, and distributions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822960" y="2935080"/>
            <a:ext cx="419760" cy="419760"/>
          </a:xfrm>
          <a:prstGeom prst="ellipse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822960" y="302652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1417320" y="299016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Core preprocessing operations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822960" y="3648600"/>
            <a:ext cx="419760" cy="419760"/>
          </a:xfrm>
          <a:prstGeom prst="ellipse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822960" y="374004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4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1417320" y="370332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Biological examples: Diabetes, assays, and omics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822960" y="4361760"/>
            <a:ext cx="419760" cy="419760"/>
          </a:xfrm>
          <a:prstGeom prst="ellipse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822960" y="445320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1417320" y="441648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Regression diagnostics and regularization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822960" y="5074920"/>
            <a:ext cx="419760" cy="419760"/>
          </a:xfrm>
          <a:prstGeom prst="ellipse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822960" y="516636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6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1417320" y="512964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leakage-safe workflow for Practical 2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>
            <p:ph type="title"/>
          </p:nvPr>
        </p:nvSpPr>
        <p:spPr>
          <a:xfrm>
            <a:off x="889200" y="2752560"/>
            <a:ext cx="891036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-3808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AutoNum type="arabicPeriod"/>
            </a:pPr>
            <a:r>
              <a:t>Why preprocessing is a scientific step</a:t>
            </a:r>
            <a:br/>
            <a:br/>
            <a:r>
              <a:t>The model learns from the representation we give it.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 txBox="1"/>
          <p:nvPr>
            <p:ph idx="12" type="sldNum"/>
          </p:nvPr>
        </p:nvSpPr>
        <p:spPr>
          <a:xfrm>
            <a:off x="11340000" y="648000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/>
          <p:nvPr/>
        </p:nvSpPr>
        <p:spPr>
          <a:xfrm>
            <a:off x="642600" y="13557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Oleh Mezhenskyi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3">
            <a:alphaModFix/>
          </a:blip>
          <a:srcRect b="81797" l="84240" r="1844" t="2301"/>
          <a:stretch/>
        </p:blipFill>
        <p:spPr>
          <a:xfrm>
            <a:off x="7739280" y="2015280"/>
            <a:ext cx="3949920" cy="2733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000" y="2084760"/>
            <a:ext cx="2594520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"/>
          <p:cNvSpPr/>
          <p:nvPr/>
        </p:nvSpPr>
        <p:spPr>
          <a:xfrm>
            <a:off x="4956120" y="5352120"/>
            <a:ext cx="5564520" cy="615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Machine Learning for Bioinformatics · Lecture 2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696600" y="10303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this lecture is about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833760" y="1990440"/>
            <a:ext cx="338256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833760" y="1990440"/>
            <a:ext cx="33825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998280" y="2191680"/>
            <a:ext cx="3053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Measurement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998280" y="2648880"/>
            <a:ext cx="305352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was measured, in which units, and with what technical process?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509720" y="1990440"/>
            <a:ext cx="338256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509720" y="1990440"/>
            <a:ext cx="33825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4674240" y="2191680"/>
            <a:ext cx="3053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Representation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674240" y="2648880"/>
            <a:ext cx="305352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should measurements be arranged and transformed for a model?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8185680" y="1990440"/>
            <a:ext cx="338256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185680" y="1990440"/>
            <a:ext cx="338256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8350200" y="2191680"/>
            <a:ext cx="3053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Scientific interpretation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8350200" y="2648880"/>
            <a:ext cx="305352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Which patterns are biological, technical, or created by preprocessing?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5"/>
          <p:cNvCxnSpPr/>
          <p:nvPr/>
        </p:nvCxnSpPr>
        <p:spPr>
          <a:xfrm>
            <a:off x="4216680" y="3590280"/>
            <a:ext cx="292680" cy="72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p5"/>
          <p:cNvCxnSpPr/>
          <p:nvPr/>
        </p:nvCxnSpPr>
        <p:spPr>
          <a:xfrm>
            <a:off x="7892280" y="359028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46" name="Google Shape;2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4880" y="2972880"/>
            <a:ext cx="2281320" cy="230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2080" y="3232440"/>
            <a:ext cx="3237480" cy="161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7906" r="11198" t="7146"/>
          <a:stretch/>
        </p:blipFill>
        <p:spPr>
          <a:xfrm>
            <a:off x="8848440" y="3232440"/>
            <a:ext cx="2281320" cy="19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7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512640" y="9374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course arc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31000" y="1467720"/>
            <a:ext cx="1078920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Week 2 makes the data representation explicit before modelling.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5836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9552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Classical ML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2288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Linear models · trees · distance models · clustering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7"/>
          <p:cNvCxnSpPr/>
          <p:nvPr/>
        </p:nvCxnSpPr>
        <p:spPr>
          <a:xfrm>
            <a:off x="2551320" y="340632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7"/>
          <p:cNvSpPr/>
          <p:nvPr/>
        </p:nvSpPr>
        <p:spPr>
          <a:xfrm>
            <a:off x="286272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299988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Biological modalities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02724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Clinical data · assays · omics · images · molecules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7"/>
          <p:cNvCxnSpPr/>
          <p:nvPr/>
        </p:nvCxnSpPr>
        <p:spPr>
          <a:xfrm>
            <a:off x="4855680" y="3406320"/>
            <a:ext cx="29268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7"/>
          <p:cNvSpPr/>
          <p:nvPr/>
        </p:nvSpPr>
        <p:spPr>
          <a:xfrm>
            <a:off x="516708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30424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Modern models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33160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CNN · GNN · Transformers · foundation models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7159680" y="340632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7"/>
          <p:cNvSpPr/>
          <p:nvPr/>
        </p:nvSpPr>
        <p:spPr>
          <a:xfrm>
            <a:off x="747108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760824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Efficient ML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763596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Reproducible pipelines · tracking · deployment</a:t>
            </a:r>
            <a:endParaRPr b="0" sz="11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7"/>
          <p:cNvCxnSpPr/>
          <p:nvPr/>
        </p:nvCxnSpPr>
        <p:spPr>
          <a:xfrm>
            <a:off x="9464040" y="340632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7"/>
          <p:cNvSpPr/>
          <p:nvPr/>
        </p:nvSpPr>
        <p:spPr>
          <a:xfrm>
            <a:off x="977544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991260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Project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93996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complete biological ML workflow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11960"/>
            <a:ext cx="2619000" cy="15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60" y="4473720"/>
            <a:ext cx="2468160" cy="182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7"/>
          <p:cNvPicPr preferRelativeResize="0"/>
          <p:nvPr/>
        </p:nvPicPr>
        <p:blipFill rotWithShape="1">
          <a:blip r:embed="rId6">
            <a:alphaModFix/>
          </a:blip>
          <a:srcRect b="0" l="62703" r="0" t="0"/>
          <a:stretch/>
        </p:blipFill>
        <p:spPr>
          <a:xfrm>
            <a:off x="5425920" y="4473720"/>
            <a:ext cx="1474920" cy="16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63920" y="4473720"/>
            <a:ext cx="2941920" cy="16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7"/>
          <p:cNvSpPr/>
          <p:nvPr/>
        </p:nvSpPr>
        <p:spPr>
          <a:xfrm>
            <a:off x="10372680" y="4475160"/>
            <a:ext cx="152244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8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8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/>
          <p:nvPr/>
        </p:nvSpPr>
        <p:spPr>
          <a:xfrm>
            <a:off x="230048" y="1030325"/>
            <a:ext cx="8636400" cy="44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50"/>
              <a:buFont typeface="Noto Sans Symbols"/>
              <a:buChar char="●"/>
            </a:pPr>
            <a:r>
              <a:t>Lectures introduce concepts, biological examples, and methodological choices.</a:t>
            </a:r>
            <a:br/>
            <a:br/>
            <a:r>
              <a:t>Practicals use real or realistic datasets to make those choices executable.</a:t>
            </a:r>
            <a:br/>
            <a:br/>
            <a:r>
              <a:t>This week: connect measurement scale and data quality to a safe quantitative ML pipeline.</a:t>
            </a:r>
            <a:endParaRPr b="0" sz="1850" u="none" strike="noStrike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892520" y="4777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we will work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87450" y="4634000"/>
            <a:ext cx="1755550" cy="175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8"/>
          <p:cNvCxnSpPr/>
          <p:nvPr/>
        </p:nvCxnSpPr>
        <p:spPr>
          <a:xfrm rot="10800000">
            <a:off x="7269600" y="1596075"/>
            <a:ext cx="1932600" cy="24900"/>
          </a:xfrm>
          <a:prstGeom prst="straightConnector1">
            <a:avLst/>
          </a:prstGeom>
          <a:noFill/>
          <a:ln cap="flat" cmpd="sng" w="27925">
            <a:solidFill>
              <a:srgbClr val="18A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p8"/>
          <p:cNvSpPr txBox="1"/>
          <p:nvPr/>
        </p:nvSpPr>
        <p:spPr>
          <a:xfrm>
            <a:off x="9202200" y="1408425"/>
            <a:ext cx="26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You are here</a:t>
            </a:r>
            <a:endParaRPr b="1" sz="1700">
              <a:solidFill>
                <a:srgbClr val="18A99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 txBox="1"/>
          <p:nvPr>
            <p:ph type="title"/>
          </p:nvPr>
        </p:nvSpPr>
        <p:spPr>
          <a:xfrm>
            <a:off x="752050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t>1. What is a quantitative feature?</a:t>
            </a:r>
            <a:br/>
            <a:br/>
            <a:r>
              <a:t>A number is not yet a meaningful model input.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5275" y="1663875"/>
            <a:ext cx="3226725" cy="33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0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"/>
          <p:cNvSpPr/>
          <p:nvPr/>
        </p:nvSpPr>
        <p:spPr>
          <a:xfrm>
            <a:off x="1783080" y="4179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quantitative feature has a measurement story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914400" y="1463040"/>
            <a:ext cx="1024056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feature is a measured or derived property of an observation that is available to the model.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14400" y="3063240"/>
            <a:ext cx="2925360" cy="182808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914400" y="3063240"/>
            <a:ext cx="29253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078920" y="3264480"/>
            <a:ext cx="2596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Value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078920" y="3721680"/>
            <a:ext cx="2596320" cy="102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recorded number: concentration, age, expression, intensity, or score.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617720" y="3063240"/>
            <a:ext cx="2925360" cy="182808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617720" y="3063240"/>
            <a:ext cx="29253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782240" y="3264480"/>
            <a:ext cx="2596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Meaning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782240" y="3721680"/>
            <a:ext cx="2596320" cy="102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biological object, unit, assay, and reference scale behind the number.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321040" y="3063240"/>
            <a:ext cx="2925360" cy="182808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321040" y="3063240"/>
            <a:ext cx="292536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8485560" y="3264480"/>
            <a:ext cx="2596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Geometry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485560" y="3721680"/>
            <a:ext cx="2596320" cy="102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distances, variances, and relationships the algorithm will use.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3840480" y="3977640"/>
            <a:ext cx="77760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10"/>
          <p:cNvCxnSpPr/>
          <p:nvPr/>
        </p:nvCxnSpPr>
        <p:spPr>
          <a:xfrm>
            <a:off x="7543800" y="3977640"/>
            <a:ext cx="77760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1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11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1783080" y="3855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Measurement scale versus model scale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792720" y="2071440"/>
            <a:ext cx="51199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Raw measurements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021320" y="2802960"/>
            <a:ext cx="466272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Units + instrument + protocol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021320" y="3534480"/>
            <a:ext cx="466272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Example: age in years, BMI in kg/m², blood pressure in mmHg.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1"/>
          <p:cNvCxnSpPr/>
          <p:nvPr/>
        </p:nvCxnSpPr>
        <p:spPr>
          <a:xfrm>
            <a:off x="6095880" y="1980000"/>
            <a:ext cx="720" cy="3931920"/>
          </a:xfrm>
          <a:prstGeom prst="straightConnector1">
            <a:avLst/>
          </a:prstGeom>
          <a:noFill/>
          <a:ln cap="flat" cmpd="sng" w="19050">
            <a:solidFill>
              <a:srgbClr val="E5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1"/>
          <p:cNvSpPr/>
          <p:nvPr/>
        </p:nvSpPr>
        <p:spPr>
          <a:xfrm>
            <a:off x="6370560" y="2071440"/>
            <a:ext cx="50284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Model representation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599160" y="2802960"/>
            <a:ext cx="45712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Comparable numerical inputs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599160" y="3534480"/>
            <a:ext cx="45712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Example: centered/scaled features, transformed concentrations, encoded categories.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2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/>
          <p:nvPr/>
        </p:nvSpPr>
        <p:spPr>
          <a:xfrm>
            <a:off x="1783080" y="555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Where quantitative preprocessing appears in bioscience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731520" y="141732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731520" y="1417320"/>
            <a:ext cx="32454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89604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Clinical / tabular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896040" y="207576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age · BMI · blood pressure · laboratory measurements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480560" y="141732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480560" y="1417320"/>
            <a:ext cx="32454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64508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Omics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645080" y="207576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expression · methylation · protein abundance · metabolites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229600" y="141732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229600" y="1417320"/>
            <a:ext cx="32454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39412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Assays / plates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8394120" y="207576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well effects · controls · batch · detection limits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731520" y="365760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731520" y="3657600"/>
            <a:ext cx="32454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96040" y="385884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Images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896040" y="431604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intensity · area · shape · morphology features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480560" y="365760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480560" y="3657600"/>
            <a:ext cx="32454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645080" y="385884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Repeated measures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645080" y="431604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time points · visits · technical replicates · subjects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229600" y="365760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8229600" y="3657600"/>
            <a:ext cx="32454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8394120" y="385884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Multi-modal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8394120" y="431604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joining measurements without losing provenance or alignment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13"/>
          <p:cNvPicPr preferRelativeResize="0"/>
          <p:nvPr/>
        </p:nvPicPr>
        <p:blipFill rotWithShape="1">
          <a:blip r:embed="rId3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/>
          <p:nvPr/>
        </p:nvSpPr>
        <p:spPr>
          <a:xfrm>
            <a:off x="2103120" y="1645920"/>
            <a:ext cx="3656880" cy="3199680"/>
          </a:xfrm>
          <a:prstGeom prst="ellipse">
            <a:avLst/>
          </a:prstGeom>
          <a:solidFill>
            <a:srgbClr val="DCE7FF">
              <a:alpha val="85098"/>
            </a:srgbClr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572000" y="1645920"/>
            <a:ext cx="3656880" cy="3199680"/>
          </a:xfrm>
          <a:prstGeom prst="ellipse">
            <a:avLst/>
          </a:prstGeom>
          <a:solidFill>
            <a:srgbClr val="DDF5EE">
              <a:alpha val="80000"/>
            </a:srgbClr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7040880" y="1645920"/>
            <a:ext cx="3016800" cy="3199680"/>
          </a:xfrm>
          <a:prstGeom prst="ellipse">
            <a:avLst/>
          </a:prstGeom>
          <a:solidFill>
            <a:srgbClr val="F4EAFE">
              <a:alpha val="80000"/>
            </a:srgbClr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855880" y="2034360"/>
            <a:ext cx="18280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Statistics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349240" y="1874520"/>
            <a:ext cx="18280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scale</a:t>
            </a:r>
            <a:br/>
            <a:r>
              <a:t>variance</a:t>
            </a:r>
            <a:br/>
            <a:r>
              <a:t>outliers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7909560" y="1874520"/>
            <a:ext cx="13708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Machine</a:t>
            </a:r>
            <a:br/>
            <a:r>
              <a:t>Learning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2560320" y="2880360"/>
            <a:ext cx="1645200" cy="100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distance</a:t>
            </a:r>
            <a:br/>
            <a:r>
              <a:t>optimization</a:t>
            </a:r>
            <a:br/>
            <a:r>
              <a:t>generalization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394960" y="2880360"/>
            <a:ext cx="1645200" cy="100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Data</a:t>
            </a:r>
            <a:br/>
            <a:r>
              <a:t>Science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7955280" y="2880360"/>
            <a:ext cx="1370880" cy="100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pipelines</a:t>
            </a:r>
            <a:br/>
            <a:r>
              <a:t>visualization</a:t>
            </a:r>
            <a:br/>
            <a:r>
              <a:t>communication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783080" y="4982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Preprocessing is where measurement meaning becomes model geometry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6173280" y="65440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Machine Learning for Bioinformatics · Lecture 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"/>
          <p:cNvSpPr txBox="1"/>
          <p:nvPr>
            <p:ph type="title"/>
          </p:nvPr>
        </p:nvSpPr>
        <p:spPr>
          <a:xfrm>
            <a:off x="415440" y="992880"/>
            <a:ext cx="11360520" cy="273672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t/>
            </a:r>
            <a:endParaRPr b="0" sz="6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"/>
          <p:cNvSpPr txBox="1"/>
          <p:nvPr>
            <p:ph idx="1" type="subTitle"/>
          </p:nvPr>
        </p:nvSpPr>
        <p:spPr>
          <a:xfrm>
            <a:off x="415440" y="3778920"/>
            <a:ext cx="1136052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 txBox="1"/>
          <p:nvPr>
            <p:ph type="title"/>
          </p:nvPr>
        </p:nvSpPr>
        <p:spPr>
          <a:xfrm>
            <a:off x="889200" y="2752560"/>
            <a:ext cx="891036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t>2. Scale, units, and distributions</a:t>
            </a:r>
            <a:br/>
            <a:br/>
            <a:r>
              <a:t>The same biological signal can look different after a change of scale.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3" name="Google Shape;3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6350" y="2016025"/>
            <a:ext cx="3105650" cy="31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15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5"/>
          <p:cNvSpPr/>
          <p:nvPr/>
        </p:nvSpPr>
        <p:spPr>
          <a:xfrm>
            <a:off x="1783080" y="393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preprocessing transformation changes the representation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822960" y="1828800"/>
            <a:ext cx="2833920" cy="2285280"/>
          </a:xfrm>
          <a:prstGeom prst="roundRect">
            <a:avLst>
              <a:gd fmla="val 16667" name="adj"/>
            </a:avLst>
          </a:prstGeom>
          <a:solidFill>
            <a:srgbClr val="EAF8F5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005840" y="2057400"/>
            <a:ext cx="2468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X_raw</a:t>
            </a:r>
            <a:endParaRPr b="0" sz="3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097280" y="2743200"/>
            <a:ext cx="2285280" cy="91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measured features</a:t>
            </a:r>
            <a:br/>
            <a:r>
              <a:t>units and technical scale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069080" y="2377440"/>
            <a:ext cx="1370880" cy="1005120"/>
          </a:xfrm>
          <a:prstGeom prst="chevron">
            <a:avLst>
              <a:gd fmla="val 50000" name="adj"/>
            </a:avLst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133160" y="2724840"/>
            <a:ext cx="114228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TRANSFORM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5852160" y="1828800"/>
            <a:ext cx="2285280" cy="2285280"/>
          </a:xfrm>
          <a:prstGeom prst="roundRect">
            <a:avLst>
              <a:gd fmla="val 16667" name="adj"/>
            </a:avLst>
          </a:prstGeom>
          <a:solidFill>
            <a:srgbClr val="EEF3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6080760" y="2057400"/>
            <a:ext cx="1828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X'</a:t>
            </a:r>
            <a:endParaRPr b="0" sz="3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6126480" y="2788920"/>
            <a:ext cx="173664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model-ready features</a:t>
            </a:r>
            <a:br/>
            <a:r>
              <a:t>comparable geometry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8732520" y="1828800"/>
            <a:ext cx="2285280" cy="2285280"/>
          </a:xfrm>
          <a:prstGeom prst="roundRect">
            <a:avLst>
              <a:gd fmla="val 16667" name="adj"/>
            </a:avLst>
          </a:prstGeom>
          <a:solidFill>
            <a:srgbClr val="FFF5D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8961120" y="2057400"/>
            <a:ext cx="1828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Why transform?</a:t>
            </a:r>
            <a:endParaRPr b="0" sz="3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9006840" y="2788920"/>
            <a:ext cx="173664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To make a modelling assumption reasonable, not to make the data look nicer.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280160" y="4892040"/>
            <a:ext cx="96004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Every transformation should have a documented purpose and a leakage-safe fit.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 txBox="1"/>
          <p:nvPr>
            <p:ph idx="1" type="subTitle"/>
          </p:nvPr>
        </p:nvSpPr>
        <p:spPr>
          <a:xfrm>
            <a:off x="415440" y="3778920"/>
            <a:ext cx="1136052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16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/>
          <p:nvPr/>
        </p:nvSpPr>
        <p:spPr>
          <a:xfrm>
            <a:off x="1783080" y="8917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feature matrix carries units and assumptions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0" name="Google Shape;420;p16"/>
          <p:cNvGraphicFramePr/>
          <p:nvPr/>
        </p:nvGraphicFramePr>
        <p:xfrm>
          <a:off x="929880" y="194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{07365123-8FFC-4B15-8C80-808CB802743D}</a:tableStyleId>
              </a:tblPr>
              <a:tblGrid>
                <a:gridCol w="1316525"/>
                <a:gridCol w="1316525"/>
                <a:gridCol w="1316525"/>
                <a:gridCol w="1316525"/>
                <a:gridCol w="13172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Observation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Feature_A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Feature_B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Feature_C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1" name="Google Shape;421;p16"/>
          <p:cNvSpPr/>
          <p:nvPr/>
        </p:nvSpPr>
        <p:spPr>
          <a:xfrm>
            <a:off x="8245080" y="2171880"/>
            <a:ext cx="22852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Observation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8245080" y="2583360"/>
            <a:ext cx="2925360" cy="86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One patient, sample, mouse, or experimental unit per row.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8245080" y="3680640"/>
            <a:ext cx="22852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Feature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8245080" y="4092120"/>
            <a:ext cx="27424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One measured variable per column, with a known unit and meaning.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8245080" y="4960800"/>
            <a:ext cx="22852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Target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8245080" y="5372280"/>
            <a:ext cx="27424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outcome defined by the biological question, kept separate from X.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6"/>
          <p:cNvSpPr txBox="1"/>
          <p:nvPr>
            <p:ph idx="1" type="subTitle"/>
          </p:nvPr>
        </p:nvSpPr>
        <p:spPr>
          <a:xfrm>
            <a:off x="415440" y="3778920"/>
            <a:ext cx="1136052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17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7"/>
          <p:cNvSpPr/>
          <p:nvPr/>
        </p:nvSpPr>
        <p:spPr>
          <a:xfrm>
            <a:off x="1783080" y="4755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Models see geometry, not laboratory context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777240" y="132588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Small values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17"/>
          <p:cNvCxnSpPr/>
          <p:nvPr/>
        </p:nvCxnSpPr>
        <p:spPr>
          <a:xfrm>
            <a:off x="2560320" y="144468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7" name="Google Shape;437;p17"/>
          <p:cNvSpPr/>
          <p:nvPr/>
        </p:nvSpPr>
        <p:spPr>
          <a:xfrm>
            <a:off x="3246120" y="132588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feature with a narrow numerical range can appear unimportant to a distance-based model.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8732520" y="128016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778240" y="136260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large scale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777240" y="203904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BMI / age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17"/>
          <p:cNvCxnSpPr/>
          <p:nvPr/>
        </p:nvCxnSpPr>
        <p:spPr>
          <a:xfrm>
            <a:off x="2560320" y="215784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7"/>
          <p:cNvSpPr/>
          <p:nvPr/>
        </p:nvSpPr>
        <p:spPr>
          <a:xfrm>
            <a:off x="3246120" y="203904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feature with large units can dominate distances or optimization steps.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8732520" y="199332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8778240" y="207576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centered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777240" y="275220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expression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7"/>
          <p:cNvCxnSpPr/>
          <p:nvPr/>
        </p:nvCxnSpPr>
        <p:spPr>
          <a:xfrm>
            <a:off x="2560320" y="287100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7" name="Google Shape;447;p17"/>
          <p:cNvSpPr/>
          <p:nvPr/>
        </p:nvSpPr>
        <p:spPr>
          <a:xfrm>
            <a:off x="3246120" y="275220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Centering changes the reference point; scaling changes the unit of variation.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8732520" y="270648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8778240" y="278892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scaled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777240" y="346572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protein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17"/>
          <p:cNvCxnSpPr/>
          <p:nvPr/>
        </p:nvCxnSpPr>
        <p:spPr>
          <a:xfrm>
            <a:off x="2560320" y="358416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17"/>
          <p:cNvSpPr/>
          <p:nvPr/>
        </p:nvSpPr>
        <p:spPr>
          <a:xfrm>
            <a:off x="3246120" y="346572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right representation depends on the assay and the model.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8732520" y="342000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8778240" y="350208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units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777240" y="417888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measurement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17"/>
          <p:cNvCxnSpPr/>
          <p:nvPr/>
        </p:nvCxnSpPr>
        <p:spPr>
          <a:xfrm>
            <a:off x="2560320" y="429768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7" name="Google Shape;457;p17"/>
          <p:cNvSpPr/>
          <p:nvPr/>
        </p:nvSpPr>
        <p:spPr>
          <a:xfrm>
            <a:off x="3246120" y="417888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Do not remove scientific meaning while making values numerically convenient.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8732520" y="413316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8778240" y="421524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context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777240" y="489204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biology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17"/>
          <p:cNvCxnSpPr/>
          <p:nvPr/>
        </p:nvCxnSpPr>
        <p:spPr>
          <a:xfrm>
            <a:off x="2560320" y="501084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2" name="Google Shape;462;p17"/>
          <p:cNvSpPr/>
          <p:nvPr/>
        </p:nvSpPr>
        <p:spPr>
          <a:xfrm>
            <a:off x="3246120" y="489204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transformed feature must remain traceable to its original measurement.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8732520" y="484632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778240" y="492876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audit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542600" y="5760000"/>
            <a:ext cx="96008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record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7" name="Google Shape;467;p17"/>
          <p:cNvPicPr preferRelativeResize="0"/>
          <p:nvPr/>
        </p:nvPicPr>
        <p:blipFill rotWithShape="1">
          <a:blip r:embed="rId4">
            <a:alphaModFix/>
          </a:blip>
          <a:srcRect b="0" l="20892" r="57181" t="0"/>
          <a:stretch/>
        </p:blipFill>
        <p:spPr>
          <a:xfrm>
            <a:off x="6571250" y="1820975"/>
            <a:ext cx="16708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7"/>
          <p:cNvPicPr preferRelativeResize="0"/>
          <p:nvPr/>
        </p:nvPicPr>
        <p:blipFill rotWithShape="1">
          <a:blip r:embed="rId4">
            <a:alphaModFix/>
          </a:blip>
          <a:srcRect b="-2310" l="41193" r="34817" t="2310"/>
          <a:stretch/>
        </p:blipFill>
        <p:spPr>
          <a:xfrm>
            <a:off x="6492638" y="1602125"/>
            <a:ext cx="1828076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7"/>
          <p:cNvPicPr preferRelativeResize="0"/>
          <p:nvPr/>
        </p:nvPicPr>
        <p:blipFill rotWithShape="1">
          <a:blip r:embed="rId4">
            <a:alphaModFix/>
          </a:blip>
          <a:srcRect b="-2310" l="64154" r="1534" t="2310"/>
          <a:stretch/>
        </p:blipFill>
        <p:spPr>
          <a:xfrm>
            <a:off x="5961763" y="1573425"/>
            <a:ext cx="2614676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7"/>
          <p:cNvPicPr preferRelativeResize="0"/>
          <p:nvPr/>
        </p:nvPicPr>
        <p:blipFill rotWithShape="1">
          <a:blip r:embed="rId5">
            <a:alphaModFix/>
          </a:blip>
          <a:srcRect b="0" l="0" r="47553" t="0"/>
          <a:stretch/>
        </p:blipFill>
        <p:spPr>
          <a:xfrm>
            <a:off x="5961775" y="1725425"/>
            <a:ext cx="2614675" cy="340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7"/>
          <p:cNvPicPr preferRelativeResize="0"/>
          <p:nvPr/>
        </p:nvPicPr>
        <p:blipFill rotWithShape="1">
          <a:blip r:embed="rId6">
            <a:alphaModFix/>
          </a:blip>
          <a:srcRect b="0" l="0" r="60237" t="11598"/>
          <a:stretch/>
        </p:blipFill>
        <p:spPr>
          <a:xfrm>
            <a:off x="5961779" y="1526409"/>
            <a:ext cx="2507074" cy="4003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6"/>
          <p:cNvSpPr txBox="1"/>
          <p:nvPr>
            <p:ph type="title"/>
          </p:nvPr>
        </p:nvSpPr>
        <p:spPr>
          <a:xfrm>
            <a:off x="889200" y="2752549"/>
            <a:ext cx="89103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t>3. What can preprocessing do — and not do?</a:t>
            </a:r>
            <a:br/>
            <a:br/>
            <a:r>
              <a:t>It can control representation and reduce avoidable technical problems. It cannot repair a poor study design.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6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8" name="Google Shape;478;p26"/>
          <p:cNvPicPr preferRelativeResize="0"/>
          <p:nvPr/>
        </p:nvPicPr>
        <p:blipFill rotWithShape="1">
          <a:blip r:embed="rId3">
            <a:alphaModFix/>
          </a:blip>
          <a:srcRect b="11987" l="0" r="0" t="14021"/>
          <a:stretch/>
        </p:blipFill>
        <p:spPr>
          <a:xfrm>
            <a:off x="7698125" y="2269375"/>
            <a:ext cx="4493875" cy="24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"/>
          <p:cNvSpPr/>
          <p:nvPr/>
        </p:nvSpPr>
        <p:spPr>
          <a:xfrm>
            <a:off x="1783080" y="555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Four recurring preprocessing questions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777240" y="141732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777240" y="1417320"/>
            <a:ext cx="49827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941760" y="161856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Scaling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941760" y="207576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Should features be centered or put on comparable variance?</a:t>
            </a:r>
            <a:br/>
            <a:r>
              <a:t>Example: StandardScaler before a distance-based model.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355080" y="141732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6355080" y="1417320"/>
            <a:ext cx="49827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6519600" y="161856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Normalization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6519600" y="207576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Should measurements be made comparable within an assay?</a:t>
            </a:r>
            <a:br/>
            <a:r>
              <a:t>Example: sample or library-size normalization.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77240" y="365760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777240" y="3657600"/>
            <a:ext cx="498276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941760" y="385884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Missing values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941760" y="431604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is missing, why is it missing, and should it be removed or imputed?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6355080" y="365760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6355080" y="3657600"/>
            <a:ext cx="498276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6519600" y="385884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Outliers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6519600" y="431604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Is an extreme value biology, a technical failure, or a valid rare observation?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8"/>
          <p:cNvSpPr/>
          <p:nvPr/>
        </p:nvSpPr>
        <p:spPr>
          <a:xfrm>
            <a:off x="1783080" y="4878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Preprocessing depends on the learning setting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685800" y="1417320"/>
            <a:ext cx="347400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685800" y="1417320"/>
            <a:ext cx="34740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85032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Training data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850320" y="2075760"/>
            <a:ext cx="314496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Fit the scaler, imputer, selector, or transformation using training observations only.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4370760" y="1417320"/>
            <a:ext cx="347400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4370760" y="1417320"/>
            <a:ext cx="34740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453528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Validation / test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4535280" y="2075760"/>
            <a:ext cx="314496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Apply the already-fitted transformation. Never allow held-out values to determine it.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8055720" y="1417320"/>
            <a:ext cx="347400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8055720" y="1417320"/>
            <a:ext cx="34740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822060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Unsupervised exploration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8220600" y="2075760"/>
            <a:ext cx="314496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PCA and visualizations can use all data for description, but predictive evaluation still needs a clean split.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8"/>
          <p:cNvSpPr txBox="1"/>
          <p:nvPr>
            <p:ph type="title"/>
          </p:nvPr>
        </p:nvSpPr>
        <p:spPr>
          <a:xfrm>
            <a:off x="889200" y="2752550"/>
            <a:ext cx="7527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t>4. Biological examples</a:t>
            </a:r>
            <a:br/>
            <a:br/>
            <a:r>
              <a:t>A preprocessing decision depends on how the measurement was generated.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5" name="Google Shape;5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1300" y="1037700"/>
            <a:ext cx="3470700" cy="465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19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9"/>
          <p:cNvSpPr/>
          <p:nvPr/>
        </p:nvSpPr>
        <p:spPr>
          <a:xfrm>
            <a:off x="1783080" y="555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preprocessing choice depends on the assay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777240" y="12801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777240" y="1280160"/>
            <a:ext cx="50742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941760" y="14814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Clinical / tabular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941760" y="19386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Units, ranges, missingness, skew, and clinically impossible values.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400800" y="12801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6400800" y="1280160"/>
            <a:ext cx="50742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6565320" y="14814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Omics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6565320" y="19386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Library size, normalization, batch, p ≫ n, and feature filtering.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777240" y="28803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777240" y="2880360"/>
            <a:ext cx="50742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941760" y="30816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Plate-based assays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941760" y="35388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Controls, well position, plate effects, detection limits, and drift.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6400800" y="28803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6400800" y="2880360"/>
            <a:ext cx="50742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565320" y="30816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Repeated measurements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6565320" y="35388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Subject-level grouping and time order can matter more than a random row split.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777240" y="44805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777240" y="4480560"/>
            <a:ext cx="50742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941760" y="46818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Derived features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941760" y="51390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Document formulas, reference populations, and whether the derivation uses the target.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6400800" y="44805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6400800" y="4480560"/>
            <a:ext cx="50742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6565320" y="46818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pipeline must preserve biological provenance while changing numerical representation.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6565320" y="51390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9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20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0"/>
          <p:cNvSpPr/>
          <p:nvPr/>
        </p:nvSpPr>
        <p:spPr>
          <a:xfrm>
            <a:off x="1783080" y="3837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Week 2 example: scikit-learn Diabetes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850320" y="1489320"/>
            <a:ext cx="5211360" cy="3382560"/>
          </a:xfrm>
          <a:prstGeom prst="roundRect">
            <a:avLst>
              <a:gd fmla="val 16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850320" y="1417320"/>
            <a:ext cx="52113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850320" y="1618560"/>
            <a:ext cx="4882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Quantitative tabular data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850320" y="2075760"/>
            <a:ext cx="4882320" cy="25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442 observations · 10 baseline features · continuous disease-progression target</a:t>
            </a:r>
            <a:br/>
            <a:br/>
            <a:r>
              <a:t>Features include age, sex, body-mass index, blood pressure, and six blood-serum measurements.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6428160" y="1618560"/>
            <a:ext cx="4882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8" name="Google Shape;568;p20"/>
          <p:cNvGraphicFramePr/>
          <p:nvPr/>
        </p:nvGraphicFramePr>
        <p:xfrm>
          <a:off x="61956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{07365123-8FFC-4B15-8C80-808CB802743D}</a:tableStyleId>
              </a:tblPr>
              <a:tblGrid>
                <a:gridCol w="1296725"/>
                <a:gridCol w="1033925"/>
                <a:gridCol w="1165325"/>
                <a:gridCol w="1165325"/>
                <a:gridCol w="1166050"/>
              </a:tblGrid>
              <a:tr h="96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Observation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Feature_A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Feature_B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Feature_C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9" name="Google Shape;569;p2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21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1"/>
          <p:cNvSpPr/>
          <p:nvPr/>
        </p:nvSpPr>
        <p:spPr>
          <a:xfrm>
            <a:off x="1783080" y="3650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Omics data: scale is part of the problem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652680" y="1543320"/>
            <a:ext cx="5211360" cy="3382560"/>
          </a:xfrm>
          <a:prstGeom prst="roundRect">
            <a:avLst>
              <a:gd fmla="val 16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652680" y="1543320"/>
            <a:ext cx="52113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850320" y="1744560"/>
            <a:ext cx="4882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High-dimensional matrix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850320" y="2201760"/>
            <a:ext cx="4882320" cy="25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Many measured variables, often with p much larger than n.</a:t>
            </a:r>
            <a:br/>
            <a:br/>
            <a:r>
              <a:t>Feature filtering, normalization, scaling, and regularization can all change the geometry used by the model.</a:t>
            </a:r>
            <a:endParaRPr sz="1200" u="none" strike="noStrike">
              <a:solidFill>
                <a:schemeClr val="dk2"/>
              </a:solidFill>
            </a:endParaRPr>
          </a:p>
        </p:txBody>
      </p:sp>
      <p:sp>
        <p:nvSpPr>
          <p:cNvPr id="580" name="Google Shape;580;p2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1" name="Google Shape;581;p21"/>
          <p:cNvPicPr preferRelativeResize="0"/>
          <p:nvPr/>
        </p:nvPicPr>
        <p:blipFill rotWithShape="1">
          <a:blip r:embed="rId4">
            <a:alphaModFix/>
          </a:blip>
          <a:srcRect b="0" l="8539" r="3520" t="12369"/>
          <a:stretch/>
        </p:blipFill>
        <p:spPr>
          <a:xfrm>
            <a:off x="6602400" y="1114200"/>
            <a:ext cx="5211360" cy="469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22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/>
          <p:nvPr/>
        </p:nvSpPr>
        <p:spPr>
          <a:xfrm>
            <a:off x="1783080" y="4572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Assays and plates: technical structure can mimic biology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7920" y="1018080"/>
            <a:ext cx="4821480" cy="482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2"/>
          <p:cNvSpPr/>
          <p:nvPr/>
        </p:nvSpPr>
        <p:spPr>
          <a:xfrm>
            <a:off x="850325" y="1566349"/>
            <a:ext cx="5074200" cy="26880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850320" y="1566360"/>
            <a:ext cx="50742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850320" y="17676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plate, well, instrument, or processing batch can shift measurements.</a:t>
            </a:r>
            <a:br/>
            <a:br/>
            <a:r>
              <a:t>Before correcting or removing the signal, ask whether it is a confounder, a design factor, or the target of interest.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850320" y="217944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u="none" strike="noStrike">
              <a:solidFill>
                <a:schemeClr val="dk2"/>
              </a:solidFill>
            </a:endParaRPr>
          </a:p>
        </p:txBody>
      </p:sp>
      <p:sp>
        <p:nvSpPr>
          <p:cNvPr id="593" name="Google Shape;593;p2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2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3"/>
          <p:cNvSpPr/>
          <p:nvPr/>
        </p:nvSpPr>
        <p:spPr>
          <a:xfrm>
            <a:off x="1783080" y="4161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Repeated measurements are not automatically independent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685800" y="1417320"/>
            <a:ext cx="3474000" cy="356544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685800" y="1417320"/>
            <a:ext cx="34740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85032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Rows may represent visits, technical replicates, or pseudo-replicates from the same biological unit.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850320" y="207576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If the question is generalization to a new subject or sample, split by that subject or sample before fitting preprocessing steps.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5" name="Google Shape;6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0440" y="543960"/>
            <a:ext cx="6831360" cy="557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24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4"/>
          <p:cNvSpPr/>
          <p:nvPr/>
        </p:nvSpPr>
        <p:spPr>
          <a:xfrm>
            <a:off x="1783080" y="4431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Normalization is not one thing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850320" y="207576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685800" y="1315080"/>
            <a:ext cx="3474000" cy="356544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685800" y="1315080"/>
            <a:ext cx="34740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850320" y="151632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Feature scaling</a:t>
            </a:r>
            <a:br/>
            <a:r>
              <a:t>Makes columns comparable for a model.</a:t>
            </a:r>
            <a:br/>
            <a:br/>
            <a:r>
              <a:t>Sample normalization</a:t>
            </a:r>
            <a:br/>
            <a:r>
              <a:t>Makes measurements comparable within an assay.</a:t>
            </a:r>
            <a:br/>
            <a:br/>
            <a:r>
              <a:t>Batch correction</a:t>
            </a:r>
            <a:br/>
            <a:r>
              <a:t>Attempts to separate technical and biological variation.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850320" y="197352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These operations answer different scientific questions. They should not be substituted for one another without justification.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4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8" name="Google Shape;618;p24"/>
          <p:cNvPicPr preferRelativeResize="0"/>
          <p:nvPr/>
        </p:nvPicPr>
        <p:blipFill rotWithShape="1">
          <a:blip r:embed="rId4">
            <a:alphaModFix/>
          </a:blip>
          <a:srcRect b="31808" l="5562" r="4118" t="0"/>
          <a:stretch/>
        </p:blipFill>
        <p:spPr>
          <a:xfrm>
            <a:off x="4272480" y="2124720"/>
            <a:ext cx="7857000" cy="266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25"/>
          <p:cNvPicPr preferRelativeResize="0"/>
          <p:nvPr/>
        </p:nvPicPr>
        <p:blipFill rotWithShape="1">
          <a:blip r:embed="rId4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5"/>
          <p:cNvSpPr/>
          <p:nvPr/>
        </p:nvSpPr>
        <p:spPr>
          <a:xfrm>
            <a:off x="1783080" y="447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Regularization and feature selection address high-dimensionality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850320" y="1580760"/>
            <a:ext cx="3474000" cy="356544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850320" y="1580760"/>
            <a:ext cx="34740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850320" y="178200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Feature selection + regularization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850320" y="223920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Feature selection restricts the model to a subset of variables. The selection rule must be fitted inside the training data.</a:t>
            </a:r>
            <a:br/>
            <a:br/>
            <a:r>
              <a:t>Regularization penalizes model complexity so unstable or unnecessary coefficients are shrunk toward zero.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0" name="Google Shape;630;p25"/>
          <p:cNvPicPr preferRelativeResize="0"/>
          <p:nvPr/>
        </p:nvPicPr>
        <p:blipFill rotWithShape="1">
          <a:blip r:embed="rId5">
            <a:alphaModFix/>
          </a:blip>
          <a:srcRect b="49653" l="0" r="0" t="0"/>
          <a:stretch/>
        </p:blipFill>
        <p:spPr>
          <a:xfrm>
            <a:off x="4824360" y="1728720"/>
            <a:ext cx="7039080" cy="265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9"/>
          <p:cNvSpPr txBox="1"/>
          <p:nvPr>
            <p:ph type="title"/>
          </p:nvPr>
        </p:nvSpPr>
        <p:spPr>
          <a:xfrm>
            <a:off x="889200" y="2752560"/>
            <a:ext cx="891036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t>5. A leakage-safe quantitative workflow</a:t>
            </a:r>
            <a:br/>
            <a:br/>
            <a:r>
              <a:t>The order of operations is part of the method.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9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7" name="Google Shape;6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5446" y="1503421"/>
            <a:ext cx="3516551" cy="35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0"/>
          <p:cNvSpPr/>
          <p:nvPr/>
        </p:nvSpPr>
        <p:spPr>
          <a:xfrm>
            <a:off x="788652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Evaluate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30"/>
          <p:cNvCxnSpPr/>
          <p:nvPr/>
        </p:nvCxnSpPr>
        <p:spPr>
          <a:xfrm>
            <a:off x="881892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4" name="Google Shape;644;p30"/>
          <p:cNvSpPr/>
          <p:nvPr/>
        </p:nvSpPr>
        <p:spPr>
          <a:xfrm>
            <a:off x="1783080" y="7128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leakage-safe preprocessing workflow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0"/>
          <p:cNvSpPr/>
          <p:nvPr/>
        </p:nvSpPr>
        <p:spPr>
          <a:xfrm>
            <a:off x="138060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18A99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148572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Data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p30"/>
          <p:cNvCxnSpPr>
            <a:stCxn id="645" idx="3"/>
            <a:endCxn id="648" idx="1"/>
          </p:cNvCxnSpPr>
          <p:nvPr/>
        </p:nvCxnSpPr>
        <p:spPr>
          <a:xfrm>
            <a:off x="2340000" y="3359700"/>
            <a:ext cx="360000" cy="0"/>
          </a:xfrm>
          <a:prstGeom prst="straightConnector1">
            <a:avLst/>
          </a:prstGeom>
          <a:noFill/>
          <a:ln cap="flat" cmpd="sng" w="27925">
            <a:solidFill>
              <a:srgbClr val="18A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8" name="Google Shape;648;p30"/>
          <p:cNvSpPr/>
          <p:nvPr/>
        </p:nvSpPr>
        <p:spPr>
          <a:xfrm>
            <a:off x="2700000" y="2880000"/>
            <a:ext cx="1080000" cy="959400"/>
          </a:xfrm>
          <a:prstGeom prst="roundRect">
            <a:avLst>
              <a:gd fmla="val 16667" name="adj"/>
            </a:avLst>
          </a:prstGeom>
          <a:solidFill>
            <a:srgbClr val="18A99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2765880" y="3218400"/>
            <a:ext cx="101412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Inspect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30"/>
          <p:cNvCxnSpPr/>
          <p:nvPr/>
        </p:nvCxnSpPr>
        <p:spPr>
          <a:xfrm>
            <a:off x="378000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18A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1" name="Google Shape;651;p30"/>
          <p:cNvSpPr/>
          <p:nvPr/>
        </p:nvSpPr>
        <p:spPr>
          <a:xfrm>
            <a:off x="400032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404604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Split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30"/>
          <p:cNvCxnSpPr/>
          <p:nvPr/>
        </p:nvCxnSpPr>
        <p:spPr>
          <a:xfrm>
            <a:off x="497844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4" name="Google Shape;654;p30"/>
          <p:cNvSpPr/>
          <p:nvPr/>
        </p:nvSpPr>
        <p:spPr>
          <a:xfrm>
            <a:off x="528048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532620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Fit preprocess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6" name="Google Shape;656;p30"/>
          <p:cNvCxnSpPr/>
          <p:nvPr/>
        </p:nvCxnSpPr>
        <p:spPr>
          <a:xfrm>
            <a:off x="625860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7" name="Google Shape;657;p30"/>
          <p:cNvSpPr/>
          <p:nvPr/>
        </p:nvSpPr>
        <p:spPr>
          <a:xfrm>
            <a:off x="656064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660636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Train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30"/>
          <p:cNvCxnSpPr/>
          <p:nvPr/>
        </p:nvCxnSpPr>
        <p:spPr>
          <a:xfrm>
            <a:off x="753876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0" name="Google Shape;660;p30"/>
          <p:cNvSpPr/>
          <p:nvPr/>
        </p:nvSpPr>
        <p:spPr>
          <a:xfrm>
            <a:off x="784080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788652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Diagnose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30"/>
          <p:cNvCxnSpPr/>
          <p:nvPr/>
        </p:nvCxnSpPr>
        <p:spPr>
          <a:xfrm>
            <a:off x="881892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3" name="Google Shape;663;p30"/>
          <p:cNvSpPr/>
          <p:nvPr/>
        </p:nvSpPr>
        <p:spPr>
          <a:xfrm>
            <a:off x="912096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916668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Evaluate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5" name="Google Shape;665;p30"/>
          <p:cNvCxnSpPr/>
          <p:nvPr/>
        </p:nvCxnSpPr>
        <p:spPr>
          <a:xfrm>
            <a:off x="1009908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6" name="Google Shape;666;p30"/>
          <p:cNvSpPr/>
          <p:nvPr/>
        </p:nvSpPr>
        <p:spPr>
          <a:xfrm>
            <a:off x="1040112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1044684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Interpret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"/>
          <p:cNvSpPr/>
          <p:nvPr/>
        </p:nvSpPr>
        <p:spPr>
          <a:xfrm>
            <a:off x="1783080" y="4878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Why quantitative biological ML is different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731520" y="141732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731520" y="1417320"/>
            <a:ext cx="32454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89604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Small 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896040" y="207576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The number of observations may be small relative to the number of measured variables.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1"/>
          <p:cNvSpPr/>
          <p:nvPr/>
        </p:nvSpPr>
        <p:spPr>
          <a:xfrm>
            <a:off x="4480560" y="141732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4480560" y="1417320"/>
            <a:ext cx="32454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464508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Mixed scales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4645080" y="207576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Age, concentration, intensity, and counts can have very different numerical geometry.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8229600" y="141732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8229600" y="1417320"/>
            <a:ext cx="32454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839412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Missingness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8394120" y="207576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Missing values may reflect technical limits or biological selection, not random noise.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1"/>
          <p:cNvSpPr/>
          <p:nvPr/>
        </p:nvSpPr>
        <p:spPr>
          <a:xfrm>
            <a:off x="731520" y="361188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731520" y="3611880"/>
            <a:ext cx="32454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896040" y="381312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Outliers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896040" y="427032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Rare biology and technical failure can look identical in a summary table.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4480560" y="361188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4480560" y="3611880"/>
            <a:ext cx="32454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4645080" y="381312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Confounding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4645080" y="427032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Batch, site, plate, and cohort can be associated with the target.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8229600" y="361188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8229600" y="3611880"/>
            <a:ext cx="32454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8394120" y="381312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Leakage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8394120" y="427032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correct-looking transformation can still use information from the held-out data.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2"/>
          <p:cNvSpPr/>
          <p:nvPr/>
        </p:nvSpPr>
        <p:spPr>
          <a:xfrm>
            <a:off x="1783080" y="457200"/>
            <a:ext cx="95734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preprocessing pipeline can be wrong even when the code runs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2"/>
          <p:cNvSpPr/>
          <p:nvPr/>
        </p:nvSpPr>
        <p:spPr>
          <a:xfrm>
            <a:off x="914400" y="1325880"/>
            <a:ext cx="1024056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2"/>
          <p:cNvSpPr/>
          <p:nvPr/>
        </p:nvSpPr>
        <p:spPr>
          <a:xfrm>
            <a:off x="822960" y="2057400"/>
            <a:ext cx="4799880" cy="246816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2"/>
          <p:cNvSpPr/>
          <p:nvPr/>
        </p:nvSpPr>
        <p:spPr>
          <a:xfrm>
            <a:off x="822960" y="2057400"/>
            <a:ext cx="479988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2"/>
          <p:cNvSpPr/>
          <p:nvPr/>
        </p:nvSpPr>
        <p:spPr>
          <a:xfrm>
            <a:off x="987480" y="2258640"/>
            <a:ext cx="44708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Leaky sequence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2"/>
          <p:cNvSpPr/>
          <p:nvPr/>
        </p:nvSpPr>
        <p:spPr>
          <a:xfrm>
            <a:off x="987480" y="2715840"/>
            <a:ext cx="4470840" cy="166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1. Impute or scale the full dataset</a:t>
            </a:r>
            <a:br/>
            <a:r>
              <a:t>2. Split into train and test</a:t>
            </a:r>
            <a:br/>
            <a:r>
              <a:t>3. Fit the model</a:t>
            </a:r>
            <a:br/>
            <a:br/>
            <a:r>
              <a:t>The held-out data influenced the representation.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6537960" y="2057400"/>
            <a:ext cx="4799880" cy="246816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6537960" y="2057400"/>
            <a:ext cx="479988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2"/>
          <p:cNvSpPr/>
          <p:nvPr/>
        </p:nvSpPr>
        <p:spPr>
          <a:xfrm>
            <a:off x="6702480" y="2258640"/>
            <a:ext cx="44708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Safe sequence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2"/>
          <p:cNvSpPr/>
          <p:nvPr/>
        </p:nvSpPr>
        <p:spPr>
          <a:xfrm>
            <a:off x="6702480" y="2715840"/>
            <a:ext cx="4470840" cy="166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1. Split at the biological unit</a:t>
            </a:r>
            <a:br/>
            <a:r>
              <a:t>2. Fit preprocessing on training data</a:t>
            </a:r>
            <a:br/>
            <a:r>
              <a:t>3. Transform train and test</a:t>
            </a:r>
            <a:br/>
            <a:r>
              <a:t>4. Fit and evaluate the model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914400" y="5166360"/>
            <a:ext cx="103320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Put learned preprocessing and the estimator in one reproducible pipeline.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3"/>
          <p:cNvSpPr/>
          <p:nvPr/>
        </p:nvSpPr>
        <p:spPr>
          <a:xfrm>
            <a:off x="1105560" y="17348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Next: Practical 2 — quantitative preprocessing with Diabetes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3"/>
          <p:cNvSpPr/>
          <p:nvPr/>
        </p:nvSpPr>
        <p:spPr>
          <a:xfrm>
            <a:off x="1425600" y="2694960"/>
            <a:ext cx="1024056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We will move from measurement descriptions to a leakage-safe regression workflow.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3"/>
          <p:cNvSpPr/>
          <p:nvPr/>
        </p:nvSpPr>
        <p:spPr>
          <a:xfrm>
            <a:off x="115128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3"/>
          <p:cNvSpPr/>
          <p:nvPr/>
        </p:nvSpPr>
        <p:spPr>
          <a:xfrm>
            <a:off x="124272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Inspect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3"/>
          <p:cNvSpPr/>
          <p:nvPr/>
        </p:nvSpPr>
        <p:spPr>
          <a:xfrm>
            <a:off x="126108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Shapes · types · units · distributions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3"/>
          <p:cNvSpPr/>
          <p:nvPr/>
        </p:nvSpPr>
        <p:spPr>
          <a:xfrm>
            <a:off x="302580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311724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Split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3"/>
          <p:cNvSpPr/>
          <p:nvPr/>
        </p:nvSpPr>
        <p:spPr>
          <a:xfrm>
            <a:off x="313560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Define the evaluation question before fitting transformations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3"/>
          <p:cNvSpPr/>
          <p:nvPr/>
        </p:nvSpPr>
        <p:spPr>
          <a:xfrm>
            <a:off x="490032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3"/>
          <p:cNvSpPr/>
          <p:nvPr/>
        </p:nvSpPr>
        <p:spPr>
          <a:xfrm>
            <a:off x="499176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Preprocess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3"/>
          <p:cNvSpPr/>
          <p:nvPr/>
        </p:nvSpPr>
        <p:spPr>
          <a:xfrm>
            <a:off x="501012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Scaling · missing values · outliers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3"/>
          <p:cNvSpPr/>
          <p:nvPr/>
        </p:nvSpPr>
        <p:spPr>
          <a:xfrm>
            <a:off x="677484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3"/>
          <p:cNvSpPr/>
          <p:nvPr/>
        </p:nvSpPr>
        <p:spPr>
          <a:xfrm>
            <a:off x="686628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Model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3"/>
          <p:cNvSpPr/>
          <p:nvPr/>
        </p:nvSpPr>
        <p:spPr>
          <a:xfrm>
            <a:off x="688464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Baseline regression · regularization</a:t>
            </a:r>
            <a:endParaRPr b="0" sz="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864936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3"/>
          <p:cNvSpPr/>
          <p:nvPr/>
        </p:nvSpPr>
        <p:spPr>
          <a:xfrm>
            <a:off x="874080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Diagnose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3"/>
          <p:cNvSpPr/>
          <p:nvPr/>
        </p:nvSpPr>
        <p:spPr>
          <a:xfrm>
            <a:off x="875916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Residuals · errors · influential observations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1052388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3"/>
          <p:cNvSpPr/>
          <p:nvPr/>
        </p:nvSpPr>
        <p:spPr>
          <a:xfrm>
            <a:off x="1061532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Select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3"/>
          <p:cNvSpPr/>
          <p:nvPr/>
        </p:nvSpPr>
        <p:spPr>
          <a:xfrm>
            <a:off x="1063368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Feature selection inside the training workflow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t>‹#›/32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2026-08-25T08:52:32Z</dcterms:created>
  <dc:creator>OpenAI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36</vt:i4>
  </property>
  <property fmtid="{D5CDD505-2E9C-101B-9397-08002B2CF9AE}" pid="3" name="PresentationFormat">
    <vt:lpwstr>On-screen Show (16:9)</vt:lpwstr>
  </property>
  <property fmtid="{D5CDD505-2E9C-101B-9397-08002B2CF9AE}" pid="4" name="Slides">
    <vt:i4>36</vt:i4>
  </property>
</Properties>
</file>